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2"/>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7" r:id="rId19"/>
    <p:sldId id="278" r:id="rId20"/>
    <p:sldId id="281" r:id="rId21"/>
    <p:sldId id="283" r:id="rId22"/>
    <p:sldId id="284" r:id="rId23"/>
    <p:sldId id="286"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276" r:id="rId46"/>
    <p:sldId id="279" r:id="rId47"/>
    <p:sldId id="280" r:id="rId48"/>
    <p:sldId id="285" r:id="rId49"/>
    <p:sldId id="287" r:id="rId50"/>
    <p:sldId id="310" r:id="rId51"/>
  </p:sldIdLst>
  <p:sldSz cx="9144000" cy="5143500" type="screen16x9"/>
  <p:notesSz cx="6858000" cy="9144000"/>
  <p:embeddedFontLst>
    <p:embeddedFont>
      <p:font typeface="Century Gothic" panose="020B0502020202020204" pitchFamily="34" charset="0"/>
      <p:regular r:id="rId53"/>
      <p:bold r:id="rId54"/>
      <p:italic r:id="rId55"/>
      <p:boldItalic r:id="rId56"/>
    </p:embeddedFont>
    <p:embeddedFont>
      <p:font typeface="Comfortaa" panose="020B0604020202020204" charset="0"/>
      <p:regular r:id="rId57"/>
      <p:bold r:id="rId58"/>
    </p:embeddedFont>
    <p:embeddedFont>
      <p:font typeface="Georgia" panose="02040502050405020303" pitchFamily="18" charset="0"/>
      <p:regular r:id="rId59"/>
      <p:bold r:id="rId60"/>
      <p:italic r:id="rId61"/>
      <p:boldItalic r:id="rId62"/>
    </p:embeddedFont>
    <p:embeddedFont>
      <p:font typeface="Pacifico" panose="00000500000000000000" pitchFamily="2" charset="0"/>
      <p:regular r:id="rId63"/>
    </p:embeddedFont>
    <p:embeddedFont>
      <p:font typeface="Wingdings 3" panose="05040102010807070707" pitchFamily="18" charset="2"/>
      <p:regular r:id="rId6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8" roundtripDataSignature="AMtx7mj0MR5DxeH7vJHZsSknkbsYM7i8Z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8A6A0F2-3717-4B88-AF85-82B9B6CF850D}">
  <a:tblStyle styleId="{68A6A0F2-3717-4B88-AF85-82B9B6CF850D}"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5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1.fntdata"/><Relationship Id="rId68" Type="http://customschemas.google.com/relationships/presentationmetadata" Target="metadata"/><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5" Type="http://schemas.openxmlformats.org/officeDocument/2006/relationships/slide" Target="slides/slide4.xml"/><Relationship Id="rId61"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Basically OS acts as message exchanger between user and the different parts of computer hardware.</a:t>
            </a:r>
            <a:endParaRPr/>
          </a:p>
          <a:p>
            <a:pPr marL="0" lvl="0" indent="0" algn="l" rtl="0">
              <a:lnSpc>
                <a:spcPct val="100000"/>
              </a:lnSpc>
              <a:spcBef>
                <a:spcPts val="0"/>
              </a:spcBef>
              <a:spcAft>
                <a:spcPts val="0"/>
              </a:spcAft>
              <a:buSzPts val="1100"/>
              <a:buNone/>
            </a:pPr>
            <a:r>
              <a:rPr lang="en"/>
              <a:t>It is a piece of software that perform various operations on behalf of user by communicating with hardware. As a human it is bit difficult to communicate using electrical signals to hardware.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 name="Google Shape;7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Programs like firefox, wordpad, media player etc. are executed by OS.</a:t>
            </a:r>
            <a:endParaRPr/>
          </a:p>
          <a:p>
            <a:pPr marL="0" lvl="0" indent="0" algn="l" rtl="0">
              <a:lnSpc>
                <a:spcPct val="100000"/>
              </a:lnSpc>
              <a:spcBef>
                <a:spcPts val="0"/>
              </a:spcBef>
              <a:spcAft>
                <a:spcPts val="0"/>
              </a:spcAft>
              <a:buSzPts val="1100"/>
              <a:buNone/>
            </a:pPr>
            <a:r>
              <a:rPr lang="en"/>
              <a:t>The basic requirement of Os to make interface convenient to use.</a:t>
            </a:r>
            <a:endParaRPr/>
          </a:p>
          <a:p>
            <a:pPr marL="0" lvl="0" indent="0" algn="l" rtl="0">
              <a:lnSpc>
                <a:spcPct val="100000"/>
              </a:lnSpc>
              <a:spcBef>
                <a:spcPts val="0"/>
              </a:spcBef>
              <a:spcAft>
                <a:spcPts val="0"/>
              </a:spcAft>
              <a:buSzPts val="1100"/>
              <a:buNone/>
            </a:pPr>
            <a:r>
              <a:rPr lang="en"/>
              <a:t>There are limited number of resources such as memory, HDD, processor, io devices etc. One of the OS job is to handle these resources efficiently because multiple applications/user operating concurrently on a system.</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A computer system is broadly divided into 4 components Hardware, OS, Application programs and users.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Hardware components includes processing device, I/O device,and Storage device. Processing device includes processors, cores which performs computations associated to any software program. Output devices such as monitors, speakers, displays, etc. provides the output in the form of text, audio, video, images etc. Input devices such as mouse, keyboard receives input from user. Finally the storage devices such RAM, Cache, HDD, SSD, registers etc, stores the information. The job of OS to manage all the activities performed by these components or rather effective management. We will discuss functions of all components at OS level in subsequent sessions.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The OS is a second component of a computer system. As mentioned earlier the OS acts as intermediary between hardware and user. Basic functionality of all OS is same like process management, storage management, file management. </a:t>
            </a:r>
            <a:endParaRPr/>
          </a:p>
          <a:p>
            <a:pPr marL="0" lvl="0" indent="0" algn="l" rtl="0">
              <a:lnSpc>
                <a:spcPct val="100000"/>
              </a:lnSpc>
              <a:spcBef>
                <a:spcPts val="0"/>
              </a:spcBef>
              <a:spcAft>
                <a:spcPts val="0"/>
              </a:spcAft>
              <a:buSzPts val="1100"/>
              <a:buNone/>
            </a:pPr>
            <a:r>
              <a:rPr lang="en"/>
              <a:t>A user can directly communicate using electric signals but it becomes complex. </a:t>
            </a:r>
            <a:endParaRPr/>
          </a:p>
          <a:p>
            <a:pPr marL="0" lvl="0" indent="0" algn="l" rtl="0">
              <a:lnSpc>
                <a:spcPct val="100000"/>
              </a:lnSpc>
              <a:spcBef>
                <a:spcPts val="0"/>
              </a:spcBef>
              <a:spcAft>
                <a:spcPts val="0"/>
              </a:spcAft>
              <a:buSzPts val="1100"/>
              <a:buNone/>
            </a:pPr>
            <a:r>
              <a:rPr lang="en"/>
              <a:t>Then OS came into picture to perform all these jobs on behalf of user. </a:t>
            </a:r>
            <a:endParaRPr/>
          </a:p>
          <a:p>
            <a:pPr marL="0" lvl="0" indent="0" algn="l" rtl="0">
              <a:lnSpc>
                <a:spcPct val="100000"/>
              </a:lnSpc>
              <a:spcBef>
                <a:spcPts val="0"/>
              </a:spcBef>
              <a:spcAft>
                <a:spcPts val="0"/>
              </a:spcAft>
              <a:buSzPts val="1100"/>
              <a:buNone/>
            </a:pPr>
            <a:r>
              <a:rPr lang="en"/>
              <a:t>For example, to create a folder we can use mouse and command prompt also or maybe using signals.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To communicate with OS also bit hard as user needs to understand system level commands. Earlier low level programming was used to provide commands to OS. User has to understand OS level commands. To overcome this application programs are developed. Application programs directly communicate with OS by demanding resources and now OS manages all the application request. As the layers on top of OS increases the users interface becomes more convenient.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This is how a computer system works. </a:t>
            </a:r>
            <a:endParaRPr/>
          </a:p>
          <a:p>
            <a:pPr marL="0" lvl="0" indent="0" algn="l" rtl="0">
              <a:lnSpc>
                <a:spcPct val="100000"/>
              </a:lnSpc>
              <a:spcBef>
                <a:spcPts val="0"/>
              </a:spcBef>
              <a:spcAft>
                <a:spcPts val="0"/>
              </a:spcAft>
              <a:buSzPts val="1100"/>
              <a:buNone/>
            </a:pPr>
            <a:r>
              <a:rPr lang="en"/>
              <a:t>User starts an application lets say wordpad. </a:t>
            </a:r>
            <a:endParaRPr/>
          </a:p>
          <a:p>
            <a:pPr marL="0" lvl="0" indent="0" algn="l" rtl="0">
              <a:lnSpc>
                <a:spcPct val="100000"/>
              </a:lnSpc>
              <a:spcBef>
                <a:spcPts val="0"/>
              </a:spcBef>
              <a:spcAft>
                <a:spcPts val="0"/>
              </a:spcAft>
              <a:buSzPts val="1100"/>
              <a:buNone/>
            </a:pPr>
            <a:r>
              <a:rPr lang="en"/>
              <a:t>OS allocates memory for the wordpad application in RAM. </a:t>
            </a:r>
            <a:endParaRPr/>
          </a:p>
          <a:p>
            <a:pPr marL="0" lvl="0" indent="0" algn="l" rtl="0">
              <a:lnSpc>
                <a:spcPct val="100000"/>
              </a:lnSpc>
              <a:spcBef>
                <a:spcPts val="0"/>
              </a:spcBef>
              <a:spcAft>
                <a:spcPts val="0"/>
              </a:spcAft>
              <a:buSzPts val="1100"/>
              <a:buNone/>
            </a:pPr>
            <a:r>
              <a:rPr lang="en"/>
              <a:t>The data and code brought into RAM. </a:t>
            </a:r>
            <a:endParaRPr/>
          </a:p>
          <a:p>
            <a:pPr marL="0" lvl="0" indent="0" algn="l" rtl="0">
              <a:lnSpc>
                <a:spcPct val="100000"/>
              </a:lnSpc>
              <a:spcBef>
                <a:spcPts val="0"/>
              </a:spcBef>
              <a:spcAft>
                <a:spcPts val="0"/>
              </a:spcAft>
              <a:buSzPts val="1100"/>
              <a:buNone/>
            </a:pPr>
            <a:r>
              <a:rPr lang="en"/>
              <a:t>All instructions gets executed by CPU.</a:t>
            </a:r>
            <a:endParaRPr/>
          </a:p>
          <a:p>
            <a:pPr marL="0" lvl="0" indent="0" algn="l" rtl="0">
              <a:lnSpc>
                <a:spcPct val="100000"/>
              </a:lnSpc>
              <a:spcBef>
                <a:spcPts val="0"/>
              </a:spcBef>
              <a:spcAft>
                <a:spcPts val="0"/>
              </a:spcAft>
              <a:buSzPts val="1100"/>
              <a:buNone/>
            </a:pPr>
            <a:r>
              <a:rPr lang="en"/>
              <a:t>Once application is closed all data related to wordpad gets removed from RAM.</a:t>
            </a:r>
            <a:endParaRPr/>
          </a:p>
          <a:p>
            <a:pPr marL="0" lvl="0" indent="0" algn="l" rtl="0">
              <a:lnSpc>
                <a:spcPct val="100000"/>
              </a:lnSpc>
              <a:spcBef>
                <a:spcPts val="0"/>
              </a:spcBef>
              <a:spcAft>
                <a:spcPts val="0"/>
              </a:spcAft>
              <a:buSzPts val="1100"/>
              <a:buNone/>
            </a:pPr>
            <a:r>
              <a:rPr lang="en"/>
              <a:t>All these operations are performed by along with other applications.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 name="Google Shape;236;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8" name="Google Shape;308;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300">
                <a:solidFill>
                  <a:srgbClr val="273239"/>
                </a:solidFill>
                <a:highlight>
                  <a:srgbClr val="FFFFFF"/>
                </a:highlight>
              </a:rPr>
              <a:t>The first thing a computer has to do when it is turned on is to start up a special program called an operating system.</a:t>
            </a:r>
            <a:endParaRPr sz="1300">
              <a:solidFill>
                <a:srgbClr val="273239"/>
              </a:solidFill>
              <a:highlight>
                <a:srgbClr val="FFFFFF"/>
              </a:highlight>
            </a:endParaRPr>
          </a:p>
          <a:p>
            <a:pPr marL="0" lvl="0" indent="0" algn="l" rtl="0">
              <a:lnSpc>
                <a:spcPct val="100000"/>
              </a:lnSpc>
              <a:spcBef>
                <a:spcPts val="0"/>
              </a:spcBef>
              <a:spcAft>
                <a:spcPts val="0"/>
              </a:spcAft>
              <a:buSzPts val="1100"/>
              <a:buNone/>
            </a:pPr>
            <a:r>
              <a:rPr lang="en" sz="1300">
                <a:solidFill>
                  <a:srgbClr val="273239"/>
                </a:solidFill>
                <a:highlight>
                  <a:srgbClr val="FFFFFF"/>
                </a:highlight>
              </a:rPr>
              <a:t>The boot process is something that happens every time you turn your computer on.</a:t>
            </a:r>
            <a:endParaRPr sz="1300">
              <a:solidFill>
                <a:srgbClr val="273239"/>
              </a:solidFill>
              <a:highlight>
                <a:srgbClr val="FFFFFF"/>
              </a:highlight>
            </a:endParaRPr>
          </a:p>
          <a:p>
            <a:pPr marL="0" lvl="0" indent="0" algn="l" rtl="0">
              <a:lnSpc>
                <a:spcPct val="100000"/>
              </a:lnSpc>
              <a:spcBef>
                <a:spcPts val="0"/>
              </a:spcBef>
              <a:spcAft>
                <a:spcPts val="0"/>
              </a:spcAft>
              <a:buSzPts val="1100"/>
              <a:buNone/>
            </a:pPr>
            <a:r>
              <a:rPr lang="en" sz="1300">
                <a:solidFill>
                  <a:srgbClr val="273239"/>
                </a:solidFill>
                <a:highlight>
                  <a:srgbClr val="FFFFFF"/>
                </a:highlight>
              </a:rPr>
              <a:t>You don’t really see it, because it happens so fast. </a:t>
            </a:r>
            <a:endParaRPr sz="1300">
              <a:solidFill>
                <a:srgbClr val="273239"/>
              </a:solidFill>
              <a:highlight>
                <a:srgbClr val="FFFFFF"/>
              </a:highlight>
            </a:endParaRPr>
          </a:p>
          <a:p>
            <a:pPr marL="0" lvl="0" indent="0" algn="l" rtl="0">
              <a:lnSpc>
                <a:spcPct val="100000"/>
              </a:lnSpc>
              <a:spcBef>
                <a:spcPts val="0"/>
              </a:spcBef>
              <a:spcAft>
                <a:spcPts val="0"/>
              </a:spcAft>
              <a:buSzPts val="1100"/>
              <a:buNone/>
            </a:pPr>
            <a:r>
              <a:rPr lang="en" sz="1300">
                <a:solidFill>
                  <a:srgbClr val="273239"/>
                </a:solidFill>
                <a:highlight>
                  <a:srgbClr val="FFFFFF"/>
                </a:highlight>
              </a:rPr>
              <a:t>You press the power button come back a few minutes later and Windows XP, or Windows Vista, or whatever Operating System you use is all loaded. </a:t>
            </a:r>
            <a:endParaRPr sz="1300">
              <a:solidFill>
                <a:srgbClr val="273239"/>
              </a:solidFill>
              <a:highlight>
                <a:srgbClr val="FFFFFF"/>
              </a:highlight>
            </a:endParaRPr>
          </a:p>
          <a:p>
            <a:pPr marL="0" lvl="0" indent="0" algn="l" rtl="0">
              <a:lnSpc>
                <a:spcPct val="100000"/>
              </a:lnSpc>
              <a:spcBef>
                <a:spcPts val="0"/>
              </a:spcBef>
              <a:spcAft>
                <a:spcPts val="0"/>
              </a:spcAft>
              <a:buSzPts val="1100"/>
              <a:buNone/>
            </a:pPr>
            <a:r>
              <a:rPr lang="en" sz="1300" b="1">
                <a:solidFill>
                  <a:srgbClr val="273239"/>
                </a:solidFill>
                <a:highlight>
                  <a:srgbClr val="FFFFFF"/>
                </a:highlight>
              </a:rPr>
              <a:t>POST</a:t>
            </a:r>
            <a:r>
              <a:rPr lang="en" sz="1300">
                <a:solidFill>
                  <a:srgbClr val="273239"/>
                </a:solidFill>
                <a:highlight>
                  <a:srgbClr val="FFFFFF"/>
                </a:highlight>
              </a:rPr>
              <a:t> (Power On Self Test) The Power On Self Test happens each time you turn your computer on.</a:t>
            </a:r>
            <a:endParaRPr sz="1300">
              <a:solidFill>
                <a:srgbClr val="273239"/>
              </a:solidFill>
              <a:highlight>
                <a:srgbClr val="FFFFFF"/>
              </a:highlight>
            </a:endParaRPr>
          </a:p>
          <a:p>
            <a:pPr marL="0" lvl="0" indent="0" algn="l" rtl="0">
              <a:lnSpc>
                <a:spcPct val="100000"/>
              </a:lnSpc>
              <a:spcBef>
                <a:spcPts val="0"/>
              </a:spcBef>
              <a:spcAft>
                <a:spcPts val="0"/>
              </a:spcAft>
              <a:buSzPts val="1100"/>
              <a:buNone/>
            </a:pPr>
            <a:r>
              <a:rPr lang="en" sz="1300">
                <a:solidFill>
                  <a:srgbClr val="273239"/>
                </a:solidFill>
                <a:highlight>
                  <a:srgbClr val="FFFFFF"/>
                </a:highlight>
              </a:rPr>
              <a:t>It initializes the various hardware devices. It is an important process so as to ensure that all the devices operate smoothly without any conflicts. </a:t>
            </a:r>
            <a:endParaRPr sz="1300">
              <a:solidFill>
                <a:srgbClr val="273239"/>
              </a:solidFill>
              <a:highlight>
                <a:srgbClr val="FFFFFF"/>
              </a:highlight>
            </a:endParaRPr>
          </a:p>
          <a:p>
            <a:pPr marL="0" lvl="0" indent="0" algn="l" rtl="0">
              <a:lnSpc>
                <a:spcPct val="100000"/>
              </a:lnSpc>
              <a:spcBef>
                <a:spcPts val="0"/>
              </a:spcBef>
              <a:spcAft>
                <a:spcPts val="0"/>
              </a:spcAft>
              <a:buSzPts val="1100"/>
              <a:buNone/>
            </a:pPr>
            <a:r>
              <a:rPr lang="en" sz="1300">
                <a:solidFill>
                  <a:srgbClr val="273239"/>
                </a:solidFill>
                <a:highlight>
                  <a:srgbClr val="FFFFFF"/>
                </a:highlight>
              </a:rPr>
              <a:t>A non volatile memory where a small program Master Boot Record is kept. MBR starts execution immediately after POST. Bootstrap loader loads OS from HDD (generally stored on first sector of disk).</a:t>
            </a:r>
            <a:endParaRPr sz="1300">
              <a:solidFill>
                <a:srgbClr val="273239"/>
              </a:solidFill>
              <a:highlight>
                <a:srgbClr val="FFFFFF"/>
              </a:highlight>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9" name="Google Shape;329;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2" name="Google Shape;412;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7" name="Google Shape;457;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4" name="Google Shape;464;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3" name="Google Shape;493;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5" name="Google Shape;545;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2" name="Google Shape;55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9" name="Google Shape;559;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6" name="Google Shape;566;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0" name="Google Shape;580;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7" name="Google Shape;587;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4" name="Google Shape;59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1" name="Google Shape;601;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8" name="Google Shape;608;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6" name="Google Shape;616;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4" name="Google Shape;624;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2" name="Google Shape;632;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0" name="Google Shape;640;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8" name="Google Shape;648;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6" name="Google Shape;656;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4" name="Google Shape;664;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2" name="Google Shape;672;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0" name="Google Shape;680;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8" name="Google Shape;688;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6" name="Google Shape;696;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8" name="Google Shape;278;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600">
                <a:solidFill>
                  <a:schemeClr val="dk1"/>
                </a:solidFill>
                <a:highlight>
                  <a:srgbClr val="FFFFFF"/>
                </a:highlight>
                <a:latin typeface="Georgia"/>
                <a:ea typeface="Georgia"/>
                <a:cs typeface="Georgia"/>
                <a:sym typeface="Georgia"/>
              </a:rPr>
              <a:t>A device driver is a software program that manages and controls a specific device that is attached to a computer, while a device controller is a hardware unit that makes sense of the incoming and outgoing signals of the CPU. Device controller works like an interface between device driver and device.</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6" name="Google Shape;34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7" name="Google Shape;377;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1" name="Google Shape;471;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5" name="Google Shape;515;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9" name="Google Shape;719;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04239159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8824005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55404233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38929979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1/12/2025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64939996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1/12/2025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57305565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1/12/2025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272260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1/12/2025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2271866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57160602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3175150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28199826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254976114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83302293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1/12/2025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5309467"/>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1/12/2025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8558178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55753209"/>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623504455"/>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5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5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098462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4AAD347D-5ACD-4C99-B74B-A9C85AD731AF}" type="datetimeFigureOut">
              <a:rPr lang="en-US" dirty="0"/>
              <a:t>1/12/2025</a:t>
            </a:fld>
            <a:endParaRPr lang="en-US" dirty="0"/>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23852160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8.png"/><Relationship Id="rId9"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8.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18.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45.xml"/><Relationship Id="rId1" Type="http://schemas.openxmlformats.org/officeDocument/2006/relationships/slideLayout" Target="../slideLayouts/slideLayout18.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9.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p1"/>
          <p:cNvSpPr txBox="1">
            <a:spLocks noGrp="1"/>
          </p:cNvSpPr>
          <p:nvPr>
            <p:ph type="ctrTitle"/>
          </p:nvPr>
        </p:nvSpPr>
        <p:spPr>
          <a:xfrm>
            <a:off x="311708" y="896975"/>
            <a:ext cx="8520600" cy="2052600"/>
          </a:xfrm>
          <a:prstGeom prst="rect">
            <a:avLst/>
          </a:prstGeom>
          <a:noFill/>
          <a:ln>
            <a:noFill/>
          </a:ln>
          <a:effectLst>
            <a:outerShdw blurRad="14288" dist="104775" dir="5400000" algn="bl" rotWithShape="0">
              <a:srgbClr val="999999">
                <a:alpha val="49803"/>
              </a:srgbClr>
            </a:outerShdw>
          </a:effectLst>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r>
              <a:rPr lang="en" b="1" dirty="0">
                <a:solidFill>
                  <a:srgbClr val="00FF00"/>
                </a:solidFill>
                <a:latin typeface="Pacifico"/>
                <a:ea typeface="Pacifico"/>
                <a:cs typeface="Pacifico"/>
                <a:sym typeface="Pacifico"/>
              </a:rPr>
              <a:t>Operating System</a:t>
            </a:r>
            <a:endParaRPr b="1" dirty="0">
              <a:solidFill>
                <a:srgbClr val="00FF00"/>
              </a:solidFill>
              <a:latin typeface="Pacifico"/>
              <a:ea typeface="Pacifico"/>
              <a:cs typeface="Pacifico"/>
              <a:sym typeface="Pacific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a:spLocks noGrp="1"/>
          </p:cNvSpPr>
          <p:nvPr>
            <p:ph type="title"/>
          </p:nvPr>
        </p:nvSpPr>
        <p:spPr>
          <a:xfrm>
            <a:off x="311700" y="445025"/>
            <a:ext cx="8520600" cy="592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320" b="1">
                <a:solidFill>
                  <a:srgbClr val="00FF00"/>
                </a:solidFill>
                <a:latin typeface="Comfortaa"/>
                <a:ea typeface="Comfortaa"/>
                <a:cs typeface="Comfortaa"/>
                <a:sym typeface="Comfortaa"/>
              </a:rPr>
              <a:t>Syllabus, Course Outcomes, Objectives, Exam pattern</a:t>
            </a:r>
            <a:endParaRPr sz="2320" b="1">
              <a:solidFill>
                <a:srgbClr val="00FF00"/>
              </a:solidFill>
              <a:latin typeface="Comfortaa"/>
              <a:ea typeface="Comfortaa"/>
              <a:cs typeface="Comfortaa"/>
              <a:sym typeface="Comfortaa"/>
            </a:endParaRPr>
          </a:p>
        </p:txBody>
      </p:sp>
      <p:sp>
        <p:nvSpPr>
          <p:cNvPr id="62" name="Google Shape;62;p2"/>
          <p:cNvSpPr txBox="1">
            <a:spLocks noGrp="1"/>
          </p:cNvSpPr>
          <p:nvPr>
            <p:ph type="body" idx="1"/>
          </p:nvPr>
        </p:nvSpPr>
        <p:spPr>
          <a:xfrm>
            <a:off x="311700" y="1037225"/>
            <a:ext cx="8520600" cy="3531600"/>
          </a:xfrm>
          <a:prstGeom prst="rect">
            <a:avLst/>
          </a:prstGeom>
          <a:noFill/>
          <a:ln>
            <a:noFill/>
          </a:ln>
        </p:spPr>
        <p:txBody>
          <a:bodyPr spcFirstLastPara="1" wrap="square" lIns="91425" tIns="91425" rIns="91425" bIns="91425" anchor="t" anchorCtr="0">
            <a:normAutofit/>
          </a:bodyPr>
          <a:lstStyle/>
          <a:p>
            <a:pPr marL="0" lvl="0" indent="0" algn="ctr" rtl="0">
              <a:lnSpc>
                <a:spcPct val="115000"/>
              </a:lnSpc>
              <a:spcBef>
                <a:spcPts val="0"/>
              </a:spcBef>
              <a:spcAft>
                <a:spcPts val="0"/>
              </a:spcAft>
              <a:buSzPts val="1800"/>
              <a:buNone/>
            </a:pPr>
            <a:endParaRPr sz="2100" b="1">
              <a:latin typeface="Comfortaa"/>
              <a:ea typeface="Comfortaa"/>
              <a:cs typeface="Comfortaa"/>
              <a:sym typeface="Comfortaa"/>
            </a:endParaRPr>
          </a:p>
          <a:p>
            <a:pPr marL="0" lvl="0" indent="0" algn="ctr" rtl="0">
              <a:lnSpc>
                <a:spcPct val="115000"/>
              </a:lnSpc>
              <a:spcBef>
                <a:spcPts val="1200"/>
              </a:spcBef>
              <a:spcAft>
                <a:spcPts val="0"/>
              </a:spcAft>
              <a:buSzPts val="1800"/>
              <a:buNone/>
            </a:pPr>
            <a:endParaRPr sz="2100" b="1">
              <a:latin typeface="Comfortaa"/>
              <a:ea typeface="Comfortaa"/>
              <a:cs typeface="Comfortaa"/>
              <a:sym typeface="Comfortaa"/>
            </a:endParaRPr>
          </a:p>
          <a:p>
            <a:pPr marL="0" lvl="0" indent="0" algn="ctr" rtl="0">
              <a:lnSpc>
                <a:spcPct val="115000"/>
              </a:lnSpc>
              <a:spcBef>
                <a:spcPts val="1200"/>
              </a:spcBef>
              <a:spcAft>
                <a:spcPts val="0"/>
              </a:spcAft>
              <a:buSzPts val="1800"/>
              <a:buNone/>
            </a:pPr>
            <a:endParaRPr sz="2100" b="1">
              <a:latin typeface="Comfortaa"/>
              <a:ea typeface="Comfortaa"/>
              <a:cs typeface="Comfortaa"/>
              <a:sym typeface="Comfortaa"/>
            </a:endParaRPr>
          </a:p>
          <a:p>
            <a:pPr marL="0" lvl="0" indent="0" algn="ctr" rtl="0">
              <a:lnSpc>
                <a:spcPct val="115000"/>
              </a:lnSpc>
              <a:spcBef>
                <a:spcPts val="1200"/>
              </a:spcBef>
              <a:spcAft>
                <a:spcPts val="1200"/>
              </a:spcAft>
              <a:buSzPts val="1800"/>
              <a:buNone/>
            </a:pPr>
            <a:r>
              <a:rPr lang="en" sz="2100" b="1">
                <a:solidFill>
                  <a:srgbClr val="FFFF00"/>
                </a:solidFill>
                <a:latin typeface="Comfortaa"/>
                <a:ea typeface="Comfortaa"/>
                <a:cs typeface="Comfortaa"/>
                <a:sym typeface="Comfortaa"/>
              </a:rPr>
              <a:t>Refere syllabus copy</a:t>
            </a:r>
            <a:endParaRPr sz="2100" b="1">
              <a:solidFill>
                <a:srgbClr val="FFFF00"/>
              </a:solidFill>
              <a:latin typeface="Comfortaa"/>
              <a:ea typeface="Comfortaa"/>
              <a:cs typeface="Comfortaa"/>
              <a:sym typeface="Comfortaa"/>
            </a:endParaRPr>
          </a:p>
        </p:txBody>
      </p:sp>
      <p:sp>
        <p:nvSpPr>
          <p:cNvPr id="63" name="Google Shape;63;p2"/>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3"/>
          <p:cNvSpPr txBox="1">
            <a:spLocks noGrp="1"/>
          </p:cNvSpPr>
          <p:nvPr>
            <p:ph type="title"/>
          </p:nvPr>
        </p:nvSpPr>
        <p:spPr>
          <a:xfrm>
            <a:off x="311700" y="445025"/>
            <a:ext cx="8520600" cy="592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320" b="1">
                <a:solidFill>
                  <a:srgbClr val="00FF00"/>
                </a:solidFill>
                <a:latin typeface="Comfortaa"/>
                <a:ea typeface="Comfortaa"/>
                <a:cs typeface="Comfortaa"/>
                <a:sym typeface="Comfortaa"/>
              </a:rPr>
              <a:t>Operating System</a:t>
            </a:r>
            <a:endParaRPr sz="2320" b="1">
              <a:solidFill>
                <a:srgbClr val="00FF00"/>
              </a:solidFill>
              <a:latin typeface="Comfortaa"/>
              <a:ea typeface="Comfortaa"/>
              <a:cs typeface="Comfortaa"/>
              <a:sym typeface="Comfortaa"/>
            </a:endParaRPr>
          </a:p>
        </p:txBody>
      </p:sp>
      <p:sp>
        <p:nvSpPr>
          <p:cNvPr id="69" name="Google Shape;69;p3"/>
          <p:cNvSpPr txBox="1">
            <a:spLocks noGrp="1"/>
          </p:cNvSpPr>
          <p:nvPr>
            <p:ph type="body" idx="1"/>
          </p:nvPr>
        </p:nvSpPr>
        <p:spPr>
          <a:xfrm>
            <a:off x="311700" y="1189625"/>
            <a:ext cx="8520600" cy="3531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r>
              <a:rPr lang="en" sz="2100" b="1">
                <a:solidFill>
                  <a:srgbClr val="FFFF00"/>
                </a:solidFill>
                <a:latin typeface="Comfortaa"/>
                <a:ea typeface="Comfortaa"/>
                <a:cs typeface="Comfortaa"/>
                <a:sym typeface="Comfortaa"/>
              </a:rPr>
              <a:t>A program that acts as intermediary between user of a </a:t>
            </a:r>
            <a:r>
              <a:rPr lang="en" sz="2100" b="1">
                <a:solidFill>
                  <a:srgbClr val="00FF00"/>
                </a:solidFill>
                <a:latin typeface="Comfortaa"/>
                <a:ea typeface="Comfortaa"/>
                <a:cs typeface="Comfortaa"/>
                <a:sym typeface="Comfortaa"/>
              </a:rPr>
              <a:t>computer</a:t>
            </a:r>
            <a:r>
              <a:rPr lang="en" sz="2100" b="1">
                <a:solidFill>
                  <a:srgbClr val="FFFF00"/>
                </a:solidFill>
                <a:latin typeface="Comfortaa"/>
                <a:ea typeface="Comfortaa"/>
                <a:cs typeface="Comfortaa"/>
                <a:sym typeface="Comfortaa"/>
              </a:rPr>
              <a:t> and </a:t>
            </a:r>
            <a:r>
              <a:rPr lang="en" sz="2100" b="1">
                <a:solidFill>
                  <a:srgbClr val="00FF00"/>
                </a:solidFill>
                <a:latin typeface="Comfortaa"/>
                <a:ea typeface="Comfortaa"/>
                <a:cs typeface="Comfortaa"/>
                <a:sym typeface="Comfortaa"/>
              </a:rPr>
              <a:t>computer hardware</a:t>
            </a:r>
            <a:endParaRPr sz="2100" b="1">
              <a:solidFill>
                <a:srgbClr val="00FF00"/>
              </a:solidFill>
              <a:latin typeface="Comfortaa"/>
              <a:ea typeface="Comfortaa"/>
              <a:cs typeface="Comfortaa"/>
              <a:sym typeface="Comfortaa"/>
            </a:endParaRPr>
          </a:p>
        </p:txBody>
      </p:sp>
      <p:sp>
        <p:nvSpPr>
          <p:cNvPr id="70" name="Google Shape;70;p3"/>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3</a:t>
            </a:fld>
            <a:endParaRPr/>
          </a:p>
        </p:txBody>
      </p:sp>
      <p:pic>
        <p:nvPicPr>
          <p:cNvPr id="71" name="Google Shape;71;p3"/>
          <p:cNvPicPr preferRelativeResize="0"/>
          <p:nvPr/>
        </p:nvPicPr>
        <p:blipFill rotWithShape="1">
          <a:blip r:embed="rId3">
            <a:alphaModFix/>
          </a:blip>
          <a:srcRect/>
          <a:stretch/>
        </p:blipFill>
        <p:spPr>
          <a:xfrm>
            <a:off x="1044294" y="2943638"/>
            <a:ext cx="1192781" cy="1060250"/>
          </a:xfrm>
          <a:prstGeom prst="rect">
            <a:avLst/>
          </a:prstGeom>
          <a:noFill/>
          <a:ln>
            <a:noFill/>
          </a:ln>
        </p:spPr>
      </p:pic>
      <p:pic>
        <p:nvPicPr>
          <p:cNvPr id="72" name="Google Shape;72;p3"/>
          <p:cNvPicPr preferRelativeResize="0"/>
          <p:nvPr/>
        </p:nvPicPr>
        <p:blipFill rotWithShape="1">
          <a:blip r:embed="rId4">
            <a:alphaModFix/>
          </a:blip>
          <a:srcRect/>
          <a:stretch/>
        </p:blipFill>
        <p:spPr>
          <a:xfrm>
            <a:off x="6906925" y="2716912"/>
            <a:ext cx="641700" cy="1513676"/>
          </a:xfrm>
          <a:prstGeom prst="rect">
            <a:avLst/>
          </a:prstGeom>
          <a:noFill/>
          <a:ln>
            <a:noFill/>
          </a:ln>
        </p:spPr>
      </p:pic>
      <p:sp>
        <p:nvSpPr>
          <p:cNvPr id="73" name="Google Shape;73;p3"/>
          <p:cNvSpPr txBox="1"/>
          <p:nvPr/>
        </p:nvSpPr>
        <p:spPr>
          <a:xfrm>
            <a:off x="3212088" y="3219800"/>
            <a:ext cx="2719800" cy="507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 sz="2100" b="1" i="0" u="none" strike="noStrike" cap="none">
                <a:solidFill>
                  <a:srgbClr val="00FF00"/>
                </a:solidFill>
                <a:latin typeface="Comfortaa"/>
                <a:ea typeface="Comfortaa"/>
                <a:cs typeface="Comfortaa"/>
                <a:sym typeface="Comfortaa"/>
              </a:rPr>
              <a:t>Operating System</a:t>
            </a:r>
            <a:endParaRPr sz="2100" b="1" i="0" u="none" strike="noStrike" cap="none">
              <a:solidFill>
                <a:srgbClr val="00FF00"/>
              </a:solidFill>
              <a:latin typeface="Comfortaa"/>
              <a:ea typeface="Comfortaa"/>
              <a:cs typeface="Comfortaa"/>
              <a:sym typeface="Comfortaa"/>
            </a:endParaRPr>
          </a:p>
        </p:txBody>
      </p:sp>
      <p:pic>
        <p:nvPicPr>
          <p:cNvPr id="74" name="Google Shape;74;p3"/>
          <p:cNvPicPr preferRelativeResize="0"/>
          <p:nvPr/>
        </p:nvPicPr>
        <p:blipFill rotWithShape="1">
          <a:blip r:embed="rId5">
            <a:alphaModFix/>
          </a:blip>
          <a:srcRect/>
          <a:stretch/>
        </p:blipFill>
        <p:spPr>
          <a:xfrm>
            <a:off x="6096250" y="3121165"/>
            <a:ext cx="548700" cy="705151"/>
          </a:xfrm>
          <a:prstGeom prst="rect">
            <a:avLst/>
          </a:prstGeom>
          <a:noFill/>
          <a:ln>
            <a:noFill/>
          </a:ln>
        </p:spPr>
      </p:pic>
      <p:pic>
        <p:nvPicPr>
          <p:cNvPr id="75" name="Google Shape;75;p3"/>
          <p:cNvPicPr preferRelativeResize="0"/>
          <p:nvPr/>
        </p:nvPicPr>
        <p:blipFill rotWithShape="1">
          <a:blip r:embed="rId6">
            <a:alphaModFix/>
          </a:blip>
          <a:srcRect/>
          <a:stretch/>
        </p:blipFill>
        <p:spPr>
          <a:xfrm>
            <a:off x="2499037" y="3160202"/>
            <a:ext cx="548700" cy="62711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4"/>
          <p:cNvSpPr txBox="1">
            <a:spLocks noGrp="1"/>
          </p:cNvSpPr>
          <p:nvPr>
            <p:ph type="title"/>
          </p:nvPr>
        </p:nvSpPr>
        <p:spPr>
          <a:xfrm>
            <a:off x="311700" y="445025"/>
            <a:ext cx="8520600" cy="592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320" b="1">
                <a:solidFill>
                  <a:srgbClr val="00FF00"/>
                </a:solidFill>
                <a:latin typeface="Comfortaa"/>
                <a:ea typeface="Comfortaa"/>
                <a:cs typeface="Comfortaa"/>
                <a:sym typeface="Comfortaa"/>
              </a:rPr>
              <a:t>Operating System - Goals</a:t>
            </a:r>
            <a:endParaRPr sz="2320" b="1">
              <a:solidFill>
                <a:srgbClr val="00FF00"/>
              </a:solidFill>
              <a:latin typeface="Comfortaa"/>
              <a:ea typeface="Comfortaa"/>
              <a:cs typeface="Comfortaa"/>
              <a:sym typeface="Comfortaa"/>
            </a:endParaRPr>
          </a:p>
        </p:txBody>
      </p:sp>
      <p:sp>
        <p:nvSpPr>
          <p:cNvPr id="81" name="Google Shape;81;p4"/>
          <p:cNvSpPr txBox="1">
            <a:spLocks noGrp="1"/>
          </p:cNvSpPr>
          <p:nvPr>
            <p:ph type="body" idx="1"/>
          </p:nvPr>
        </p:nvSpPr>
        <p:spPr>
          <a:xfrm>
            <a:off x="311700" y="1189625"/>
            <a:ext cx="8520600" cy="3531600"/>
          </a:xfrm>
          <a:prstGeom prst="rect">
            <a:avLst/>
          </a:prstGeom>
          <a:noFill/>
          <a:ln>
            <a:noFill/>
          </a:ln>
        </p:spPr>
        <p:txBody>
          <a:bodyPr spcFirstLastPara="1" wrap="square" lIns="91425" tIns="91425" rIns="91425" bIns="91425" anchor="t" anchorCtr="0">
            <a:normAutofit/>
          </a:bodyPr>
          <a:lstStyle/>
          <a:p>
            <a:pPr marL="457200" lvl="0" indent="-361950" algn="l" rtl="0">
              <a:lnSpc>
                <a:spcPct val="115000"/>
              </a:lnSpc>
              <a:spcBef>
                <a:spcPts val="0"/>
              </a:spcBef>
              <a:spcAft>
                <a:spcPts val="0"/>
              </a:spcAft>
              <a:buClr>
                <a:srgbClr val="00FF00"/>
              </a:buClr>
              <a:buSzPts val="2100"/>
              <a:buFont typeface="Comfortaa"/>
              <a:buChar char="●"/>
            </a:pPr>
            <a:r>
              <a:rPr lang="en" sz="2100" b="1">
                <a:solidFill>
                  <a:srgbClr val="FFFF00"/>
                </a:solidFill>
                <a:latin typeface="Comfortaa"/>
                <a:ea typeface="Comfortaa"/>
                <a:cs typeface="Comfortaa"/>
                <a:sym typeface="Comfortaa"/>
              </a:rPr>
              <a:t>Execute programs and make solving user problems easier</a:t>
            </a:r>
            <a:endParaRPr sz="2100" b="1">
              <a:solidFill>
                <a:srgbClr val="FFFF00"/>
              </a:solidFill>
              <a:latin typeface="Comfortaa"/>
              <a:ea typeface="Comfortaa"/>
              <a:cs typeface="Comfortaa"/>
              <a:sym typeface="Comfortaa"/>
            </a:endParaRPr>
          </a:p>
          <a:p>
            <a:pPr marL="457200" lvl="0" indent="-361950" algn="l" rtl="0">
              <a:lnSpc>
                <a:spcPct val="115000"/>
              </a:lnSpc>
              <a:spcBef>
                <a:spcPts val="0"/>
              </a:spcBef>
              <a:spcAft>
                <a:spcPts val="0"/>
              </a:spcAft>
              <a:buClr>
                <a:srgbClr val="FFFF00"/>
              </a:buClr>
              <a:buSzPts val="2100"/>
              <a:buFont typeface="Comfortaa"/>
              <a:buChar char="●"/>
            </a:pPr>
            <a:r>
              <a:rPr lang="en" sz="2100" b="1">
                <a:solidFill>
                  <a:srgbClr val="FFFF00"/>
                </a:solidFill>
                <a:latin typeface="Comfortaa"/>
                <a:ea typeface="Comfortaa"/>
                <a:cs typeface="Comfortaa"/>
                <a:sym typeface="Comfortaa"/>
              </a:rPr>
              <a:t>Make computer system convenient to use</a:t>
            </a:r>
            <a:endParaRPr sz="2100" b="1">
              <a:solidFill>
                <a:srgbClr val="FFFF00"/>
              </a:solidFill>
              <a:latin typeface="Comfortaa"/>
              <a:ea typeface="Comfortaa"/>
              <a:cs typeface="Comfortaa"/>
              <a:sym typeface="Comfortaa"/>
            </a:endParaRPr>
          </a:p>
          <a:p>
            <a:pPr marL="457200" lvl="0" indent="-361950" algn="l" rtl="0">
              <a:lnSpc>
                <a:spcPct val="115000"/>
              </a:lnSpc>
              <a:spcBef>
                <a:spcPts val="0"/>
              </a:spcBef>
              <a:spcAft>
                <a:spcPts val="0"/>
              </a:spcAft>
              <a:buClr>
                <a:srgbClr val="FFFF00"/>
              </a:buClr>
              <a:buSzPts val="2100"/>
              <a:buFont typeface="Comfortaa"/>
              <a:buChar char="●"/>
            </a:pPr>
            <a:r>
              <a:rPr lang="en" sz="2100" b="1">
                <a:solidFill>
                  <a:srgbClr val="FFFF00"/>
                </a:solidFill>
                <a:latin typeface="Comfortaa"/>
                <a:ea typeface="Comfortaa"/>
                <a:cs typeface="Comfortaa"/>
                <a:sym typeface="Comfortaa"/>
              </a:rPr>
              <a:t>Use hardware in efficient manner</a:t>
            </a:r>
            <a:endParaRPr sz="2100" b="1">
              <a:solidFill>
                <a:srgbClr val="FFFF00"/>
              </a:solidFill>
              <a:latin typeface="Comfortaa"/>
              <a:ea typeface="Comfortaa"/>
              <a:cs typeface="Comfortaa"/>
              <a:sym typeface="Comfortaa"/>
            </a:endParaRPr>
          </a:p>
        </p:txBody>
      </p:sp>
      <p:sp>
        <p:nvSpPr>
          <p:cNvPr id="82" name="Google Shape;82;p4"/>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4</a:t>
            </a:fld>
            <a:endParaRPr/>
          </a:p>
        </p:txBody>
      </p:sp>
      <p:pic>
        <p:nvPicPr>
          <p:cNvPr id="83" name="Google Shape;83;p4"/>
          <p:cNvPicPr preferRelativeResize="0"/>
          <p:nvPr/>
        </p:nvPicPr>
        <p:blipFill rotWithShape="1">
          <a:blip r:embed="rId3">
            <a:alphaModFix/>
          </a:blip>
          <a:srcRect/>
          <a:stretch/>
        </p:blipFill>
        <p:spPr>
          <a:xfrm>
            <a:off x="997800" y="3557975"/>
            <a:ext cx="943100" cy="1077825"/>
          </a:xfrm>
          <a:prstGeom prst="rect">
            <a:avLst/>
          </a:prstGeom>
          <a:noFill/>
          <a:ln>
            <a:noFill/>
          </a:ln>
        </p:spPr>
      </p:pic>
      <p:pic>
        <p:nvPicPr>
          <p:cNvPr id="85" name="Google Shape;85;p4"/>
          <p:cNvPicPr preferRelativeResize="0"/>
          <p:nvPr/>
        </p:nvPicPr>
        <p:blipFill rotWithShape="1">
          <a:blip r:embed="rId4">
            <a:alphaModFix/>
          </a:blip>
          <a:srcRect/>
          <a:stretch/>
        </p:blipFill>
        <p:spPr>
          <a:xfrm>
            <a:off x="2903819" y="3486538"/>
            <a:ext cx="1044158" cy="1077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6"/>
          <p:cNvSpPr txBox="1">
            <a:spLocks noGrp="1"/>
          </p:cNvSpPr>
          <p:nvPr>
            <p:ph type="title"/>
          </p:nvPr>
        </p:nvSpPr>
        <p:spPr>
          <a:xfrm>
            <a:off x="311700" y="445025"/>
            <a:ext cx="8520600" cy="592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620" b="1">
                <a:solidFill>
                  <a:srgbClr val="00FF00"/>
                </a:solidFill>
                <a:latin typeface="Comfortaa"/>
                <a:ea typeface="Comfortaa"/>
                <a:cs typeface="Comfortaa"/>
                <a:sym typeface="Comfortaa"/>
              </a:rPr>
              <a:t>Computer System - Structure</a:t>
            </a:r>
            <a:endParaRPr sz="2620" b="1">
              <a:solidFill>
                <a:srgbClr val="00FF00"/>
              </a:solidFill>
              <a:latin typeface="Comfortaa"/>
              <a:ea typeface="Comfortaa"/>
              <a:cs typeface="Comfortaa"/>
              <a:sym typeface="Comfortaa"/>
            </a:endParaRPr>
          </a:p>
        </p:txBody>
      </p:sp>
      <p:sp>
        <p:nvSpPr>
          <p:cNvPr id="103" name="Google Shape;103;p6"/>
          <p:cNvSpPr txBox="1">
            <a:spLocks noGrp="1"/>
          </p:cNvSpPr>
          <p:nvPr>
            <p:ph type="body" idx="1"/>
          </p:nvPr>
        </p:nvSpPr>
        <p:spPr>
          <a:xfrm>
            <a:off x="311700" y="1189625"/>
            <a:ext cx="8520600" cy="3531600"/>
          </a:xfrm>
          <a:prstGeom prst="rect">
            <a:avLst/>
          </a:prstGeom>
          <a:noFill/>
          <a:ln>
            <a:noFill/>
          </a:ln>
        </p:spPr>
        <p:txBody>
          <a:bodyPr spcFirstLastPara="1" wrap="square" lIns="91425" tIns="91425" rIns="91425" bIns="91425" anchor="t" anchorCtr="0">
            <a:normAutofit/>
          </a:bodyPr>
          <a:lstStyle/>
          <a:p>
            <a:pPr marL="457200" lvl="0" indent="-361950" algn="l" rtl="0">
              <a:lnSpc>
                <a:spcPct val="115000"/>
              </a:lnSpc>
              <a:spcBef>
                <a:spcPts val="0"/>
              </a:spcBef>
              <a:spcAft>
                <a:spcPts val="0"/>
              </a:spcAft>
              <a:buClr>
                <a:srgbClr val="FFFF00"/>
              </a:buClr>
              <a:buSzPts val="2100"/>
              <a:buFont typeface="Comfortaa"/>
              <a:buChar char="●"/>
            </a:pPr>
            <a:r>
              <a:rPr lang="en" sz="2100" b="1">
                <a:solidFill>
                  <a:srgbClr val="FFFF00"/>
                </a:solidFill>
                <a:latin typeface="Comfortaa"/>
                <a:ea typeface="Comfortaa"/>
                <a:cs typeface="Comfortaa"/>
                <a:sym typeface="Comfortaa"/>
              </a:rPr>
              <a:t>Hardware</a:t>
            </a:r>
            <a:endParaRPr sz="2100" b="1">
              <a:solidFill>
                <a:srgbClr val="FFFF00"/>
              </a:solidFill>
              <a:latin typeface="Comfortaa"/>
              <a:ea typeface="Comfortaa"/>
              <a:cs typeface="Comfortaa"/>
              <a:sym typeface="Comfortaa"/>
            </a:endParaRPr>
          </a:p>
          <a:p>
            <a:pPr marL="457200" lvl="0" indent="-361950" algn="l" rtl="0">
              <a:lnSpc>
                <a:spcPct val="115000"/>
              </a:lnSpc>
              <a:spcBef>
                <a:spcPts val="0"/>
              </a:spcBef>
              <a:spcAft>
                <a:spcPts val="0"/>
              </a:spcAft>
              <a:buClr>
                <a:srgbClr val="FFFF00"/>
              </a:buClr>
              <a:buSzPts val="2100"/>
              <a:buFont typeface="Comfortaa"/>
              <a:buChar char="●"/>
            </a:pPr>
            <a:r>
              <a:rPr lang="en" sz="2100" b="1">
                <a:solidFill>
                  <a:srgbClr val="FFFF00"/>
                </a:solidFill>
                <a:latin typeface="Comfortaa"/>
                <a:ea typeface="Comfortaa"/>
                <a:cs typeface="Comfortaa"/>
                <a:sym typeface="Comfortaa"/>
              </a:rPr>
              <a:t>Operating System</a:t>
            </a:r>
            <a:endParaRPr sz="2100" b="1">
              <a:solidFill>
                <a:srgbClr val="FFFF00"/>
              </a:solidFill>
              <a:latin typeface="Comfortaa"/>
              <a:ea typeface="Comfortaa"/>
              <a:cs typeface="Comfortaa"/>
              <a:sym typeface="Comfortaa"/>
            </a:endParaRPr>
          </a:p>
          <a:p>
            <a:pPr marL="457200" lvl="0" indent="-361950" algn="l" rtl="0">
              <a:lnSpc>
                <a:spcPct val="115000"/>
              </a:lnSpc>
              <a:spcBef>
                <a:spcPts val="0"/>
              </a:spcBef>
              <a:spcAft>
                <a:spcPts val="0"/>
              </a:spcAft>
              <a:buClr>
                <a:srgbClr val="FFFF00"/>
              </a:buClr>
              <a:buSzPts val="2100"/>
              <a:buFont typeface="Comfortaa"/>
              <a:buChar char="●"/>
            </a:pPr>
            <a:r>
              <a:rPr lang="en" sz="2100" b="1">
                <a:solidFill>
                  <a:srgbClr val="FFFF00"/>
                </a:solidFill>
                <a:latin typeface="Comfortaa"/>
                <a:ea typeface="Comfortaa"/>
                <a:cs typeface="Comfortaa"/>
                <a:sym typeface="Comfortaa"/>
              </a:rPr>
              <a:t>Application Program</a:t>
            </a:r>
            <a:endParaRPr sz="2100" b="1">
              <a:solidFill>
                <a:srgbClr val="FFFF00"/>
              </a:solidFill>
              <a:latin typeface="Comfortaa"/>
              <a:ea typeface="Comfortaa"/>
              <a:cs typeface="Comfortaa"/>
              <a:sym typeface="Comfortaa"/>
            </a:endParaRPr>
          </a:p>
          <a:p>
            <a:pPr marL="457200" lvl="0" indent="-361950" algn="l" rtl="0">
              <a:lnSpc>
                <a:spcPct val="115000"/>
              </a:lnSpc>
              <a:spcBef>
                <a:spcPts val="0"/>
              </a:spcBef>
              <a:spcAft>
                <a:spcPts val="0"/>
              </a:spcAft>
              <a:buClr>
                <a:srgbClr val="FFFF00"/>
              </a:buClr>
              <a:buSzPts val="2100"/>
              <a:buFont typeface="Comfortaa"/>
              <a:buChar char="●"/>
            </a:pPr>
            <a:r>
              <a:rPr lang="en" sz="2100" b="1">
                <a:solidFill>
                  <a:srgbClr val="FFFF00"/>
                </a:solidFill>
                <a:latin typeface="Comfortaa"/>
                <a:ea typeface="Comfortaa"/>
                <a:cs typeface="Comfortaa"/>
                <a:sym typeface="Comfortaa"/>
              </a:rPr>
              <a:t>Users</a:t>
            </a:r>
            <a:endParaRPr sz="2100" b="1">
              <a:solidFill>
                <a:srgbClr val="FFFF00"/>
              </a:solidFill>
              <a:latin typeface="Comfortaa"/>
              <a:ea typeface="Comfortaa"/>
              <a:cs typeface="Comfortaa"/>
              <a:sym typeface="Comfortaa"/>
            </a:endParaRPr>
          </a:p>
          <a:p>
            <a:pPr marL="457200" lvl="0" indent="0" algn="ctr" rtl="0">
              <a:lnSpc>
                <a:spcPct val="115000"/>
              </a:lnSpc>
              <a:spcBef>
                <a:spcPts val="1200"/>
              </a:spcBef>
              <a:spcAft>
                <a:spcPts val="0"/>
              </a:spcAft>
              <a:buSzPts val="1800"/>
              <a:buNone/>
            </a:pPr>
            <a:endParaRPr sz="2100" b="1">
              <a:solidFill>
                <a:srgbClr val="FFFF00"/>
              </a:solidFill>
              <a:latin typeface="Comfortaa"/>
              <a:ea typeface="Comfortaa"/>
              <a:cs typeface="Comfortaa"/>
              <a:sym typeface="Comfortaa"/>
            </a:endParaRPr>
          </a:p>
          <a:p>
            <a:pPr marL="457200" lvl="0" indent="0" algn="ctr" rtl="0">
              <a:lnSpc>
                <a:spcPct val="115000"/>
              </a:lnSpc>
              <a:spcBef>
                <a:spcPts val="1200"/>
              </a:spcBef>
              <a:spcAft>
                <a:spcPts val="1200"/>
              </a:spcAft>
              <a:buSzPts val="1800"/>
              <a:buNone/>
            </a:pPr>
            <a:endParaRPr sz="2800" b="1">
              <a:solidFill>
                <a:srgbClr val="FFFF00"/>
              </a:solidFill>
              <a:latin typeface="Comfortaa"/>
              <a:ea typeface="Comfortaa"/>
              <a:cs typeface="Comfortaa"/>
              <a:sym typeface="Comfortaa"/>
            </a:endParaRPr>
          </a:p>
        </p:txBody>
      </p:sp>
      <p:sp>
        <p:nvSpPr>
          <p:cNvPr id="104" name="Google Shape;104;p6"/>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7"/>
          <p:cNvSpPr txBox="1">
            <a:spLocks noGrp="1"/>
          </p:cNvSpPr>
          <p:nvPr>
            <p:ph type="title"/>
          </p:nvPr>
        </p:nvSpPr>
        <p:spPr>
          <a:xfrm>
            <a:off x="311700" y="445025"/>
            <a:ext cx="8520600" cy="592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620" b="1">
                <a:solidFill>
                  <a:srgbClr val="00FF00"/>
                </a:solidFill>
                <a:latin typeface="Comfortaa"/>
                <a:ea typeface="Comfortaa"/>
                <a:cs typeface="Comfortaa"/>
                <a:sym typeface="Comfortaa"/>
              </a:rPr>
              <a:t>Computer System - Structure</a:t>
            </a:r>
            <a:endParaRPr sz="2620" b="1">
              <a:solidFill>
                <a:srgbClr val="00FF00"/>
              </a:solidFill>
              <a:latin typeface="Comfortaa"/>
              <a:ea typeface="Comfortaa"/>
              <a:cs typeface="Comfortaa"/>
              <a:sym typeface="Comfortaa"/>
            </a:endParaRPr>
          </a:p>
        </p:txBody>
      </p:sp>
      <p:sp>
        <p:nvSpPr>
          <p:cNvPr id="110" name="Google Shape;110;p7"/>
          <p:cNvSpPr txBox="1">
            <a:spLocks noGrp="1"/>
          </p:cNvSpPr>
          <p:nvPr>
            <p:ph type="body" idx="1"/>
          </p:nvPr>
        </p:nvSpPr>
        <p:spPr>
          <a:xfrm>
            <a:off x="311700" y="1189625"/>
            <a:ext cx="8520600" cy="3531600"/>
          </a:xfrm>
          <a:prstGeom prst="rect">
            <a:avLst/>
          </a:prstGeom>
          <a:noFill/>
          <a:ln>
            <a:noFill/>
          </a:ln>
        </p:spPr>
        <p:txBody>
          <a:bodyPr spcFirstLastPara="1" wrap="square" lIns="91425" tIns="91425" rIns="91425" bIns="91425" anchor="t" anchorCtr="0">
            <a:normAutofit/>
          </a:bodyPr>
          <a:lstStyle/>
          <a:p>
            <a:pPr marL="457200" lvl="0" indent="-361950" algn="l" rtl="0">
              <a:lnSpc>
                <a:spcPct val="115000"/>
              </a:lnSpc>
              <a:spcBef>
                <a:spcPts val="0"/>
              </a:spcBef>
              <a:spcAft>
                <a:spcPts val="0"/>
              </a:spcAft>
              <a:buClr>
                <a:srgbClr val="FFFF00"/>
              </a:buClr>
              <a:buSzPts val="2100"/>
              <a:buFont typeface="Comfortaa"/>
              <a:buChar char="●"/>
            </a:pPr>
            <a:r>
              <a:rPr lang="en" sz="2100" b="1">
                <a:solidFill>
                  <a:srgbClr val="FFFF00"/>
                </a:solidFill>
                <a:latin typeface="Comfortaa"/>
                <a:ea typeface="Comfortaa"/>
                <a:cs typeface="Comfortaa"/>
                <a:sym typeface="Comfortaa"/>
              </a:rPr>
              <a:t>Hardware</a:t>
            </a:r>
            <a:endParaRPr sz="2100" b="1">
              <a:solidFill>
                <a:srgbClr val="FFFF00"/>
              </a:solidFill>
              <a:latin typeface="Comfortaa"/>
              <a:ea typeface="Comfortaa"/>
              <a:cs typeface="Comfortaa"/>
              <a:sym typeface="Comfortaa"/>
            </a:endParaRPr>
          </a:p>
          <a:p>
            <a:pPr marL="0" lvl="0" indent="0" algn="l" rtl="0">
              <a:lnSpc>
                <a:spcPct val="115000"/>
              </a:lnSpc>
              <a:spcBef>
                <a:spcPts val="1200"/>
              </a:spcBef>
              <a:spcAft>
                <a:spcPts val="0"/>
              </a:spcAft>
              <a:buSzPts val="1800"/>
              <a:buNone/>
            </a:pPr>
            <a:endParaRPr sz="2100" b="1">
              <a:solidFill>
                <a:srgbClr val="FFFF00"/>
              </a:solidFill>
              <a:latin typeface="Comfortaa"/>
              <a:ea typeface="Comfortaa"/>
              <a:cs typeface="Comfortaa"/>
              <a:sym typeface="Comfortaa"/>
            </a:endParaRPr>
          </a:p>
          <a:p>
            <a:pPr marL="457200" lvl="0" indent="0" algn="ctr" rtl="0">
              <a:lnSpc>
                <a:spcPct val="115000"/>
              </a:lnSpc>
              <a:spcBef>
                <a:spcPts val="1200"/>
              </a:spcBef>
              <a:spcAft>
                <a:spcPts val="0"/>
              </a:spcAft>
              <a:buSzPts val="1800"/>
              <a:buNone/>
            </a:pPr>
            <a:endParaRPr sz="2100" b="1">
              <a:solidFill>
                <a:srgbClr val="FFFF00"/>
              </a:solidFill>
              <a:latin typeface="Comfortaa"/>
              <a:ea typeface="Comfortaa"/>
              <a:cs typeface="Comfortaa"/>
              <a:sym typeface="Comfortaa"/>
            </a:endParaRPr>
          </a:p>
          <a:p>
            <a:pPr marL="457200" lvl="0" indent="0" algn="ctr" rtl="0">
              <a:lnSpc>
                <a:spcPct val="115000"/>
              </a:lnSpc>
              <a:spcBef>
                <a:spcPts val="1200"/>
              </a:spcBef>
              <a:spcAft>
                <a:spcPts val="1200"/>
              </a:spcAft>
              <a:buSzPts val="1800"/>
              <a:buNone/>
            </a:pPr>
            <a:endParaRPr sz="2800" b="1">
              <a:solidFill>
                <a:srgbClr val="FFFF00"/>
              </a:solidFill>
              <a:latin typeface="Comfortaa"/>
              <a:ea typeface="Comfortaa"/>
              <a:cs typeface="Comfortaa"/>
              <a:sym typeface="Comfortaa"/>
            </a:endParaRPr>
          </a:p>
        </p:txBody>
      </p:sp>
      <p:sp>
        <p:nvSpPr>
          <p:cNvPr id="111" name="Google Shape;111;p7"/>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6</a:t>
            </a:fld>
            <a:endParaRPr/>
          </a:p>
        </p:txBody>
      </p:sp>
      <p:pic>
        <p:nvPicPr>
          <p:cNvPr id="112" name="Google Shape;112;p7"/>
          <p:cNvPicPr preferRelativeResize="0"/>
          <p:nvPr/>
        </p:nvPicPr>
        <p:blipFill rotWithShape="1">
          <a:blip r:embed="rId3">
            <a:alphaModFix/>
          </a:blip>
          <a:srcRect/>
          <a:stretch/>
        </p:blipFill>
        <p:spPr>
          <a:xfrm>
            <a:off x="879900" y="2091220"/>
            <a:ext cx="1549624" cy="1377450"/>
          </a:xfrm>
          <a:prstGeom prst="rect">
            <a:avLst/>
          </a:prstGeom>
          <a:noFill/>
          <a:ln>
            <a:noFill/>
          </a:ln>
        </p:spPr>
      </p:pic>
      <p:pic>
        <p:nvPicPr>
          <p:cNvPr id="113" name="Google Shape;113;p7"/>
          <p:cNvPicPr preferRelativeResize="0"/>
          <p:nvPr/>
        </p:nvPicPr>
        <p:blipFill rotWithShape="1">
          <a:blip r:embed="rId4">
            <a:alphaModFix/>
          </a:blip>
          <a:srcRect/>
          <a:stretch/>
        </p:blipFill>
        <p:spPr>
          <a:xfrm>
            <a:off x="2659001" y="3648726"/>
            <a:ext cx="369900" cy="493201"/>
          </a:xfrm>
          <a:prstGeom prst="rect">
            <a:avLst/>
          </a:prstGeom>
          <a:noFill/>
          <a:ln>
            <a:noFill/>
          </a:ln>
        </p:spPr>
      </p:pic>
      <p:pic>
        <p:nvPicPr>
          <p:cNvPr id="114" name="Google Shape;114;p7"/>
          <p:cNvPicPr preferRelativeResize="0"/>
          <p:nvPr/>
        </p:nvPicPr>
        <p:blipFill rotWithShape="1">
          <a:blip r:embed="rId5">
            <a:alphaModFix/>
          </a:blip>
          <a:srcRect/>
          <a:stretch/>
        </p:blipFill>
        <p:spPr>
          <a:xfrm>
            <a:off x="879899" y="3468663"/>
            <a:ext cx="1549624" cy="853325"/>
          </a:xfrm>
          <a:prstGeom prst="rect">
            <a:avLst/>
          </a:prstGeom>
          <a:noFill/>
          <a:ln>
            <a:noFill/>
          </a:ln>
        </p:spPr>
      </p:pic>
      <p:pic>
        <p:nvPicPr>
          <p:cNvPr id="115" name="Google Shape;115;p7"/>
          <p:cNvPicPr preferRelativeResize="0"/>
          <p:nvPr/>
        </p:nvPicPr>
        <p:blipFill rotWithShape="1">
          <a:blip r:embed="rId6">
            <a:alphaModFix/>
          </a:blip>
          <a:srcRect/>
          <a:stretch/>
        </p:blipFill>
        <p:spPr>
          <a:xfrm>
            <a:off x="2569600" y="2177038"/>
            <a:ext cx="548700" cy="1205825"/>
          </a:xfrm>
          <a:prstGeom prst="rect">
            <a:avLst/>
          </a:prstGeom>
          <a:noFill/>
          <a:ln>
            <a:noFill/>
          </a:ln>
        </p:spPr>
      </p:pic>
      <p:sp>
        <p:nvSpPr>
          <p:cNvPr id="116" name="Google Shape;116;p7"/>
          <p:cNvSpPr txBox="1"/>
          <p:nvPr/>
        </p:nvSpPr>
        <p:spPr>
          <a:xfrm>
            <a:off x="4427125" y="1847225"/>
            <a:ext cx="3871500" cy="2216400"/>
          </a:xfrm>
          <a:prstGeom prst="rect">
            <a:avLst/>
          </a:prstGeom>
          <a:noFill/>
          <a:ln>
            <a:noFill/>
          </a:ln>
        </p:spPr>
        <p:txBody>
          <a:bodyPr spcFirstLastPara="1" wrap="square" lIns="91425" tIns="91425" rIns="91425" bIns="91425" anchor="t" anchorCtr="0">
            <a:spAutoFit/>
          </a:bodyPr>
          <a:lstStyle/>
          <a:p>
            <a:pPr marL="457200" marR="0" lvl="0" indent="-368300" algn="l" rtl="0">
              <a:lnSpc>
                <a:spcPct val="100000"/>
              </a:lnSpc>
              <a:spcBef>
                <a:spcPts val="0"/>
              </a:spcBef>
              <a:spcAft>
                <a:spcPts val="0"/>
              </a:spcAft>
              <a:buClr>
                <a:srgbClr val="FFFF00"/>
              </a:buClr>
              <a:buSzPts val="2200"/>
              <a:buFont typeface="Comfortaa"/>
              <a:buChar char="●"/>
            </a:pPr>
            <a:r>
              <a:rPr lang="en" sz="2200" b="1" i="0" u="none" strike="noStrike" cap="none">
                <a:solidFill>
                  <a:srgbClr val="FFFF00"/>
                </a:solidFill>
                <a:latin typeface="Comfortaa"/>
                <a:ea typeface="Comfortaa"/>
                <a:cs typeface="Comfortaa"/>
                <a:sym typeface="Comfortaa"/>
              </a:rPr>
              <a:t>Monitor</a:t>
            </a:r>
            <a:endParaRPr sz="2200" b="1" i="0" u="none" strike="noStrike" cap="none">
              <a:solidFill>
                <a:srgbClr val="FFFF00"/>
              </a:solidFill>
              <a:latin typeface="Comfortaa"/>
              <a:ea typeface="Comfortaa"/>
              <a:cs typeface="Comfortaa"/>
              <a:sym typeface="Comfortaa"/>
            </a:endParaRPr>
          </a:p>
          <a:p>
            <a:pPr marL="457200" marR="0" lvl="0" indent="-368300" algn="l" rtl="0">
              <a:lnSpc>
                <a:spcPct val="100000"/>
              </a:lnSpc>
              <a:spcBef>
                <a:spcPts val="0"/>
              </a:spcBef>
              <a:spcAft>
                <a:spcPts val="0"/>
              </a:spcAft>
              <a:buClr>
                <a:srgbClr val="FFFF00"/>
              </a:buClr>
              <a:buSzPts val="2200"/>
              <a:buFont typeface="Comfortaa"/>
              <a:buChar char="●"/>
            </a:pPr>
            <a:r>
              <a:rPr lang="en" sz="2200" b="1" i="0" u="none" strike="noStrike" cap="none">
                <a:solidFill>
                  <a:srgbClr val="FFFF00"/>
                </a:solidFill>
                <a:latin typeface="Comfortaa"/>
                <a:ea typeface="Comfortaa"/>
                <a:cs typeface="Comfortaa"/>
                <a:sym typeface="Comfortaa"/>
              </a:rPr>
              <a:t>Keyboard</a:t>
            </a:r>
            <a:endParaRPr sz="2200" b="1" i="0" u="none" strike="noStrike" cap="none">
              <a:solidFill>
                <a:srgbClr val="FFFF00"/>
              </a:solidFill>
              <a:latin typeface="Comfortaa"/>
              <a:ea typeface="Comfortaa"/>
              <a:cs typeface="Comfortaa"/>
              <a:sym typeface="Comfortaa"/>
            </a:endParaRPr>
          </a:p>
          <a:p>
            <a:pPr marL="457200" marR="0" lvl="0" indent="-368300" algn="l" rtl="0">
              <a:lnSpc>
                <a:spcPct val="100000"/>
              </a:lnSpc>
              <a:spcBef>
                <a:spcPts val="0"/>
              </a:spcBef>
              <a:spcAft>
                <a:spcPts val="0"/>
              </a:spcAft>
              <a:buClr>
                <a:srgbClr val="FFFF00"/>
              </a:buClr>
              <a:buSzPts val="2200"/>
              <a:buFont typeface="Comfortaa"/>
              <a:buChar char="●"/>
            </a:pPr>
            <a:r>
              <a:rPr lang="en" sz="2200" b="1" i="0" u="none" strike="noStrike" cap="none">
                <a:solidFill>
                  <a:srgbClr val="FFFF00"/>
                </a:solidFill>
                <a:latin typeface="Comfortaa"/>
                <a:ea typeface="Comfortaa"/>
                <a:cs typeface="Comfortaa"/>
                <a:sym typeface="Comfortaa"/>
              </a:rPr>
              <a:t>Mouse</a:t>
            </a:r>
            <a:endParaRPr sz="2200" b="1" i="0" u="none" strike="noStrike" cap="none">
              <a:solidFill>
                <a:srgbClr val="FFFF00"/>
              </a:solidFill>
              <a:latin typeface="Comfortaa"/>
              <a:ea typeface="Comfortaa"/>
              <a:cs typeface="Comfortaa"/>
              <a:sym typeface="Comfortaa"/>
            </a:endParaRPr>
          </a:p>
          <a:p>
            <a:pPr marL="457200" marR="0" lvl="0" indent="-368300" algn="l" rtl="0">
              <a:lnSpc>
                <a:spcPct val="100000"/>
              </a:lnSpc>
              <a:spcBef>
                <a:spcPts val="0"/>
              </a:spcBef>
              <a:spcAft>
                <a:spcPts val="0"/>
              </a:spcAft>
              <a:buClr>
                <a:srgbClr val="FFFF00"/>
              </a:buClr>
              <a:buSzPts val="2200"/>
              <a:buFont typeface="Comfortaa"/>
              <a:buChar char="●"/>
            </a:pPr>
            <a:r>
              <a:rPr lang="en" sz="2200" b="1" i="0" u="none" strike="noStrike" cap="none">
                <a:solidFill>
                  <a:srgbClr val="FFFF00"/>
                </a:solidFill>
                <a:latin typeface="Comfortaa"/>
                <a:ea typeface="Comfortaa"/>
                <a:cs typeface="Comfortaa"/>
                <a:sym typeface="Comfortaa"/>
              </a:rPr>
              <a:t>Processor</a:t>
            </a:r>
            <a:endParaRPr sz="2200" b="1" i="0" u="none" strike="noStrike" cap="none">
              <a:solidFill>
                <a:srgbClr val="FFFF00"/>
              </a:solidFill>
              <a:latin typeface="Comfortaa"/>
              <a:ea typeface="Comfortaa"/>
              <a:cs typeface="Comfortaa"/>
              <a:sym typeface="Comfortaa"/>
            </a:endParaRPr>
          </a:p>
          <a:p>
            <a:pPr marL="457200" marR="0" lvl="0" indent="-368300" algn="l" rtl="0">
              <a:lnSpc>
                <a:spcPct val="100000"/>
              </a:lnSpc>
              <a:spcBef>
                <a:spcPts val="0"/>
              </a:spcBef>
              <a:spcAft>
                <a:spcPts val="0"/>
              </a:spcAft>
              <a:buClr>
                <a:srgbClr val="FFFF00"/>
              </a:buClr>
              <a:buSzPts val="2200"/>
              <a:buFont typeface="Comfortaa"/>
              <a:buChar char="●"/>
            </a:pPr>
            <a:r>
              <a:rPr lang="en" sz="2200" b="1" i="0" u="none" strike="noStrike" cap="none">
                <a:solidFill>
                  <a:srgbClr val="FFFF00"/>
                </a:solidFill>
                <a:latin typeface="Comfortaa"/>
                <a:ea typeface="Comfortaa"/>
                <a:cs typeface="Comfortaa"/>
                <a:sym typeface="Comfortaa"/>
              </a:rPr>
              <a:t>Hard-disk</a:t>
            </a:r>
            <a:endParaRPr sz="2200" b="1" i="0" u="none" strike="noStrike" cap="none">
              <a:solidFill>
                <a:srgbClr val="FFFF00"/>
              </a:solidFill>
              <a:latin typeface="Comfortaa"/>
              <a:ea typeface="Comfortaa"/>
              <a:cs typeface="Comfortaa"/>
              <a:sym typeface="Comfortaa"/>
            </a:endParaRPr>
          </a:p>
          <a:p>
            <a:pPr marL="457200" marR="0" lvl="0" indent="-368300" algn="l" rtl="0">
              <a:lnSpc>
                <a:spcPct val="100000"/>
              </a:lnSpc>
              <a:spcBef>
                <a:spcPts val="0"/>
              </a:spcBef>
              <a:spcAft>
                <a:spcPts val="0"/>
              </a:spcAft>
              <a:buClr>
                <a:srgbClr val="FFFF00"/>
              </a:buClr>
              <a:buSzPts val="2200"/>
              <a:buFont typeface="Comfortaa"/>
              <a:buChar char="●"/>
            </a:pPr>
            <a:r>
              <a:rPr lang="en" sz="2200" b="1">
                <a:solidFill>
                  <a:srgbClr val="FFFF00"/>
                </a:solidFill>
                <a:latin typeface="Comfortaa"/>
                <a:ea typeface="Comfortaa"/>
                <a:cs typeface="Comfortaa"/>
                <a:sym typeface="Comfortaa"/>
              </a:rPr>
              <a:t>RAM</a:t>
            </a:r>
            <a:endParaRPr sz="2200" b="1">
              <a:solidFill>
                <a:srgbClr val="FFFF00"/>
              </a:solidFill>
              <a:latin typeface="Comfortaa"/>
              <a:ea typeface="Comfortaa"/>
              <a:cs typeface="Comfortaa"/>
              <a:sym typeface="Comforta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8"/>
          <p:cNvSpPr txBox="1">
            <a:spLocks noGrp="1"/>
          </p:cNvSpPr>
          <p:nvPr>
            <p:ph type="title"/>
          </p:nvPr>
        </p:nvSpPr>
        <p:spPr>
          <a:xfrm>
            <a:off x="311700" y="445025"/>
            <a:ext cx="8520600" cy="592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620" b="1">
                <a:solidFill>
                  <a:srgbClr val="00FF00"/>
                </a:solidFill>
                <a:latin typeface="Comfortaa"/>
                <a:ea typeface="Comfortaa"/>
                <a:cs typeface="Comfortaa"/>
                <a:sym typeface="Comfortaa"/>
              </a:rPr>
              <a:t>Computer System - Structure</a:t>
            </a:r>
            <a:endParaRPr sz="2620" b="1">
              <a:solidFill>
                <a:srgbClr val="00FF00"/>
              </a:solidFill>
              <a:latin typeface="Comfortaa"/>
              <a:ea typeface="Comfortaa"/>
              <a:cs typeface="Comfortaa"/>
              <a:sym typeface="Comfortaa"/>
            </a:endParaRPr>
          </a:p>
        </p:txBody>
      </p:sp>
      <p:sp>
        <p:nvSpPr>
          <p:cNvPr id="122" name="Google Shape;122;p8"/>
          <p:cNvSpPr txBox="1">
            <a:spLocks noGrp="1"/>
          </p:cNvSpPr>
          <p:nvPr>
            <p:ph type="body" idx="1"/>
          </p:nvPr>
        </p:nvSpPr>
        <p:spPr>
          <a:xfrm>
            <a:off x="311700" y="1189625"/>
            <a:ext cx="8520600" cy="3531600"/>
          </a:xfrm>
          <a:prstGeom prst="rect">
            <a:avLst/>
          </a:prstGeom>
          <a:noFill/>
          <a:ln>
            <a:noFill/>
          </a:ln>
        </p:spPr>
        <p:txBody>
          <a:bodyPr spcFirstLastPara="1" wrap="square" lIns="91425" tIns="91425" rIns="91425" bIns="91425" anchor="t" anchorCtr="0">
            <a:normAutofit/>
          </a:bodyPr>
          <a:lstStyle/>
          <a:p>
            <a:pPr marL="457200" lvl="0" indent="-361950" algn="l" rtl="0">
              <a:lnSpc>
                <a:spcPct val="115000"/>
              </a:lnSpc>
              <a:spcBef>
                <a:spcPts val="0"/>
              </a:spcBef>
              <a:spcAft>
                <a:spcPts val="0"/>
              </a:spcAft>
              <a:buClr>
                <a:srgbClr val="FFFF00"/>
              </a:buClr>
              <a:buSzPts val="2100"/>
              <a:buFont typeface="Comfortaa"/>
              <a:buChar char="●"/>
            </a:pPr>
            <a:r>
              <a:rPr lang="en" sz="2100" b="1">
                <a:solidFill>
                  <a:srgbClr val="FFFF00"/>
                </a:solidFill>
                <a:latin typeface="Comfortaa"/>
                <a:ea typeface="Comfortaa"/>
                <a:cs typeface="Comfortaa"/>
                <a:sym typeface="Comfortaa"/>
              </a:rPr>
              <a:t>Operating System</a:t>
            </a:r>
            <a:endParaRPr sz="2100" b="1">
              <a:solidFill>
                <a:srgbClr val="FFFF00"/>
              </a:solidFill>
              <a:latin typeface="Comfortaa"/>
              <a:ea typeface="Comfortaa"/>
              <a:cs typeface="Comfortaa"/>
              <a:sym typeface="Comfortaa"/>
            </a:endParaRPr>
          </a:p>
          <a:p>
            <a:pPr marL="0" lvl="0" indent="0" algn="l" rtl="0">
              <a:lnSpc>
                <a:spcPct val="115000"/>
              </a:lnSpc>
              <a:spcBef>
                <a:spcPts val="1200"/>
              </a:spcBef>
              <a:spcAft>
                <a:spcPts val="0"/>
              </a:spcAft>
              <a:buSzPts val="1800"/>
              <a:buNone/>
            </a:pPr>
            <a:endParaRPr sz="2100" b="1">
              <a:solidFill>
                <a:srgbClr val="FFFF00"/>
              </a:solidFill>
              <a:latin typeface="Comfortaa"/>
              <a:ea typeface="Comfortaa"/>
              <a:cs typeface="Comfortaa"/>
              <a:sym typeface="Comfortaa"/>
            </a:endParaRPr>
          </a:p>
          <a:p>
            <a:pPr marL="457200" lvl="0" indent="0" algn="ctr" rtl="0">
              <a:lnSpc>
                <a:spcPct val="115000"/>
              </a:lnSpc>
              <a:spcBef>
                <a:spcPts val="1200"/>
              </a:spcBef>
              <a:spcAft>
                <a:spcPts val="0"/>
              </a:spcAft>
              <a:buSzPts val="1800"/>
              <a:buNone/>
            </a:pPr>
            <a:endParaRPr sz="2100" b="1">
              <a:solidFill>
                <a:srgbClr val="FFFF00"/>
              </a:solidFill>
              <a:latin typeface="Comfortaa"/>
              <a:ea typeface="Comfortaa"/>
              <a:cs typeface="Comfortaa"/>
              <a:sym typeface="Comfortaa"/>
            </a:endParaRPr>
          </a:p>
          <a:p>
            <a:pPr marL="457200" lvl="0" indent="0" algn="ctr" rtl="0">
              <a:lnSpc>
                <a:spcPct val="115000"/>
              </a:lnSpc>
              <a:spcBef>
                <a:spcPts val="1200"/>
              </a:spcBef>
              <a:spcAft>
                <a:spcPts val="1200"/>
              </a:spcAft>
              <a:buSzPts val="1800"/>
              <a:buNone/>
            </a:pPr>
            <a:endParaRPr sz="2800" b="1">
              <a:solidFill>
                <a:srgbClr val="FFFF00"/>
              </a:solidFill>
              <a:latin typeface="Comfortaa"/>
              <a:ea typeface="Comfortaa"/>
              <a:cs typeface="Comfortaa"/>
              <a:sym typeface="Comfortaa"/>
            </a:endParaRPr>
          </a:p>
        </p:txBody>
      </p:sp>
      <p:sp>
        <p:nvSpPr>
          <p:cNvPr id="123" name="Google Shape;123;p8"/>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7</a:t>
            </a:fld>
            <a:endParaRPr/>
          </a:p>
        </p:txBody>
      </p:sp>
      <p:sp>
        <p:nvSpPr>
          <p:cNvPr id="124" name="Google Shape;124;p8"/>
          <p:cNvSpPr txBox="1"/>
          <p:nvPr/>
        </p:nvSpPr>
        <p:spPr>
          <a:xfrm>
            <a:off x="3526500" y="2476075"/>
            <a:ext cx="5305800" cy="1200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dirty="0">
                <a:solidFill>
                  <a:srgbClr val="FFFF00"/>
                </a:solidFill>
                <a:latin typeface="Comfortaa"/>
                <a:ea typeface="Comfortaa"/>
                <a:cs typeface="Comfortaa"/>
                <a:sym typeface="Comfortaa"/>
              </a:rPr>
              <a:t>Controls and coordinates use of h/w among applications and</a:t>
            </a:r>
            <a:endParaRPr sz="2200" b="1" i="0" u="none" strike="noStrike" cap="none" dirty="0">
              <a:solidFill>
                <a:srgbClr val="FFFF00"/>
              </a:solidFill>
              <a:latin typeface="Comfortaa"/>
              <a:ea typeface="Comfortaa"/>
              <a:cs typeface="Comfortaa"/>
              <a:sym typeface="Comfortaa"/>
            </a:endParaRPr>
          </a:p>
          <a:p>
            <a:pPr marL="0" marR="0" lvl="0" indent="0" algn="l" rtl="0">
              <a:lnSpc>
                <a:spcPct val="100000"/>
              </a:lnSpc>
              <a:spcBef>
                <a:spcPts val="0"/>
              </a:spcBef>
              <a:spcAft>
                <a:spcPts val="0"/>
              </a:spcAft>
              <a:buClr>
                <a:srgbClr val="000000"/>
              </a:buClr>
              <a:buSzPts val="2200"/>
              <a:buFont typeface="Arial"/>
              <a:buNone/>
            </a:pPr>
            <a:r>
              <a:rPr lang="en" sz="2200" b="1" i="0" u="none" strike="noStrike" cap="none" dirty="0">
                <a:solidFill>
                  <a:srgbClr val="FFFF00"/>
                </a:solidFill>
                <a:latin typeface="Comfortaa"/>
                <a:ea typeface="Comfortaa"/>
                <a:cs typeface="Comfortaa"/>
                <a:sym typeface="Comfortaa"/>
              </a:rPr>
              <a:t>users</a:t>
            </a:r>
            <a:endParaRPr sz="2200" b="1" i="0" u="none" strike="noStrike" cap="none" dirty="0">
              <a:solidFill>
                <a:srgbClr val="FFFF00"/>
              </a:solidFill>
              <a:latin typeface="Comfortaa"/>
              <a:ea typeface="Comfortaa"/>
              <a:cs typeface="Comfortaa"/>
              <a:sym typeface="Comfortaa"/>
            </a:endParaRPr>
          </a:p>
        </p:txBody>
      </p:sp>
      <p:pic>
        <p:nvPicPr>
          <p:cNvPr id="125" name="Google Shape;125;p8"/>
          <p:cNvPicPr preferRelativeResize="0"/>
          <p:nvPr/>
        </p:nvPicPr>
        <p:blipFill rotWithShape="1">
          <a:blip r:embed="rId3">
            <a:alphaModFix/>
          </a:blip>
          <a:srcRect/>
          <a:stretch/>
        </p:blipFill>
        <p:spPr>
          <a:xfrm>
            <a:off x="792775" y="2177050"/>
            <a:ext cx="943100" cy="1077825"/>
          </a:xfrm>
          <a:prstGeom prst="rect">
            <a:avLst/>
          </a:prstGeom>
          <a:noFill/>
          <a:ln>
            <a:noFill/>
          </a:ln>
        </p:spPr>
      </p:pic>
      <p:pic>
        <p:nvPicPr>
          <p:cNvPr id="126" name="Google Shape;126;p8"/>
          <p:cNvPicPr preferRelativeResize="0"/>
          <p:nvPr/>
        </p:nvPicPr>
        <p:blipFill rotWithShape="1">
          <a:blip r:embed="rId4">
            <a:alphaModFix/>
          </a:blip>
          <a:srcRect/>
          <a:stretch/>
        </p:blipFill>
        <p:spPr>
          <a:xfrm>
            <a:off x="2097967" y="2127212"/>
            <a:ext cx="883125" cy="1177500"/>
          </a:xfrm>
          <a:prstGeom prst="rect">
            <a:avLst/>
          </a:prstGeom>
          <a:noFill/>
          <a:ln>
            <a:noFill/>
          </a:ln>
        </p:spPr>
      </p:pic>
      <p:pic>
        <p:nvPicPr>
          <p:cNvPr id="127" name="Google Shape;127;p8"/>
          <p:cNvPicPr preferRelativeResize="0"/>
          <p:nvPr/>
        </p:nvPicPr>
        <p:blipFill rotWithShape="1">
          <a:blip r:embed="rId5">
            <a:alphaModFix/>
          </a:blip>
          <a:srcRect/>
          <a:stretch/>
        </p:blipFill>
        <p:spPr>
          <a:xfrm>
            <a:off x="742250" y="3254875"/>
            <a:ext cx="1044158" cy="1077825"/>
          </a:xfrm>
          <a:prstGeom prst="rect">
            <a:avLst/>
          </a:prstGeom>
          <a:noFill/>
          <a:ln>
            <a:noFill/>
          </a:ln>
        </p:spPr>
      </p:pic>
      <p:pic>
        <p:nvPicPr>
          <p:cNvPr id="128" name="Google Shape;128;p8"/>
          <p:cNvPicPr preferRelativeResize="0"/>
          <p:nvPr/>
        </p:nvPicPr>
        <p:blipFill rotWithShape="1">
          <a:blip r:embed="rId6">
            <a:alphaModFix/>
          </a:blip>
          <a:srcRect/>
          <a:stretch/>
        </p:blipFill>
        <p:spPr>
          <a:xfrm>
            <a:off x="1933255" y="3254873"/>
            <a:ext cx="1212556" cy="10778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9"/>
          <p:cNvSpPr txBox="1">
            <a:spLocks noGrp="1"/>
          </p:cNvSpPr>
          <p:nvPr>
            <p:ph type="title"/>
          </p:nvPr>
        </p:nvSpPr>
        <p:spPr>
          <a:xfrm>
            <a:off x="311700" y="445025"/>
            <a:ext cx="8520600" cy="592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620" b="1">
                <a:solidFill>
                  <a:srgbClr val="00FF00"/>
                </a:solidFill>
                <a:latin typeface="Comfortaa"/>
                <a:ea typeface="Comfortaa"/>
                <a:cs typeface="Comfortaa"/>
                <a:sym typeface="Comfortaa"/>
              </a:rPr>
              <a:t>Computer System - Structure</a:t>
            </a:r>
            <a:endParaRPr sz="2620" b="1">
              <a:solidFill>
                <a:srgbClr val="00FF00"/>
              </a:solidFill>
              <a:latin typeface="Comfortaa"/>
              <a:ea typeface="Comfortaa"/>
              <a:cs typeface="Comfortaa"/>
              <a:sym typeface="Comfortaa"/>
            </a:endParaRPr>
          </a:p>
        </p:txBody>
      </p:sp>
      <p:sp>
        <p:nvSpPr>
          <p:cNvPr id="134" name="Google Shape;134;p9"/>
          <p:cNvSpPr txBox="1">
            <a:spLocks noGrp="1"/>
          </p:cNvSpPr>
          <p:nvPr>
            <p:ph type="body" idx="1"/>
          </p:nvPr>
        </p:nvSpPr>
        <p:spPr>
          <a:xfrm>
            <a:off x="311700" y="1189625"/>
            <a:ext cx="8520600" cy="3531600"/>
          </a:xfrm>
          <a:prstGeom prst="rect">
            <a:avLst/>
          </a:prstGeom>
          <a:noFill/>
          <a:ln>
            <a:noFill/>
          </a:ln>
        </p:spPr>
        <p:txBody>
          <a:bodyPr spcFirstLastPara="1" wrap="square" lIns="91425" tIns="91425" rIns="91425" bIns="91425" anchor="t" anchorCtr="0">
            <a:normAutofit/>
          </a:bodyPr>
          <a:lstStyle/>
          <a:p>
            <a:pPr marL="457200" lvl="0" indent="-361950" algn="l" rtl="0">
              <a:lnSpc>
                <a:spcPct val="115000"/>
              </a:lnSpc>
              <a:spcBef>
                <a:spcPts val="0"/>
              </a:spcBef>
              <a:spcAft>
                <a:spcPts val="0"/>
              </a:spcAft>
              <a:buClr>
                <a:srgbClr val="FFFF00"/>
              </a:buClr>
              <a:buSzPts val="2100"/>
              <a:buFont typeface="Comfortaa"/>
              <a:buChar char="●"/>
            </a:pPr>
            <a:r>
              <a:rPr lang="en" sz="2100" b="1" dirty="0">
                <a:solidFill>
                  <a:srgbClr val="FFFF00"/>
                </a:solidFill>
                <a:latin typeface="Comfortaa"/>
                <a:ea typeface="Comfortaa"/>
                <a:cs typeface="Comfortaa"/>
                <a:sym typeface="Comfortaa"/>
              </a:rPr>
              <a:t>Application Programs</a:t>
            </a:r>
            <a:endParaRPr sz="2100" b="1" dirty="0">
              <a:solidFill>
                <a:srgbClr val="FFFF00"/>
              </a:solidFill>
              <a:latin typeface="Comfortaa"/>
              <a:ea typeface="Comfortaa"/>
              <a:cs typeface="Comfortaa"/>
              <a:sym typeface="Comfortaa"/>
            </a:endParaRPr>
          </a:p>
          <a:p>
            <a:pPr marL="0" lvl="0" indent="0" algn="l" rtl="0">
              <a:lnSpc>
                <a:spcPct val="115000"/>
              </a:lnSpc>
              <a:spcBef>
                <a:spcPts val="1200"/>
              </a:spcBef>
              <a:spcAft>
                <a:spcPts val="0"/>
              </a:spcAft>
              <a:buSzPts val="1800"/>
              <a:buNone/>
            </a:pPr>
            <a:endParaRPr sz="2100" b="1" dirty="0">
              <a:solidFill>
                <a:srgbClr val="FFFF00"/>
              </a:solidFill>
              <a:latin typeface="Comfortaa"/>
              <a:ea typeface="Comfortaa"/>
              <a:cs typeface="Comfortaa"/>
              <a:sym typeface="Comfortaa"/>
            </a:endParaRPr>
          </a:p>
          <a:p>
            <a:pPr marL="457200" lvl="0" indent="0" algn="ctr" rtl="0">
              <a:lnSpc>
                <a:spcPct val="115000"/>
              </a:lnSpc>
              <a:spcBef>
                <a:spcPts val="1200"/>
              </a:spcBef>
              <a:spcAft>
                <a:spcPts val="0"/>
              </a:spcAft>
              <a:buSzPts val="1800"/>
              <a:buNone/>
            </a:pPr>
            <a:endParaRPr sz="2100" b="1" dirty="0">
              <a:solidFill>
                <a:srgbClr val="FFFF00"/>
              </a:solidFill>
              <a:latin typeface="Comfortaa"/>
              <a:ea typeface="Comfortaa"/>
              <a:cs typeface="Comfortaa"/>
              <a:sym typeface="Comfortaa"/>
            </a:endParaRPr>
          </a:p>
          <a:p>
            <a:pPr marL="457200" lvl="0" indent="0" algn="ctr" rtl="0">
              <a:lnSpc>
                <a:spcPct val="115000"/>
              </a:lnSpc>
              <a:spcBef>
                <a:spcPts val="1200"/>
              </a:spcBef>
              <a:spcAft>
                <a:spcPts val="1200"/>
              </a:spcAft>
              <a:buSzPts val="1800"/>
              <a:buNone/>
            </a:pPr>
            <a:endParaRPr sz="2800" b="1" dirty="0">
              <a:solidFill>
                <a:srgbClr val="FFFF00"/>
              </a:solidFill>
              <a:latin typeface="Comfortaa"/>
              <a:ea typeface="Comfortaa"/>
              <a:cs typeface="Comfortaa"/>
              <a:sym typeface="Comfortaa"/>
            </a:endParaRPr>
          </a:p>
        </p:txBody>
      </p:sp>
      <p:sp>
        <p:nvSpPr>
          <p:cNvPr id="135" name="Google Shape;135;p9"/>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8</a:t>
            </a:fld>
            <a:endParaRPr/>
          </a:p>
        </p:txBody>
      </p:sp>
      <p:sp>
        <p:nvSpPr>
          <p:cNvPr id="136" name="Google Shape;136;p9"/>
          <p:cNvSpPr txBox="1"/>
          <p:nvPr/>
        </p:nvSpPr>
        <p:spPr>
          <a:xfrm>
            <a:off x="3152975" y="2258200"/>
            <a:ext cx="5526300" cy="1539300"/>
          </a:xfrm>
          <a:prstGeom prst="rect">
            <a:avLst/>
          </a:prstGeom>
          <a:noFill/>
          <a:ln>
            <a:noFill/>
          </a:ln>
        </p:spPr>
        <p:txBody>
          <a:bodyPr spcFirstLastPara="1" wrap="square" lIns="91425" tIns="91425" rIns="91425" bIns="91425" anchor="t" anchorCtr="0">
            <a:spAutoFit/>
          </a:bodyPr>
          <a:lstStyle/>
          <a:p>
            <a:pPr marL="457200" marR="0" lvl="0" indent="0" algn="l" rtl="0">
              <a:lnSpc>
                <a:spcPct val="100000"/>
              </a:lnSpc>
              <a:spcBef>
                <a:spcPts val="0"/>
              </a:spcBef>
              <a:spcAft>
                <a:spcPts val="0"/>
              </a:spcAft>
              <a:buClr>
                <a:srgbClr val="000000"/>
              </a:buClr>
              <a:buSzPts val="2200"/>
              <a:buFont typeface="Arial"/>
              <a:buNone/>
            </a:pPr>
            <a:r>
              <a:rPr lang="en" sz="2200" b="1" i="0" u="none" strike="noStrike" cap="none" dirty="0">
                <a:solidFill>
                  <a:srgbClr val="FFFF00"/>
                </a:solidFill>
                <a:latin typeface="Comfortaa"/>
                <a:ea typeface="Comfortaa"/>
                <a:cs typeface="Comfortaa"/>
                <a:sym typeface="Comfortaa"/>
              </a:rPr>
              <a:t>Define the way in which the system resources are used to solve the computing problems of the users</a:t>
            </a:r>
            <a:endParaRPr sz="2200" b="1" i="0" u="none" strike="noStrike" cap="none" dirty="0">
              <a:solidFill>
                <a:srgbClr val="FFFF00"/>
              </a:solidFill>
              <a:latin typeface="Comfortaa"/>
              <a:ea typeface="Comfortaa"/>
              <a:cs typeface="Comfortaa"/>
              <a:sym typeface="Comfortaa"/>
            </a:endParaRPr>
          </a:p>
        </p:txBody>
      </p:sp>
      <p:pic>
        <p:nvPicPr>
          <p:cNvPr id="137" name="Google Shape;137;p9"/>
          <p:cNvPicPr preferRelativeResize="0"/>
          <p:nvPr/>
        </p:nvPicPr>
        <p:blipFill rotWithShape="1">
          <a:blip r:embed="rId3">
            <a:alphaModFix/>
          </a:blip>
          <a:srcRect/>
          <a:stretch/>
        </p:blipFill>
        <p:spPr>
          <a:xfrm>
            <a:off x="586600" y="2205951"/>
            <a:ext cx="548700" cy="731599"/>
          </a:xfrm>
          <a:prstGeom prst="rect">
            <a:avLst/>
          </a:prstGeom>
          <a:noFill/>
          <a:ln>
            <a:noFill/>
          </a:ln>
        </p:spPr>
      </p:pic>
      <p:pic>
        <p:nvPicPr>
          <p:cNvPr id="138" name="Google Shape;138;p9"/>
          <p:cNvPicPr preferRelativeResize="0"/>
          <p:nvPr/>
        </p:nvPicPr>
        <p:blipFill rotWithShape="1">
          <a:blip r:embed="rId4">
            <a:alphaModFix/>
          </a:blip>
          <a:srcRect/>
          <a:stretch/>
        </p:blipFill>
        <p:spPr>
          <a:xfrm>
            <a:off x="1233201" y="2205951"/>
            <a:ext cx="731601" cy="731601"/>
          </a:xfrm>
          <a:prstGeom prst="rect">
            <a:avLst/>
          </a:prstGeom>
          <a:noFill/>
          <a:ln>
            <a:noFill/>
          </a:ln>
        </p:spPr>
      </p:pic>
      <p:pic>
        <p:nvPicPr>
          <p:cNvPr id="139" name="Google Shape;139;p9"/>
          <p:cNvPicPr preferRelativeResize="0"/>
          <p:nvPr/>
        </p:nvPicPr>
        <p:blipFill rotWithShape="1">
          <a:blip r:embed="rId5">
            <a:alphaModFix/>
          </a:blip>
          <a:srcRect/>
          <a:stretch/>
        </p:blipFill>
        <p:spPr>
          <a:xfrm>
            <a:off x="586600" y="3040751"/>
            <a:ext cx="548700" cy="731601"/>
          </a:xfrm>
          <a:prstGeom prst="rect">
            <a:avLst/>
          </a:prstGeom>
          <a:noFill/>
          <a:ln>
            <a:noFill/>
          </a:ln>
        </p:spPr>
      </p:pic>
      <p:pic>
        <p:nvPicPr>
          <p:cNvPr id="140" name="Google Shape;140;p9"/>
          <p:cNvPicPr preferRelativeResize="0"/>
          <p:nvPr/>
        </p:nvPicPr>
        <p:blipFill rotWithShape="1">
          <a:blip r:embed="rId6">
            <a:alphaModFix/>
          </a:blip>
          <a:srcRect/>
          <a:stretch/>
        </p:blipFill>
        <p:spPr>
          <a:xfrm>
            <a:off x="1278925" y="3040750"/>
            <a:ext cx="640142" cy="731599"/>
          </a:xfrm>
          <a:prstGeom prst="rect">
            <a:avLst/>
          </a:prstGeom>
          <a:noFill/>
          <a:ln>
            <a:noFill/>
          </a:ln>
        </p:spPr>
      </p:pic>
      <p:pic>
        <p:nvPicPr>
          <p:cNvPr id="141" name="Google Shape;141;p9"/>
          <p:cNvPicPr preferRelativeResize="0"/>
          <p:nvPr/>
        </p:nvPicPr>
        <p:blipFill rotWithShape="1">
          <a:blip r:embed="rId7">
            <a:alphaModFix/>
          </a:blip>
          <a:srcRect/>
          <a:stretch/>
        </p:blipFill>
        <p:spPr>
          <a:xfrm>
            <a:off x="2056551" y="2258202"/>
            <a:ext cx="548700" cy="627086"/>
          </a:xfrm>
          <a:prstGeom prst="rect">
            <a:avLst/>
          </a:prstGeom>
          <a:noFill/>
          <a:ln>
            <a:noFill/>
          </a:ln>
        </p:spPr>
      </p:pic>
      <p:pic>
        <p:nvPicPr>
          <p:cNvPr id="142" name="Google Shape;142;p9"/>
          <p:cNvPicPr preferRelativeResize="0"/>
          <p:nvPr/>
        </p:nvPicPr>
        <p:blipFill rotWithShape="1">
          <a:blip r:embed="rId8">
            <a:alphaModFix/>
          </a:blip>
          <a:srcRect/>
          <a:stretch/>
        </p:blipFill>
        <p:spPr>
          <a:xfrm>
            <a:off x="2056551" y="3040740"/>
            <a:ext cx="548700" cy="6270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0"/>
          <p:cNvSpPr txBox="1">
            <a:spLocks noGrp="1"/>
          </p:cNvSpPr>
          <p:nvPr>
            <p:ph type="title"/>
          </p:nvPr>
        </p:nvSpPr>
        <p:spPr>
          <a:xfrm>
            <a:off x="311700" y="445025"/>
            <a:ext cx="8520600" cy="592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620" b="1">
                <a:solidFill>
                  <a:srgbClr val="00FF00"/>
                </a:solidFill>
                <a:latin typeface="Comfortaa"/>
                <a:ea typeface="Comfortaa"/>
                <a:cs typeface="Comfortaa"/>
                <a:sym typeface="Comfortaa"/>
              </a:rPr>
              <a:t>Computer System - Structure</a:t>
            </a:r>
            <a:endParaRPr sz="2620" b="1">
              <a:solidFill>
                <a:srgbClr val="00FF00"/>
              </a:solidFill>
              <a:latin typeface="Comfortaa"/>
              <a:ea typeface="Comfortaa"/>
              <a:cs typeface="Comfortaa"/>
              <a:sym typeface="Comfortaa"/>
            </a:endParaRPr>
          </a:p>
        </p:txBody>
      </p:sp>
      <p:sp>
        <p:nvSpPr>
          <p:cNvPr id="148" name="Google Shape;148;p10"/>
          <p:cNvSpPr txBox="1">
            <a:spLocks noGrp="1"/>
          </p:cNvSpPr>
          <p:nvPr>
            <p:ph type="body" idx="1"/>
          </p:nvPr>
        </p:nvSpPr>
        <p:spPr>
          <a:xfrm>
            <a:off x="311700" y="1189625"/>
            <a:ext cx="8520600" cy="3531600"/>
          </a:xfrm>
          <a:prstGeom prst="rect">
            <a:avLst/>
          </a:prstGeom>
          <a:noFill/>
          <a:ln>
            <a:noFill/>
          </a:ln>
        </p:spPr>
        <p:txBody>
          <a:bodyPr spcFirstLastPara="1" wrap="square" lIns="91425" tIns="91425" rIns="91425" bIns="91425" anchor="t" anchorCtr="0">
            <a:normAutofit/>
          </a:bodyPr>
          <a:lstStyle/>
          <a:p>
            <a:pPr marL="457200" lvl="0" indent="-361950" algn="l" rtl="0">
              <a:lnSpc>
                <a:spcPct val="115000"/>
              </a:lnSpc>
              <a:spcBef>
                <a:spcPts val="0"/>
              </a:spcBef>
              <a:spcAft>
                <a:spcPts val="0"/>
              </a:spcAft>
              <a:buClr>
                <a:srgbClr val="FFFF00"/>
              </a:buClr>
              <a:buSzPts val="2100"/>
              <a:buFont typeface="Comfortaa"/>
              <a:buChar char="●"/>
            </a:pPr>
            <a:r>
              <a:rPr lang="en" sz="2100" b="1">
                <a:solidFill>
                  <a:srgbClr val="FFFF00"/>
                </a:solidFill>
                <a:latin typeface="Comfortaa"/>
                <a:ea typeface="Comfortaa"/>
                <a:cs typeface="Comfortaa"/>
                <a:sym typeface="Comfortaa"/>
              </a:rPr>
              <a:t>Users</a:t>
            </a:r>
            <a:endParaRPr sz="2100" b="1">
              <a:solidFill>
                <a:srgbClr val="FFFF00"/>
              </a:solidFill>
              <a:latin typeface="Comfortaa"/>
              <a:ea typeface="Comfortaa"/>
              <a:cs typeface="Comfortaa"/>
              <a:sym typeface="Comfortaa"/>
            </a:endParaRPr>
          </a:p>
          <a:p>
            <a:pPr marL="0" lvl="0" indent="0" algn="l" rtl="0">
              <a:lnSpc>
                <a:spcPct val="115000"/>
              </a:lnSpc>
              <a:spcBef>
                <a:spcPts val="1200"/>
              </a:spcBef>
              <a:spcAft>
                <a:spcPts val="0"/>
              </a:spcAft>
              <a:buSzPts val="1800"/>
              <a:buNone/>
            </a:pPr>
            <a:endParaRPr sz="2100" b="1">
              <a:solidFill>
                <a:srgbClr val="FFFF00"/>
              </a:solidFill>
              <a:latin typeface="Comfortaa"/>
              <a:ea typeface="Comfortaa"/>
              <a:cs typeface="Comfortaa"/>
              <a:sym typeface="Comfortaa"/>
            </a:endParaRPr>
          </a:p>
          <a:p>
            <a:pPr marL="457200" lvl="0" indent="0" algn="ctr" rtl="0">
              <a:lnSpc>
                <a:spcPct val="115000"/>
              </a:lnSpc>
              <a:spcBef>
                <a:spcPts val="1200"/>
              </a:spcBef>
              <a:spcAft>
                <a:spcPts val="0"/>
              </a:spcAft>
              <a:buSzPts val="1800"/>
              <a:buNone/>
            </a:pPr>
            <a:endParaRPr sz="2100" b="1">
              <a:solidFill>
                <a:srgbClr val="FFFF00"/>
              </a:solidFill>
              <a:latin typeface="Comfortaa"/>
              <a:ea typeface="Comfortaa"/>
              <a:cs typeface="Comfortaa"/>
              <a:sym typeface="Comfortaa"/>
            </a:endParaRPr>
          </a:p>
          <a:p>
            <a:pPr marL="457200" lvl="0" indent="0" algn="ctr" rtl="0">
              <a:lnSpc>
                <a:spcPct val="115000"/>
              </a:lnSpc>
              <a:spcBef>
                <a:spcPts val="1200"/>
              </a:spcBef>
              <a:spcAft>
                <a:spcPts val="1200"/>
              </a:spcAft>
              <a:buSzPts val="1800"/>
              <a:buNone/>
            </a:pPr>
            <a:endParaRPr sz="2800" b="1">
              <a:solidFill>
                <a:srgbClr val="FFFF00"/>
              </a:solidFill>
              <a:latin typeface="Comfortaa"/>
              <a:ea typeface="Comfortaa"/>
              <a:cs typeface="Comfortaa"/>
              <a:sym typeface="Comfortaa"/>
            </a:endParaRPr>
          </a:p>
        </p:txBody>
      </p:sp>
      <p:sp>
        <p:nvSpPr>
          <p:cNvPr id="149" name="Google Shape;149;p10"/>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9</a:t>
            </a:fld>
            <a:endParaRPr/>
          </a:p>
        </p:txBody>
      </p:sp>
      <p:sp>
        <p:nvSpPr>
          <p:cNvPr id="150" name="Google Shape;150;p10"/>
          <p:cNvSpPr txBox="1"/>
          <p:nvPr/>
        </p:nvSpPr>
        <p:spPr>
          <a:xfrm>
            <a:off x="3152975" y="2258200"/>
            <a:ext cx="5526300" cy="861900"/>
          </a:xfrm>
          <a:prstGeom prst="rect">
            <a:avLst/>
          </a:prstGeom>
          <a:noFill/>
          <a:ln>
            <a:noFill/>
          </a:ln>
        </p:spPr>
        <p:txBody>
          <a:bodyPr spcFirstLastPara="1" wrap="square" lIns="91425" tIns="91425" rIns="91425" bIns="91425" anchor="t" anchorCtr="0">
            <a:spAutoFit/>
          </a:bodyPr>
          <a:lstStyle/>
          <a:p>
            <a:pPr marL="457200" marR="0" lvl="0" indent="0" algn="l" rtl="0">
              <a:lnSpc>
                <a:spcPct val="100000"/>
              </a:lnSpc>
              <a:spcBef>
                <a:spcPts val="0"/>
              </a:spcBef>
              <a:spcAft>
                <a:spcPts val="0"/>
              </a:spcAft>
              <a:buClr>
                <a:srgbClr val="000000"/>
              </a:buClr>
              <a:buSzPts val="2200"/>
              <a:buFont typeface="Arial"/>
              <a:buNone/>
            </a:pPr>
            <a:r>
              <a:rPr lang="en" sz="2200" b="1" i="0" u="none" strike="noStrike" cap="none">
                <a:solidFill>
                  <a:srgbClr val="FFFF00"/>
                </a:solidFill>
                <a:latin typeface="Comfortaa"/>
                <a:ea typeface="Comfortaa"/>
                <a:cs typeface="Comfortaa"/>
                <a:sym typeface="Comfortaa"/>
              </a:rPr>
              <a:t>User can be a human, a device or another computer.</a:t>
            </a:r>
            <a:endParaRPr sz="2200" b="1" i="0" u="none" strike="noStrike" cap="none">
              <a:solidFill>
                <a:srgbClr val="FFFF00"/>
              </a:solidFill>
              <a:latin typeface="Comfortaa"/>
              <a:ea typeface="Comfortaa"/>
              <a:cs typeface="Comfortaa"/>
              <a:sym typeface="Comfortaa"/>
            </a:endParaRPr>
          </a:p>
        </p:txBody>
      </p:sp>
      <p:pic>
        <p:nvPicPr>
          <p:cNvPr id="151" name="Google Shape;151;p10"/>
          <p:cNvPicPr preferRelativeResize="0"/>
          <p:nvPr/>
        </p:nvPicPr>
        <p:blipFill rotWithShape="1">
          <a:blip r:embed="rId3">
            <a:alphaModFix/>
          </a:blip>
          <a:srcRect/>
          <a:stretch/>
        </p:blipFill>
        <p:spPr>
          <a:xfrm>
            <a:off x="533051" y="2258201"/>
            <a:ext cx="871350" cy="871350"/>
          </a:xfrm>
          <a:prstGeom prst="rect">
            <a:avLst/>
          </a:prstGeom>
          <a:noFill/>
          <a:ln>
            <a:noFill/>
          </a:ln>
        </p:spPr>
      </p:pic>
      <p:pic>
        <p:nvPicPr>
          <p:cNvPr id="152" name="Google Shape;152;p10"/>
          <p:cNvPicPr preferRelativeResize="0"/>
          <p:nvPr/>
        </p:nvPicPr>
        <p:blipFill rotWithShape="1">
          <a:blip r:embed="rId4">
            <a:alphaModFix/>
          </a:blip>
          <a:srcRect/>
          <a:stretch/>
        </p:blipFill>
        <p:spPr>
          <a:xfrm>
            <a:off x="1681175" y="2355008"/>
            <a:ext cx="871350" cy="77453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1"/>
          <p:cNvSpPr txBox="1">
            <a:spLocks noGrp="1"/>
          </p:cNvSpPr>
          <p:nvPr>
            <p:ph type="title"/>
          </p:nvPr>
        </p:nvSpPr>
        <p:spPr>
          <a:xfrm>
            <a:off x="311700" y="445025"/>
            <a:ext cx="8520600" cy="592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620" b="1">
                <a:solidFill>
                  <a:srgbClr val="00FF00"/>
                </a:solidFill>
                <a:latin typeface="Comfortaa"/>
                <a:ea typeface="Comfortaa"/>
                <a:cs typeface="Comfortaa"/>
                <a:sym typeface="Comfortaa"/>
              </a:rPr>
              <a:t>Computer System - Structure</a:t>
            </a:r>
            <a:endParaRPr sz="2620" b="1">
              <a:solidFill>
                <a:srgbClr val="00FF00"/>
              </a:solidFill>
              <a:latin typeface="Comfortaa"/>
              <a:ea typeface="Comfortaa"/>
              <a:cs typeface="Comfortaa"/>
              <a:sym typeface="Comfortaa"/>
            </a:endParaRPr>
          </a:p>
        </p:txBody>
      </p:sp>
      <p:sp>
        <p:nvSpPr>
          <p:cNvPr id="158" name="Google Shape;158;p11"/>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10</a:t>
            </a:fld>
            <a:endParaRPr/>
          </a:p>
        </p:txBody>
      </p:sp>
      <p:sp>
        <p:nvSpPr>
          <p:cNvPr id="159" name="Google Shape;159;p11"/>
          <p:cNvSpPr/>
          <p:nvPr/>
        </p:nvSpPr>
        <p:spPr>
          <a:xfrm>
            <a:off x="2658175" y="3761125"/>
            <a:ext cx="5488200" cy="902100"/>
          </a:xfrm>
          <a:prstGeom prst="cube">
            <a:avLst>
              <a:gd name="adj" fmla="val 25000"/>
            </a:avLst>
          </a:prstGeom>
          <a:solidFill>
            <a:srgbClr val="FFFF00"/>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Comfortaa"/>
                <a:ea typeface="Comfortaa"/>
                <a:cs typeface="Comfortaa"/>
                <a:sym typeface="Comfortaa"/>
              </a:rPr>
              <a:t>Computer Hardware</a:t>
            </a:r>
            <a:endParaRPr sz="1800" b="1" i="0" u="none" strike="noStrike" cap="none">
              <a:solidFill>
                <a:srgbClr val="000000"/>
              </a:solidFill>
              <a:latin typeface="Comfortaa"/>
              <a:ea typeface="Comfortaa"/>
              <a:cs typeface="Comfortaa"/>
              <a:sym typeface="Comfortaa"/>
            </a:endParaRPr>
          </a:p>
        </p:txBody>
      </p:sp>
      <p:sp>
        <p:nvSpPr>
          <p:cNvPr id="160" name="Google Shape;160;p11"/>
          <p:cNvSpPr/>
          <p:nvPr/>
        </p:nvSpPr>
        <p:spPr>
          <a:xfrm>
            <a:off x="2658175" y="3234425"/>
            <a:ext cx="5426700" cy="731700"/>
          </a:xfrm>
          <a:prstGeom prst="cube">
            <a:avLst>
              <a:gd name="adj" fmla="val 25000"/>
            </a:avLst>
          </a:prstGeom>
          <a:solidFill>
            <a:srgbClr val="F1C23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Comfortaa"/>
                <a:ea typeface="Comfortaa"/>
                <a:cs typeface="Comfortaa"/>
                <a:sym typeface="Comfortaa"/>
              </a:rPr>
              <a:t>Operating System</a:t>
            </a:r>
            <a:endParaRPr sz="1800" b="1" i="0" u="none" strike="noStrike" cap="none">
              <a:solidFill>
                <a:srgbClr val="000000"/>
              </a:solidFill>
              <a:latin typeface="Comfortaa"/>
              <a:ea typeface="Comfortaa"/>
              <a:cs typeface="Comfortaa"/>
              <a:sym typeface="Comfortaa"/>
            </a:endParaRPr>
          </a:p>
        </p:txBody>
      </p:sp>
      <p:pic>
        <p:nvPicPr>
          <p:cNvPr id="161" name="Google Shape;161;p11"/>
          <p:cNvPicPr preferRelativeResize="0"/>
          <p:nvPr/>
        </p:nvPicPr>
        <p:blipFill rotWithShape="1">
          <a:blip r:embed="rId3">
            <a:alphaModFix/>
          </a:blip>
          <a:srcRect/>
          <a:stretch/>
        </p:blipFill>
        <p:spPr>
          <a:xfrm>
            <a:off x="2658175" y="2179826"/>
            <a:ext cx="548700" cy="731599"/>
          </a:xfrm>
          <a:prstGeom prst="rect">
            <a:avLst/>
          </a:prstGeom>
          <a:noFill/>
          <a:ln>
            <a:noFill/>
          </a:ln>
        </p:spPr>
      </p:pic>
      <p:pic>
        <p:nvPicPr>
          <p:cNvPr id="162" name="Google Shape;162;p11"/>
          <p:cNvPicPr preferRelativeResize="0"/>
          <p:nvPr/>
        </p:nvPicPr>
        <p:blipFill rotWithShape="1">
          <a:blip r:embed="rId4">
            <a:alphaModFix/>
          </a:blip>
          <a:srcRect/>
          <a:stretch/>
        </p:blipFill>
        <p:spPr>
          <a:xfrm>
            <a:off x="3544826" y="2179826"/>
            <a:ext cx="731601" cy="731601"/>
          </a:xfrm>
          <a:prstGeom prst="rect">
            <a:avLst/>
          </a:prstGeom>
          <a:noFill/>
          <a:ln>
            <a:noFill/>
          </a:ln>
        </p:spPr>
      </p:pic>
      <p:pic>
        <p:nvPicPr>
          <p:cNvPr id="163" name="Google Shape;163;p11"/>
          <p:cNvPicPr preferRelativeResize="0"/>
          <p:nvPr/>
        </p:nvPicPr>
        <p:blipFill rotWithShape="1">
          <a:blip r:embed="rId5">
            <a:alphaModFix/>
          </a:blip>
          <a:srcRect/>
          <a:stretch/>
        </p:blipFill>
        <p:spPr>
          <a:xfrm>
            <a:off x="7536250" y="2179826"/>
            <a:ext cx="548700" cy="731601"/>
          </a:xfrm>
          <a:prstGeom prst="rect">
            <a:avLst/>
          </a:prstGeom>
          <a:noFill/>
          <a:ln>
            <a:noFill/>
          </a:ln>
        </p:spPr>
      </p:pic>
      <p:pic>
        <p:nvPicPr>
          <p:cNvPr id="164" name="Google Shape;164;p11"/>
          <p:cNvPicPr preferRelativeResize="0"/>
          <p:nvPr/>
        </p:nvPicPr>
        <p:blipFill rotWithShape="1">
          <a:blip r:embed="rId6">
            <a:alphaModFix/>
          </a:blip>
          <a:srcRect/>
          <a:stretch/>
        </p:blipFill>
        <p:spPr>
          <a:xfrm>
            <a:off x="6501325" y="2232087"/>
            <a:ext cx="640142" cy="731599"/>
          </a:xfrm>
          <a:prstGeom prst="rect">
            <a:avLst/>
          </a:prstGeom>
          <a:noFill/>
          <a:ln>
            <a:noFill/>
          </a:ln>
        </p:spPr>
      </p:pic>
      <p:pic>
        <p:nvPicPr>
          <p:cNvPr id="165" name="Google Shape;165;p11"/>
          <p:cNvPicPr preferRelativeResize="0"/>
          <p:nvPr/>
        </p:nvPicPr>
        <p:blipFill rotWithShape="1">
          <a:blip r:embed="rId7">
            <a:alphaModFix/>
          </a:blip>
          <a:srcRect/>
          <a:stretch/>
        </p:blipFill>
        <p:spPr>
          <a:xfrm>
            <a:off x="4614376" y="2232077"/>
            <a:ext cx="548700" cy="627086"/>
          </a:xfrm>
          <a:prstGeom prst="rect">
            <a:avLst/>
          </a:prstGeom>
          <a:noFill/>
          <a:ln>
            <a:noFill/>
          </a:ln>
        </p:spPr>
      </p:pic>
      <p:pic>
        <p:nvPicPr>
          <p:cNvPr id="166" name="Google Shape;166;p11"/>
          <p:cNvPicPr preferRelativeResize="0"/>
          <p:nvPr/>
        </p:nvPicPr>
        <p:blipFill rotWithShape="1">
          <a:blip r:embed="rId8">
            <a:alphaModFix/>
          </a:blip>
          <a:srcRect/>
          <a:stretch/>
        </p:blipFill>
        <p:spPr>
          <a:xfrm>
            <a:off x="5557851" y="2284340"/>
            <a:ext cx="548700" cy="627086"/>
          </a:xfrm>
          <a:prstGeom prst="rect">
            <a:avLst/>
          </a:prstGeom>
          <a:noFill/>
          <a:ln>
            <a:noFill/>
          </a:ln>
        </p:spPr>
      </p:pic>
      <p:pic>
        <p:nvPicPr>
          <p:cNvPr id="167" name="Google Shape;167;p11"/>
          <p:cNvPicPr preferRelativeResize="0"/>
          <p:nvPr/>
        </p:nvPicPr>
        <p:blipFill rotWithShape="1">
          <a:blip r:embed="rId9">
            <a:alphaModFix/>
          </a:blip>
          <a:srcRect/>
          <a:stretch/>
        </p:blipFill>
        <p:spPr>
          <a:xfrm>
            <a:off x="2658175" y="1334175"/>
            <a:ext cx="548700" cy="548700"/>
          </a:xfrm>
          <a:prstGeom prst="rect">
            <a:avLst/>
          </a:prstGeom>
          <a:noFill/>
          <a:ln>
            <a:noFill/>
          </a:ln>
        </p:spPr>
      </p:pic>
      <p:pic>
        <p:nvPicPr>
          <p:cNvPr id="168" name="Google Shape;168;p11"/>
          <p:cNvPicPr preferRelativeResize="0"/>
          <p:nvPr/>
        </p:nvPicPr>
        <p:blipFill rotWithShape="1">
          <a:blip r:embed="rId9">
            <a:alphaModFix/>
          </a:blip>
          <a:srcRect/>
          <a:stretch/>
        </p:blipFill>
        <p:spPr>
          <a:xfrm>
            <a:off x="3636275" y="1334175"/>
            <a:ext cx="548700" cy="548700"/>
          </a:xfrm>
          <a:prstGeom prst="rect">
            <a:avLst/>
          </a:prstGeom>
          <a:noFill/>
          <a:ln>
            <a:noFill/>
          </a:ln>
        </p:spPr>
      </p:pic>
      <p:pic>
        <p:nvPicPr>
          <p:cNvPr id="169" name="Google Shape;169;p11"/>
          <p:cNvPicPr preferRelativeResize="0"/>
          <p:nvPr/>
        </p:nvPicPr>
        <p:blipFill rotWithShape="1">
          <a:blip r:embed="rId9">
            <a:alphaModFix/>
          </a:blip>
          <a:srcRect/>
          <a:stretch/>
        </p:blipFill>
        <p:spPr>
          <a:xfrm>
            <a:off x="4614375" y="1360300"/>
            <a:ext cx="548700" cy="548700"/>
          </a:xfrm>
          <a:prstGeom prst="rect">
            <a:avLst/>
          </a:prstGeom>
          <a:noFill/>
          <a:ln>
            <a:noFill/>
          </a:ln>
        </p:spPr>
      </p:pic>
      <p:pic>
        <p:nvPicPr>
          <p:cNvPr id="170" name="Google Shape;170;p11"/>
          <p:cNvPicPr preferRelativeResize="0"/>
          <p:nvPr/>
        </p:nvPicPr>
        <p:blipFill rotWithShape="1">
          <a:blip r:embed="rId9">
            <a:alphaModFix/>
          </a:blip>
          <a:srcRect/>
          <a:stretch/>
        </p:blipFill>
        <p:spPr>
          <a:xfrm>
            <a:off x="5557850" y="1386438"/>
            <a:ext cx="548700" cy="548700"/>
          </a:xfrm>
          <a:prstGeom prst="rect">
            <a:avLst/>
          </a:prstGeom>
          <a:noFill/>
          <a:ln>
            <a:noFill/>
          </a:ln>
        </p:spPr>
      </p:pic>
      <p:pic>
        <p:nvPicPr>
          <p:cNvPr id="171" name="Google Shape;171;p11"/>
          <p:cNvPicPr preferRelativeResize="0"/>
          <p:nvPr/>
        </p:nvPicPr>
        <p:blipFill rotWithShape="1">
          <a:blip r:embed="rId9">
            <a:alphaModFix/>
          </a:blip>
          <a:srcRect/>
          <a:stretch/>
        </p:blipFill>
        <p:spPr>
          <a:xfrm>
            <a:off x="6570575" y="1360288"/>
            <a:ext cx="548700" cy="548700"/>
          </a:xfrm>
          <a:prstGeom prst="rect">
            <a:avLst/>
          </a:prstGeom>
          <a:noFill/>
          <a:ln>
            <a:noFill/>
          </a:ln>
        </p:spPr>
      </p:pic>
      <p:pic>
        <p:nvPicPr>
          <p:cNvPr id="172" name="Google Shape;172;p11"/>
          <p:cNvPicPr preferRelativeResize="0"/>
          <p:nvPr/>
        </p:nvPicPr>
        <p:blipFill rotWithShape="1">
          <a:blip r:embed="rId9">
            <a:alphaModFix/>
          </a:blip>
          <a:srcRect/>
          <a:stretch/>
        </p:blipFill>
        <p:spPr>
          <a:xfrm>
            <a:off x="7479425" y="1386438"/>
            <a:ext cx="548700" cy="548700"/>
          </a:xfrm>
          <a:prstGeom prst="rect">
            <a:avLst/>
          </a:prstGeom>
          <a:noFill/>
          <a:ln>
            <a:noFill/>
          </a:ln>
        </p:spPr>
      </p:pic>
      <p:sp>
        <p:nvSpPr>
          <p:cNvPr id="173" name="Google Shape;173;p11"/>
          <p:cNvSpPr txBox="1"/>
          <p:nvPr/>
        </p:nvSpPr>
        <p:spPr>
          <a:xfrm>
            <a:off x="1257500" y="1437600"/>
            <a:ext cx="915900" cy="4464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1" i="0" u="none" strike="noStrike" cap="none">
                <a:solidFill>
                  <a:srgbClr val="FFFF00"/>
                </a:solidFill>
                <a:latin typeface="Comfortaa"/>
                <a:ea typeface="Comfortaa"/>
                <a:cs typeface="Comfortaa"/>
                <a:sym typeface="Comfortaa"/>
              </a:rPr>
              <a:t>Users</a:t>
            </a:r>
            <a:endParaRPr sz="1700" b="1" i="0" u="none" strike="noStrike" cap="none">
              <a:solidFill>
                <a:srgbClr val="FFFF00"/>
              </a:solidFill>
              <a:latin typeface="Comfortaa"/>
              <a:ea typeface="Comfortaa"/>
              <a:cs typeface="Comfortaa"/>
              <a:sym typeface="Comfortaa"/>
            </a:endParaRPr>
          </a:p>
        </p:txBody>
      </p:sp>
      <p:sp>
        <p:nvSpPr>
          <p:cNvPr id="174" name="Google Shape;174;p11"/>
          <p:cNvSpPr txBox="1"/>
          <p:nvPr/>
        </p:nvSpPr>
        <p:spPr>
          <a:xfrm>
            <a:off x="535075" y="2284375"/>
            <a:ext cx="2123100" cy="708000"/>
          </a:xfrm>
          <a:prstGeom prst="rect">
            <a:avLst/>
          </a:prstGeom>
          <a:solidFill>
            <a:schemeClr val="lt1"/>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FFFF00"/>
                </a:solidFill>
                <a:latin typeface="Comfortaa"/>
                <a:ea typeface="Comfortaa"/>
                <a:cs typeface="Comfortaa"/>
                <a:sym typeface="Comfortaa"/>
              </a:rPr>
              <a:t>Application Programs</a:t>
            </a:r>
            <a:endParaRPr sz="1700" b="1" i="0" u="none" strike="noStrike" cap="none">
              <a:solidFill>
                <a:srgbClr val="FFFF00"/>
              </a:solidFill>
              <a:latin typeface="Comfortaa"/>
              <a:ea typeface="Comfortaa"/>
              <a:cs typeface="Comfortaa"/>
              <a:sym typeface="Comforta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anim calcmode="lin" valueType="num">
                                      <p:cBhvr additive="base">
                                        <p:cTn id="7" dur="1000"/>
                                        <p:tgtEl>
                                          <p:spTgt spid="159"/>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0"/>
                                        </p:tgtEl>
                                        <p:attrNameLst>
                                          <p:attrName>style.visibility</p:attrName>
                                        </p:attrNameLst>
                                      </p:cBhvr>
                                      <p:to>
                                        <p:strVal val="visible"/>
                                      </p:to>
                                    </p:set>
                                    <p:anim calcmode="lin" valueType="num">
                                      <p:cBhvr additive="base">
                                        <p:cTn id="12" dur="1000"/>
                                        <p:tgtEl>
                                          <p:spTgt spid="160"/>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1"/>
                                        </p:tgtEl>
                                        <p:attrNameLst>
                                          <p:attrName>style.visibility</p:attrName>
                                        </p:attrNameLst>
                                      </p:cBhvr>
                                      <p:to>
                                        <p:strVal val="visible"/>
                                      </p:to>
                                    </p:set>
                                    <p:anim calcmode="lin" valueType="num">
                                      <p:cBhvr additive="base">
                                        <p:cTn id="17" dur="1000"/>
                                        <p:tgtEl>
                                          <p:spTgt spid="161"/>
                                        </p:tgtEl>
                                        <p:attrNameLst>
                                          <p:attrName>ppt_y</p:attrName>
                                        </p:attrNameLst>
                                      </p:cBhvr>
                                      <p:tavLst>
                                        <p:tav tm="0">
                                          <p:val>
                                            <p:strVal val="#ppt_y+1"/>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62"/>
                                        </p:tgtEl>
                                        <p:attrNameLst>
                                          <p:attrName>style.visibility</p:attrName>
                                        </p:attrNameLst>
                                      </p:cBhvr>
                                      <p:to>
                                        <p:strVal val="visible"/>
                                      </p:to>
                                    </p:set>
                                    <p:anim calcmode="lin" valueType="num">
                                      <p:cBhvr additive="base">
                                        <p:cTn id="20" dur="1100"/>
                                        <p:tgtEl>
                                          <p:spTgt spid="162"/>
                                        </p:tgtEl>
                                        <p:attrNameLst>
                                          <p:attrName>ppt_y</p:attrName>
                                        </p:attrNameLst>
                                      </p:cBhvr>
                                      <p:tavLst>
                                        <p:tav tm="0">
                                          <p:val>
                                            <p:strVal val="#ppt_y+1"/>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5"/>
                                        </p:tgtEl>
                                        <p:attrNameLst>
                                          <p:attrName>style.visibility</p:attrName>
                                        </p:attrNameLst>
                                      </p:cBhvr>
                                      <p:to>
                                        <p:strVal val="visible"/>
                                      </p:to>
                                    </p:set>
                                    <p:anim calcmode="lin" valueType="num">
                                      <p:cBhvr additive="base">
                                        <p:cTn id="23" dur="1200"/>
                                        <p:tgtEl>
                                          <p:spTgt spid="165"/>
                                        </p:tgtEl>
                                        <p:attrNameLst>
                                          <p:attrName>ppt_y</p:attrName>
                                        </p:attrNameLst>
                                      </p:cBhvr>
                                      <p:tavLst>
                                        <p:tav tm="0">
                                          <p:val>
                                            <p:strVal val="#ppt_y+1"/>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166"/>
                                        </p:tgtEl>
                                        <p:attrNameLst>
                                          <p:attrName>style.visibility</p:attrName>
                                        </p:attrNameLst>
                                      </p:cBhvr>
                                      <p:to>
                                        <p:strVal val="visible"/>
                                      </p:to>
                                    </p:set>
                                    <p:anim calcmode="lin" valueType="num">
                                      <p:cBhvr additive="base">
                                        <p:cTn id="26" dur="1300"/>
                                        <p:tgtEl>
                                          <p:spTgt spid="166"/>
                                        </p:tgtEl>
                                        <p:attrNameLst>
                                          <p:attrName>ppt_y</p:attrName>
                                        </p:attrNameLst>
                                      </p:cBhvr>
                                      <p:tavLst>
                                        <p:tav tm="0">
                                          <p:val>
                                            <p:strVal val="#ppt_y+1"/>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64"/>
                                        </p:tgtEl>
                                        <p:attrNameLst>
                                          <p:attrName>style.visibility</p:attrName>
                                        </p:attrNameLst>
                                      </p:cBhvr>
                                      <p:to>
                                        <p:strVal val="visible"/>
                                      </p:to>
                                    </p:set>
                                    <p:anim calcmode="lin" valueType="num">
                                      <p:cBhvr additive="base">
                                        <p:cTn id="29" dur="1400"/>
                                        <p:tgtEl>
                                          <p:spTgt spid="164"/>
                                        </p:tgtEl>
                                        <p:attrNameLst>
                                          <p:attrName>ppt_y</p:attrName>
                                        </p:attrNameLst>
                                      </p:cBhvr>
                                      <p:tavLst>
                                        <p:tav tm="0">
                                          <p:val>
                                            <p:strVal val="#ppt_y+1"/>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63"/>
                                        </p:tgtEl>
                                        <p:attrNameLst>
                                          <p:attrName>style.visibility</p:attrName>
                                        </p:attrNameLst>
                                      </p:cBhvr>
                                      <p:to>
                                        <p:strVal val="visible"/>
                                      </p:to>
                                    </p:set>
                                    <p:anim calcmode="lin" valueType="num">
                                      <p:cBhvr additive="base">
                                        <p:cTn id="32" dur="1500"/>
                                        <p:tgtEl>
                                          <p:spTgt spid="163"/>
                                        </p:tgtEl>
                                        <p:attrNameLst>
                                          <p:attrName>ppt_y</p:attrName>
                                        </p:attrNameLst>
                                      </p:cBhvr>
                                      <p:tavLst>
                                        <p:tav tm="0">
                                          <p:val>
                                            <p:strVal val="#ppt_y+1"/>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74"/>
                                        </p:tgtEl>
                                        <p:attrNameLst>
                                          <p:attrName>style.visibility</p:attrName>
                                        </p:attrNameLst>
                                      </p:cBhvr>
                                      <p:to>
                                        <p:strVal val="visible"/>
                                      </p:to>
                                    </p:set>
                                    <p:anim calcmode="lin" valueType="num">
                                      <p:cBhvr additive="base">
                                        <p:cTn id="35" dur="1000"/>
                                        <p:tgtEl>
                                          <p:spTgt spid="17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167"/>
                                        </p:tgtEl>
                                        <p:attrNameLst>
                                          <p:attrName>style.visibility</p:attrName>
                                        </p:attrNameLst>
                                      </p:cBhvr>
                                      <p:to>
                                        <p:strVal val="visible"/>
                                      </p:to>
                                    </p:set>
                                    <p:anim calcmode="lin" valueType="num">
                                      <p:cBhvr additive="base">
                                        <p:cTn id="40" dur="1000"/>
                                        <p:tgtEl>
                                          <p:spTgt spid="167"/>
                                        </p:tgtEl>
                                        <p:attrNameLst>
                                          <p:attrName>ppt_y</p:attrName>
                                        </p:attrNameLst>
                                      </p:cBhvr>
                                      <p:tavLst>
                                        <p:tav tm="0">
                                          <p:val>
                                            <p:strVal val="#ppt_y+1"/>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68"/>
                                        </p:tgtEl>
                                        <p:attrNameLst>
                                          <p:attrName>style.visibility</p:attrName>
                                        </p:attrNameLst>
                                      </p:cBhvr>
                                      <p:to>
                                        <p:strVal val="visible"/>
                                      </p:to>
                                    </p:set>
                                    <p:anim calcmode="lin" valueType="num">
                                      <p:cBhvr additive="base">
                                        <p:cTn id="43" dur="1100"/>
                                        <p:tgtEl>
                                          <p:spTgt spid="168"/>
                                        </p:tgtEl>
                                        <p:attrNameLst>
                                          <p:attrName>ppt_y</p:attrName>
                                        </p:attrNameLst>
                                      </p:cBhvr>
                                      <p:tavLst>
                                        <p:tav tm="0">
                                          <p:val>
                                            <p:strVal val="#ppt_y+1"/>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169"/>
                                        </p:tgtEl>
                                        <p:attrNameLst>
                                          <p:attrName>style.visibility</p:attrName>
                                        </p:attrNameLst>
                                      </p:cBhvr>
                                      <p:to>
                                        <p:strVal val="visible"/>
                                      </p:to>
                                    </p:set>
                                    <p:anim calcmode="lin" valueType="num">
                                      <p:cBhvr additive="base">
                                        <p:cTn id="46" dur="1200"/>
                                        <p:tgtEl>
                                          <p:spTgt spid="169"/>
                                        </p:tgtEl>
                                        <p:attrNameLst>
                                          <p:attrName>ppt_y</p:attrName>
                                        </p:attrNameLst>
                                      </p:cBhvr>
                                      <p:tavLst>
                                        <p:tav tm="0">
                                          <p:val>
                                            <p:strVal val="#ppt_y+1"/>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70"/>
                                        </p:tgtEl>
                                        <p:attrNameLst>
                                          <p:attrName>style.visibility</p:attrName>
                                        </p:attrNameLst>
                                      </p:cBhvr>
                                      <p:to>
                                        <p:strVal val="visible"/>
                                      </p:to>
                                    </p:set>
                                    <p:anim calcmode="lin" valueType="num">
                                      <p:cBhvr additive="base">
                                        <p:cTn id="49" dur="1200"/>
                                        <p:tgtEl>
                                          <p:spTgt spid="170"/>
                                        </p:tgtEl>
                                        <p:attrNameLst>
                                          <p:attrName>ppt_y</p:attrName>
                                        </p:attrNameLst>
                                      </p:cBhvr>
                                      <p:tavLst>
                                        <p:tav tm="0">
                                          <p:val>
                                            <p:strVal val="#ppt_y+1"/>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171"/>
                                        </p:tgtEl>
                                        <p:attrNameLst>
                                          <p:attrName>style.visibility</p:attrName>
                                        </p:attrNameLst>
                                      </p:cBhvr>
                                      <p:to>
                                        <p:strVal val="visible"/>
                                      </p:to>
                                    </p:set>
                                    <p:anim calcmode="lin" valueType="num">
                                      <p:cBhvr additive="base">
                                        <p:cTn id="52" dur="1300"/>
                                        <p:tgtEl>
                                          <p:spTgt spid="171"/>
                                        </p:tgtEl>
                                        <p:attrNameLst>
                                          <p:attrName>ppt_y</p:attrName>
                                        </p:attrNameLst>
                                      </p:cBhvr>
                                      <p:tavLst>
                                        <p:tav tm="0">
                                          <p:val>
                                            <p:strVal val="#ppt_y+1"/>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72"/>
                                        </p:tgtEl>
                                        <p:attrNameLst>
                                          <p:attrName>style.visibility</p:attrName>
                                        </p:attrNameLst>
                                      </p:cBhvr>
                                      <p:to>
                                        <p:strVal val="visible"/>
                                      </p:to>
                                    </p:set>
                                    <p:anim calcmode="lin" valueType="num">
                                      <p:cBhvr additive="base">
                                        <p:cTn id="55" dur="1400"/>
                                        <p:tgtEl>
                                          <p:spTgt spid="172"/>
                                        </p:tgtEl>
                                        <p:attrNameLst>
                                          <p:attrName>ppt_y</p:attrName>
                                        </p:attrNameLst>
                                      </p:cBhvr>
                                      <p:tavLst>
                                        <p:tav tm="0">
                                          <p:val>
                                            <p:strVal val="#ppt_y+1"/>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173"/>
                                        </p:tgtEl>
                                        <p:attrNameLst>
                                          <p:attrName>style.visibility</p:attrName>
                                        </p:attrNameLst>
                                      </p:cBhvr>
                                      <p:to>
                                        <p:strVal val="visible"/>
                                      </p:to>
                                    </p:set>
                                    <p:anim calcmode="lin" valueType="num">
                                      <p:cBhvr additive="base">
                                        <p:cTn id="58" dur="1000"/>
                                        <p:tgtEl>
                                          <p:spTgt spid="1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2"/>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620" b="1">
                <a:solidFill>
                  <a:srgbClr val="00FF00"/>
                </a:solidFill>
                <a:latin typeface="Comfortaa"/>
                <a:ea typeface="Comfortaa"/>
                <a:cs typeface="Comfortaa"/>
                <a:sym typeface="Comfortaa"/>
              </a:rPr>
              <a:t>What Operating System Do?</a:t>
            </a:r>
            <a:endParaRPr sz="2620" b="1">
              <a:solidFill>
                <a:srgbClr val="00FF00"/>
              </a:solidFill>
              <a:latin typeface="Comfortaa"/>
              <a:ea typeface="Comfortaa"/>
              <a:cs typeface="Comfortaa"/>
              <a:sym typeface="Comfortaa"/>
            </a:endParaRPr>
          </a:p>
        </p:txBody>
      </p:sp>
      <p:sp>
        <p:nvSpPr>
          <p:cNvPr id="181" name="Google Shape;181;p12"/>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Clr>
                <a:srgbClr val="FFFF00"/>
              </a:buClr>
              <a:buSzPts val="1800"/>
              <a:buChar char="●"/>
            </a:pPr>
            <a:r>
              <a:rPr lang="en" dirty="0">
                <a:solidFill>
                  <a:srgbClr val="FFFF00"/>
                </a:solidFill>
              </a:rPr>
              <a:t>Controls the hardware and coordinates its use among the various application programs for the various users</a:t>
            </a:r>
            <a:endParaRPr dirty="0">
              <a:solidFill>
                <a:srgbClr val="FFFF00"/>
              </a:solidFill>
            </a:endParaRPr>
          </a:p>
          <a:p>
            <a:pPr marL="457200" lvl="0" indent="-342900" algn="l" rtl="0">
              <a:lnSpc>
                <a:spcPct val="115000"/>
              </a:lnSpc>
              <a:spcBef>
                <a:spcPts val="0"/>
              </a:spcBef>
              <a:spcAft>
                <a:spcPts val="0"/>
              </a:spcAft>
              <a:buClr>
                <a:srgbClr val="FFFF00"/>
              </a:buClr>
              <a:buSzPts val="1800"/>
              <a:buChar char="●"/>
            </a:pPr>
            <a:r>
              <a:rPr lang="en" dirty="0">
                <a:solidFill>
                  <a:srgbClr val="FFFF00"/>
                </a:solidFill>
              </a:rPr>
              <a:t>Provides means for proper use of resources in the operation of computer system</a:t>
            </a:r>
            <a:endParaRPr dirty="0">
              <a:solidFill>
                <a:srgbClr val="FFFF00"/>
              </a:solidFill>
            </a:endParaRPr>
          </a:p>
          <a:p>
            <a:pPr marL="457200" lvl="0" indent="-342900" algn="l" rtl="0">
              <a:lnSpc>
                <a:spcPct val="115000"/>
              </a:lnSpc>
              <a:spcBef>
                <a:spcPts val="0"/>
              </a:spcBef>
              <a:spcAft>
                <a:spcPts val="0"/>
              </a:spcAft>
              <a:buClr>
                <a:srgbClr val="FFFF00"/>
              </a:buClr>
              <a:buSzPts val="1800"/>
              <a:buChar char="●"/>
            </a:pPr>
            <a:r>
              <a:rPr lang="en" dirty="0">
                <a:solidFill>
                  <a:srgbClr val="FFFF00"/>
                </a:solidFill>
              </a:rPr>
              <a:t>OS is like government, it simply provides an environment within which other programs can do useful work</a:t>
            </a:r>
            <a:endParaRPr dirty="0">
              <a:solidFill>
                <a:srgbClr val="FFFF00"/>
              </a:solidFill>
            </a:endParaRPr>
          </a:p>
          <a:p>
            <a:pPr marL="457200" lvl="0" indent="-342900" algn="l" rtl="0">
              <a:lnSpc>
                <a:spcPct val="115000"/>
              </a:lnSpc>
              <a:spcBef>
                <a:spcPts val="0"/>
              </a:spcBef>
              <a:spcAft>
                <a:spcPts val="0"/>
              </a:spcAft>
              <a:buClr>
                <a:srgbClr val="FFFF00"/>
              </a:buClr>
              <a:buSzPts val="1800"/>
              <a:buChar char="●"/>
            </a:pPr>
            <a:r>
              <a:rPr lang="en" dirty="0">
                <a:solidFill>
                  <a:srgbClr val="FFFF00"/>
                </a:solidFill>
              </a:rPr>
              <a:t>To understand OS role, we need to explore OS from two viewpoints</a:t>
            </a:r>
            <a:endParaRPr dirty="0">
              <a:solidFill>
                <a:srgbClr val="FFFF00"/>
              </a:solidFill>
            </a:endParaRPr>
          </a:p>
          <a:p>
            <a:pPr marL="457200" lvl="0" indent="-342900" algn="l" rtl="0">
              <a:lnSpc>
                <a:spcPct val="115000"/>
              </a:lnSpc>
              <a:spcBef>
                <a:spcPts val="0"/>
              </a:spcBef>
              <a:spcAft>
                <a:spcPts val="0"/>
              </a:spcAft>
              <a:buClr>
                <a:srgbClr val="FFFF00"/>
              </a:buClr>
              <a:buSzPts val="1800"/>
              <a:buChar char="-"/>
            </a:pPr>
            <a:r>
              <a:rPr lang="en" dirty="0">
                <a:solidFill>
                  <a:srgbClr val="FFFF00"/>
                </a:solidFill>
              </a:rPr>
              <a:t>The user</a:t>
            </a:r>
            <a:endParaRPr dirty="0">
              <a:solidFill>
                <a:srgbClr val="FFFF00"/>
              </a:solidFill>
            </a:endParaRPr>
          </a:p>
          <a:p>
            <a:pPr marL="457200" lvl="0" indent="-342900" algn="l" rtl="0">
              <a:lnSpc>
                <a:spcPct val="115000"/>
              </a:lnSpc>
              <a:spcBef>
                <a:spcPts val="0"/>
              </a:spcBef>
              <a:spcAft>
                <a:spcPts val="0"/>
              </a:spcAft>
              <a:buClr>
                <a:srgbClr val="FFFF00"/>
              </a:buClr>
              <a:buSzPts val="1800"/>
              <a:buChar char="-"/>
            </a:pPr>
            <a:r>
              <a:rPr lang="en" dirty="0">
                <a:solidFill>
                  <a:srgbClr val="FFFF00"/>
                </a:solidFill>
              </a:rPr>
              <a:t>The system</a:t>
            </a:r>
            <a:endParaRPr dirty="0">
              <a:solidFill>
                <a:srgbClr val="FFFF00"/>
              </a:solidFill>
            </a:endParaRPr>
          </a:p>
        </p:txBody>
      </p:sp>
      <p:sp>
        <p:nvSpPr>
          <p:cNvPr id="180" name="Google Shape;180;p12"/>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11</a:t>
            </a:fld>
            <a:endParaRPr/>
          </a:p>
        </p:txBody>
      </p:sp>
      <p:pic>
        <p:nvPicPr>
          <p:cNvPr id="182" name="Google Shape;182;p12"/>
          <p:cNvPicPr preferRelativeResize="0"/>
          <p:nvPr/>
        </p:nvPicPr>
        <p:blipFill rotWithShape="1">
          <a:blip r:embed="rId3">
            <a:alphaModFix/>
          </a:blip>
          <a:srcRect/>
          <a:stretch/>
        </p:blipFill>
        <p:spPr>
          <a:xfrm>
            <a:off x="7543763" y="3424976"/>
            <a:ext cx="928688" cy="1238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3"/>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620" b="1">
                <a:solidFill>
                  <a:srgbClr val="00FF00"/>
                </a:solidFill>
                <a:latin typeface="Comfortaa"/>
                <a:ea typeface="Comfortaa"/>
                <a:cs typeface="Comfortaa"/>
                <a:sym typeface="Comfortaa"/>
              </a:rPr>
              <a:t>User’s view of Operating System</a:t>
            </a:r>
            <a:endParaRPr sz="2620" b="1">
              <a:solidFill>
                <a:srgbClr val="00FF00"/>
              </a:solidFill>
              <a:latin typeface="Comfortaa"/>
              <a:ea typeface="Comfortaa"/>
              <a:cs typeface="Comfortaa"/>
              <a:sym typeface="Comfortaa"/>
            </a:endParaRPr>
          </a:p>
        </p:txBody>
      </p:sp>
      <p:sp>
        <p:nvSpPr>
          <p:cNvPr id="189" name="Google Shape;189;p13"/>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0"/>
              </a:spcBef>
              <a:spcAft>
                <a:spcPts val="0"/>
              </a:spcAft>
              <a:buSzPts val="1800"/>
              <a:buNone/>
            </a:pPr>
            <a:r>
              <a:rPr lang="en" b="1">
                <a:solidFill>
                  <a:srgbClr val="00FF00"/>
                </a:solidFill>
                <a:latin typeface="Comfortaa"/>
                <a:ea typeface="Comfortaa"/>
                <a:cs typeface="Comfortaa"/>
                <a:sym typeface="Comfortaa"/>
              </a:rPr>
              <a:t>Single user computers -</a:t>
            </a:r>
            <a:r>
              <a:rPr lang="en">
                <a:solidFill>
                  <a:srgbClr val="FFFF00"/>
                </a:solidFill>
                <a:latin typeface="Comfortaa"/>
                <a:ea typeface="Comfortaa"/>
                <a:cs typeface="Comfortaa"/>
                <a:sym typeface="Comfortaa"/>
              </a:rPr>
              <a:t> Such systems are designed for one user to monopolize its resources. Eg. PC, Workstations. The goal is to maximize the work that the user is performing. The operating system is designed mostly for </a:t>
            </a:r>
            <a:r>
              <a:rPr lang="en" b="1">
                <a:solidFill>
                  <a:srgbClr val="00FF00"/>
                </a:solidFill>
                <a:latin typeface="Comfortaa"/>
                <a:ea typeface="Comfortaa"/>
                <a:cs typeface="Comfortaa"/>
                <a:sym typeface="Comfortaa"/>
              </a:rPr>
              <a:t>ease of use</a:t>
            </a:r>
            <a:r>
              <a:rPr lang="en">
                <a:solidFill>
                  <a:srgbClr val="FFFF00"/>
                </a:solidFill>
                <a:latin typeface="Comfortaa"/>
                <a:ea typeface="Comfortaa"/>
                <a:cs typeface="Comfortaa"/>
                <a:sym typeface="Comfortaa"/>
              </a:rPr>
              <a:t> and </a:t>
            </a:r>
            <a:r>
              <a:rPr lang="en" b="1">
                <a:solidFill>
                  <a:srgbClr val="00FF00"/>
                </a:solidFill>
                <a:latin typeface="Comfortaa"/>
                <a:ea typeface="Comfortaa"/>
                <a:cs typeface="Comfortaa"/>
                <a:sym typeface="Comfortaa"/>
              </a:rPr>
              <a:t>good performance.</a:t>
            </a:r>
            <a:endParaRPr b="1">
              <a:solidFill>
                <a:srgbClr val="00FF00"/>
              </a:solidFill>
              <a:latin typeface="Comfortaa"/>
              <a:ea typeface="Comfortaa"/>
              <a:cs typeface="Comfortaa"/>
              <a:sym typeface="Comfortaa"/>
            </a:endParaRPr>
          </a:p>
          <a:p>
            <a:pPr marL="0" lvl="0" indent="0" algn="just" rtl="0">
              <a:lnSpc>
                <a:spcPct val="115000"/>
              </a:lnSpc>
              <a:spcBef>
                <a:spcPts val="1200"/>
              </a:spcBef>
              <a:spcAft>
                <a:spcPts val="1200"/>
              </a:spcAft>
              <a:buSzPts val="1800"/>
              <a:buNone/>
            </a:pPr>
            <a:endParaRPr>
              <a:solidFill>
                <a:srgbClr val="FFFF00"/>
              </a:solidFill>
              <a:latin typeface="Comfortaa"/>
              <a:ea typeface="Comfortaa"/>
              <a:cs typeface="Comfortaa"/>
              <a:sym typeface="Comfortaa"/>
            </a:endParaRPr>
          </a:p>
        </p:txBody>
      </p:sp>
      <p:sp>
        <p:nvSpPr>
          <p:cNvPr id="188" name="Google Shape;188;p13"/>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12</a:t>
            </a:fld>
            <a:endParaRPr/>
          </a:p>
        </p:txBody>
      </p:sp>
      <p:pic>
        <p:nvPicPr>
          <p:cNvPr id="190" name="Google Shape;190;p13"/>
          <p:cNvPicPr preferRelativeResize="0"/>
          <p:nvPr/>
        </p:nvPicPr>
        <p:blipFill rotWithShape="1">
          <a:blip r:embed="rId3">
            <a:alphaModFix/>
          </a:blip>
          <a:srcRect/>
          <a:stretch/>
        </p:blipFill>
        <p:spPr>
          <a:xfrm>
            <a:off x="3767925" y="2571750"/>
            <a:ext cx="1608150" cy="1286525"/>
          </a:xfrm>
          <a:prstGeom prst="rect">
            <a:avLst/>
          </a:prstGeom>
          <a:noFill/>
          <a:ln w="9525" cap="flat" cmpd="sng">
            <a:solidFill>
              <a:schemeClr val="lt1"/>
            </a:solidFill>
            <a:prstDash val="solid"/>
            <a:round/>
            <a:headEnd type="none" w="sm" len="sm"/>
            <a:tailEnd type="none" w="sm" len="sm"/>
          </a:ln>
        </p:spPr>
      </p:pic>
      <p:pic>
        <p:nvPicPr>
          <p:cNvPr id="191" name="Google Shape;191;p13"/>
          <p:cNvPicPr preferRelativeResize="0"/>
          <p:nvPr/>
        </p:nvPicPr>
        <p:blipFill rotWithShape="1">
          <a:blip r:embed="rId4">
            <a:alphaModFix/>
          </a:blip>
          <a:srcRect/>
          <a:stretch/>
        </p:blipFill>
        <p:spPr>
          <a:xfrm>
            <a:off x="4187476" y="3951676"/>
            <a:ext cx="769024" cy="878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4"/>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620" b="1">
                <a:solidFill>
                  <a:srgbClr val="00FF00"/>
                </a:solidFill>
                <a:latin typeface="Comfortaa"/>
                <a:ea typeface="Comfortaa"/>
                <a:cs typeface="Comfortaa"/>
                <a:sym typeface="Comfortaa"/>
              </a:rPr>
              <a:t>User’s view of Operating System</a:t>
            </a:r>
            <a:endParaRPr sz="2620" b="1">
              <a:solidFill>
                <a:srgbClr val="00FF00"/>
              </a:solidFill>
              <a:latin typeface="Comfortaa"/>
              <a:ea typeface="Comfortaa"/>
              <a:cs typeface="Comfortaa"/>
              <a:sym typeface="Comfortaa"/>
            </a:endParaRPr>
          </a:p>
        </p:txBody>
      </p:sp>
      <p:sp>
        <p:nvSpPr>
          <p:cNvPr id="198" name="Google Shape;198;p14"/>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0"/>
              </a:spcBef>
              <a:spcAft>
                <a:spcPts val="1200"/>
              </a:spcAft>
              <a:buSzPts val="1800"/>
              <a:buNone/>
            </a:pPr>
            <a:r>
              <a:rPr lang="en" b="1">
                <a:solidFill>
                  <a:srgbClr val="00FF00"/>
                </a:solidFill>
                <a:latin typeface="Comfortaa"/>
                <a:ea typeface="Comfortaa"/>
                <a:cs typeface="Comfortaa"/>
                <a:sym typeface="Comfortaa"/>
              </a:rPr>
              <a:t>Multi user computers -</a:t>
            </a:r>
            <a:r>
              <a:rPr lang="en">
                <a:solidFill>
                  <a:srgbClr val="FFFF00"/>
                </a:solidFill>
                <a:latin typeface="Comfortaa"/>
                <a:ea typeface="Comfortaa"/>
                <a:cs typeface="Comfortaa"/>
                <a:sym typeface="Comfortaa"/>
              </a:rPr>
              <a:t> These users share resources and may exchange information. The operating system in such cases is designed to </a:t>
            </a:r>
            <a:r>
              <a:rPr lang="en" b="1">
                <a:solidFill>
                  <a:srgbClr val="00FF00"/>
                </a:solidFill>
                <a:latin typeface="Comfortaa"/>
                <a:ea typeface="Comfortaa"/>
                <a:cs typeface="Comfortaa"/>
                <a:sym typeface="Comfortaa"/>
              </a:rPr>
              <a:t>maximize resource utilization </a:t>
            </a:r>
            <a:r>
              <a:rPr lang="en">
                <a:solidFill>
                  <a:srgbClr val="FFFF00"/>
                </a:solidFill>
                <a:latin typeface="Comfortaa"/>
                <a:ea typeface="Comfortaa"/>
                <a:cs typeface="Comfortaa"/>
                <a:sym typeface="Comfortaa"/>
              </a:rPr>
              <a:t>to assure that all cpu time memory and i/o are used efficiently and that no individual users takes more than their fair share.</a:t>
            </a:r>
            <a:endParaRPr>
              <a:solidFill>
                <a:srgbClr val="FFFF00"/>
              </a:solidFill>
              <a:latin typeface="Comfortaa"/>
              <a:ea typeface="Comfortaa"/>
              <a:cs typeface="Comfortaa"/>
              <a:sym typeface="Comfortaa"/>
            </a:endParaRPr>
          </a:p>
        </p:txBody>
      </p:sp>
      <p:sp>
        <p:nvSpPr>
          <p:cNvPr id="197" name="Google Shape;197;p14"/>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13</a:t>
            </a:fld>
            <a:endParaRPr/>
          </a:p>
        </p:txBody>
      </p:sp>
      <p:pic>
        <p:nvPicPr>
          <p:cNvPr id="199" name="Google Shape;199;p14"/>
          <p:cNvPicPr preferRelativeResize="0"/>
          <p:nvPr/>
        </p:nvPicPr>
        <p:blipFill rotWithShape="1">
          <a:blip r:embed="rId3">
            <a:alphaModFix/>
          </a:blip>
          <a:srcRect/>
          <a:stretch/>
        </p:blipFill>
        <p:spPr>
          <a:xfrm>
            <a:off x="3942300" y="2843700"/>
            <a:ext cx="1259400" cy="1007525"/>
          </a:xfrm>
          <a:prstGeom prst="rect">
            <a:avLst/>
          </a:prstGeom>
          <a:noFill/>
          <a:ln>
            <a:noFill/>
          </a:ln>
        </p:spPr>
      </p:pic>
      <p:pic>
        <p:nvPicPr>
          <p:cNvPr id="200" name="Google Shape;200;p14"/>
          <p:cNvPicPr preferRelativeResize="0"/>
          <p:nvPr/>
        </p:nvPicPr>
        <p:blipFill rotWithShape="1">
          <a:blip r:embed="rId4">
            <a:alphaModFix/>
          </a:blip>
          <a:srcRect/>
          <a:stretch/>
        </p:blipFill>
        <p:spPr>
          <a:xfrm>
            <a:off x="4187476" y="3951676"/>
            <a:ext cx="769024" cy="878900"/>
          </a:xfrm>
          <a:prstGeom prst="rect">
            <a:avLst/>
          </a:prstGeom>
          <a:noFill/>
          <a:ln>
            <a:noFill/>
          </a:ln>
        </p:spPr>
      </p:pic>
      <p:pic>
        <p:nvPicPr>
          <p:cNvPr id="201" name="Google Shape;201;p14"/>
          <p:cNvPicPr preferRelativeResize="0"/>
          <p:nvPr/>
        </p:nvPicPr>
        <p:blipFill rotWithShape="1">
          <a:blip r:embed="rId4">
            <a:alphaModFix/>
          </a:blip>
          <a:srcRect/>
          <a:stretch/>
        </p:blipFill>
        <p:spPr>
          <a:xfrm>
            <a:off x="2894238" y="3951676"/>
            <a:ext cx="769024" cy="878900"/>
          </a:xfrm>
          <a:prstGeom prst="rect">
            <a:avLst/>
          </a:prstGeom>
          <a:noFill/>
          <a:ln>
            <a:noFill/>
          </a:ln>
        </p:spPr>
      </p:pic>
      <p:pic>
        <p:nvPicPr>
          <p:cNvPr id="202" name="Google Shape;202;p14"/>
          <p:cNvPicPr preferRelativeResize="0"/>
          <p:nvPr/>
        </p:nvPicPr>
        <p:blipFill rotWithShape="1">
          <a:blip r:embed="rId4">
            <a:alphaModFix/>
          </a:blip>
          <a:srcRect/>
          <a:stretch/>
        </p:blipFill>
        <p:spPr>
          <a:xfrm>
            <a:off x="2374876" y="2979376"/>
            <a:ext cx="769024" cy="878900"/>
          </a:xfrm>
          <a:prstGeom prst="rect">
            <a:avLst/>
          </a:prstGeom>
          <a:noFill/>
          <a:ln>
            <a:noFill/>
          </a:ln>
        </p:spPr>
      </p:pic>
      <p:pic>
        <p:nvPicPr>
          <p:cNvPr id="203" name="Google Shape;203;p14"/>
          <p:cNvPicPr preferRelativeResize="0"/>
          <p:nvPr/>
        </p:nvPicPr>
        <p:blipFill rotWithShape="1">
          <a:blip r:embed="rId4">
            <a:alphaModFix/>
          </a:blip>
          <a:srcRect/>
          <a:stretch/>
        </p:blipFill>
        <p:spPr>
          <a:xfrm>
            <a:off x="5579951" y="3951676"/>
            <a:ext cx="769024" cy="878900"/>
          </a:xfrm>
          <a:prstGeom prst="rect">
            <a:avLst/>
          </a:prstGeom>
          <a:noFill/>
          <a:ln>
            <a:noFill/>
          </a:ln>
        </p:spPr>
      </p:pic>
      <p:pic>
        <p:nvPicPr>
          <p:cNvPr id="204" name="Google Shape;204;p14"/>
          <p:cNvPicPr preferRelativeResize="0"/>
          <p:nvPr/>
        </p:nvPicPr>
        <p:blipFill rotWithShape="1">
          <a:blip r:embed="rId4">
            <a:alphaModFix/>
          </a:blip>
          <a:srcRect/>
          <a:stretch/>
        </p:blipFill>
        <p:spPr>
          <a:xfrm>
            <a:off x="6000101" y="2908926"/>
            <a:ext cx="769024" cy="878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5"/>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620" b="1">
                <a:solidFill>
                  <a:srgbClr val="00FF00"/>
                </a:solidFill>
                <a:latin typeface="Comfortaa"/>
                <a:ea typeface="Comfortaa"/>
                <a:cs typeface="Comfortaa"/>
                <a:sym typeface="Comfortaa"/>
              </a:rPr>
              <a:t>User’s view of Operating System</a:t>
            </a:r>
            <a:endParaRPr sz="2620" b="1">
              <a:solidFill>
                <a:srgbClr val="00FF00"/>
              </a:solidFill>
              <a:latin typeface="Comfortaa"/>
              <a:ea typeface="Comfortaa"/>
              <a:cs typeface="Comfortaa"/>
              <a:sym typeface="Comfortaa"/>
            </a:endParaRPr>
          </a:p>
        </p:txBody>
      </p:sp>
      <p:sp>
        <p:nvSpPr>
          <p:cNvPr id="211" name="Google Shape;211;p15"/>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0"/>
              </a:spcBef>
              <a:spcAft>
                <a:spcPts val="0"/>
              </a:spcAft>
              <a:buSzPts val="1800"/>
              <a:buNone/>
            </a:pPr>
            <a:r>
              <a:rPr lang="en" b="1">
                <a:solidFill>
                  <a:srgbClr val="00FF00"/>
                </a:solidFill>
                <a:latin typeface="Comfortaa"/>
                <a:ea typeface="Comfortaa"/>
                <a:cs typeface="Comfortaa"/>
                <a:sym typeface="Comfortaa"/>
              </a:rPr>
              <a:t>Handheld Computers - </a:t>
            </a:r>
            <a:r>
              <a:rPr lang="en" b="1">
                <a:solidFill>
                  <a:srgbClr val="FFFF00"/>
                </a:solidFill>
                <a:latin typeface="Comfortaa"/>
                <a:ea typeface="Comfortaa"/>
                <a:cs typeface="Comfortaa"/>
                <a:sym typeface="Comfortaa"/>
              </a:rPr>
              <a:t>The user interface for mobile computers generally features a touch screen. The systems are resource poor, optimized for usability and battery life.</a:t>
            </a:r>
            <a:endParaRPr b="1">
              <a:solidFill>
                <a:srgbClr val="FFFF00"/>
              </a:solidFill>
              <a:latin typeface="Comfortaa"/>
              <a:ea typeface="Comfortaa"/>
              <a:cs typeface="Comfortaa"/>
              <a:sym typeface="Comfortaa"/>
            </a:endParaRPr>
          </a:p>
          <a:p>
            <a:pPr marL="0" lvl="0" indent="0" algn="just" rtl="0">
              <a:lnSpc>
                <a:spcPct val="115000"/>
              </a:lnSpc>
              <a:spcBef>
                <a:spcPts val="1200"/>
              </a:spcBef>
              <a:spcAft>
                <a:spcPts val="0"/>
              </a:spcAft>
              <a:buSzPts val="1800"/>
              <a:buNone/>
            </a:pPr>
            <a:endParaRPr>
              <a:solidFill>
                <a:srgbClr val="FFFF00"/>
              </a:solidFill>
              <a:latin typeface="Comfortaa"/>
              <a:ea typeface="Comfortaa"/>
              <a:cs typeface="Comfortaa"/>
              <a:sym typeface="Comfortaa"/>
            </a:endParaRPr>
          </a:p>
          <a:p>
            <a:pPr marL="0" lvl="0" indent="0" algn="just" rtl="0">
              <a:lnSpc>
                <a:spcPct val="115000"/>
              </a:lnSpc>
              <a:spcBef>
                <a:spcPts val="1200"/>
              </a:spcBef>
              <a:spcAft>
                <a:spcPts val="1200"/>
              </a:spcAft>
              <a:buSzPts val="1800"/>
              <a:buNone/>
            </a:pPr>
            <a:endParaRPr>
              <a:solidFill>
                <a:srgbClr val="FFFF00"/>
              </a:solidFill>
              <a:latin typeface="Comfortaa"/>
              <a:ea typeface="Comfortaa"/>
              <a:cs typeface="Comfortaa"/>
              <a:sym typeface="Comfortaa"/>
            </a:endParaRPr>
          </a:p>
        </p:txBody>
      </p:sp>
      <p:sp>
        <p:nvSpPr>
          <p:cNvPr id="210" name="Google Shape;210;p15"/>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14</a:t>
            </a:fld>
            <a:endParaRPr/>
          </a:p>
        </p:txBody>
      </p:sp>
      <p:pic>
        <p:nvPicPr>
          <p:cNvPr id="212" name="Google Shape;212;p15"/>
          <p:cNvPicPr preferRelativeResize="0"/>
          <p:nvPr/>
        </p:nvPicPr>
        <p:blipFill rotWithShape="1">
          <a:blip r:embed="rId3">
            <a:alphaModFix/>
          </a:blip>
          <a:srcRect/>
          <a:stretch/>
        </p:blipFill>
        <p:spPr>
          <a:xfrm>
            <a:off x="2498563" y="2463975"/>
            <a:ext cx="1841775" cy="2104900"/>
          </a:xfrm>
          <a:prstGeom prst="rect">
            <a:avLst/>
          </a:prstGeom>
          <a:noFill/>
          <a:ln>
            <a:noFill/>
          </a:ln>
        </p:spPr>
      </p:pic>
      <p:pic>
        <p:nvPicPr>
          <p:cNvPr id="213" name="Google Shape;213;p15"/>
          <p:cNvPicPr preferRelativeResize="0"/>
          <p:nvPr/>
        </p:nvPicPr>
        <p:blipFill rotWithShape="1">
          <a:blip r:embed="rId4">
            <a:alphaModFix/>
          </a:blip>
          <a:srcRect/>
          <a:stretch/>
        </p:blipFill>
        <p:spPr>
          <a:xfrm>
            <a:off x="2712250" y="2738775"/>
            <a:ext cx="1414400" cy="1131525"/>
          </a:xfrm>
          <a:prstGeom prst="rect">
            <a:avLst/>
          </a:prstGeom>
          <a:noFill/>
          <a:ln>
            <a:noFill/>
          </a:ln>
        </p:spPr>
      </p:pic>
      <p:pic>
        <p:nvPicPr>
          <p:cNvPr id="214" name="Google Shape;214;p15"/>
          <p:cNvPicPr preferRelativeResize="0"/>
          <p:nvPr/>
        </p:nvPicPr>
        <p:blipFill rotWithShape="1">
          <a:blip r:embed="rId5">
            <a:alphaModFix/>
          </a:blip>
          <a:srcRect/>
          <a:stretch/>
        </p:blipFill>
        <p:spPr>
          <a:xfrm>
            <a:off x="4510569" y="2759900"/>
            <a:ext cx="945656" cy="1513050"/>
          </a:xfrm>
          <a:prstGeom prst="rect">
            <a:avLst/>
          </a:prstGeom>
          <a:noFill/>
          <a:ln>
            <a:noFill/>
          </a:ln>
        </p:spPr>
      </p:pic>
      <p:pic>
        <p:nvPicPr>
          <p:cNvPr id="215" name="Google Shape;215;p15"/>
          <p:cNvPicPr preferRelativeResize="0"/>
          <p:nvPr/>
        </p:nvPicPr>
        <p:blipFill rotWithShape="1">
          <a:blip r:embed="rId6">
            <a:alphaModFix/>
          </a:blip>
          <a:srcRect/>
          <a:stretch/>
        </p:blipFill>
        <p:spPr>
          <a:xfrm>
            <a:off x="5699776" y="2265951"/>
            <a:ext cx="945650" cy="945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6"/>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620" b="1">
                <a:solidFill>
                  <a:srgbClr val="00FF00"/>
                </a:solidFill>
                <a:latin typeface="Comfortaa"/>
                <a:ea typeface="Comfortaa"/>
                <a:cs typeface="Comfortaa"/>
                <a:sym typeface="Comfortaa"/>
              </a:rPr>
              <a:t>User’s view of Operating System</a:t>
            </a:r>
            <a:endParaRPr sz="2620" b="1">
              <a:solidFill>
                <a:srgbClr val="00FF00"/>
              </a:solidFill>
              <a:latin typeface="Comfortaa"/>
              <a:ea typeface="Comfortaa"/>
              <a:cs typeface="Comfortaa"/>
              <a:sym typeface="Comfortaa"/>
            </a:endParaRPr>
          </a:p>
        </p:txBody>
      </p:sp>
      <p:sp>
        <p:nvSpPr>
          <p:cNvPr id="222" name="Google Shape;222;p16"/>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0"/>
              </a:spcBef>
              <a:spcAft>
                <a:spcPts val="1200"/>
              </a:spcAft>
              <a:buSzPts val="1800"/>
              <a:buNone/>
            </a:pPr>
            <a:r>
              <a:rPr lang="en" b="1">
                <a:solidFill>
                  <a:srgbClr val="00FF00"/>
                </a:solidFill>
                <a:latin typeface="Comfortaa"/>
                <a:ea typeface="Comfortaa"/>
                <a:cs typeface="Comfortaa"/>
                <a:sym typeface="Comfortaa"/>
              </a:rPr>
              <a:t>Embedded computers -</a:t>
            </a:r>
            <a:r>
              <a:rPr lang="en">
                <a:solidFill>
                  <a:srgbClr val="FFFF00"/>
                </a:solidFill>
                <a:latin typeface="Comfortaa"/>
                <a:ea typeface="Comfortaa"/>
                <a:cs typeface="Comfortaa"/>
                <a:sym typeface="Comfortaa"/>
              </a:rPr>
              <a:t> The user interface may have numeric keypads and may turn indicator lights on or off to show status. The operating systems are designed primarily to run without user intervention. </a:t>
            </a:r>
            <a:endParaRPr>
              <a:solidFill>
                <a:srgbClr val="FFFF00"/>
              </a:solidFill>
              <a:latin typeface="Comfortaa"/>
              <a:ea typeface="Comfortaa"/>
              <a:cs typeface="Comfortaa"/>
              <a:sym typeface="Comfortaa"/>
            </a:endParaRPr>
          </a:p>
        </p:txBody>
      </p:sp>
      <p:sp>
        <p:nvSpPr>
          <p:cNvPr id="221" name="Google Shape;221;p16"/>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15</a:t>
            </a:fld>
            <a:endParaRPr/>
          </a:p>
        </p:txBody>
      </p:sp>
      <p:pic>
        <p:nvPicPr>
          <p:cNvPr id="223" name="Google Shape;223;p16"/>
          <p:cNvPicPr preferRelativeResize="0"/>
          <p:nvPr/>
        </p:nvPicPr>
        <p:blipFill rotWithShape="1">
          <a:blip r:embed="rId3">
            <a:alphaModFix amt="91000"/>
          </a:blip>
          <a:srcRect/>
          <a:stretch/>
        </p:blipFill>
        <p:spPr>
          <a:xfrm>
            <a:off x="1930550" y="2473113"/>
            <a:ext cx="1470775" cy="1470775"/>
          </a:xfrm>
          <a:prstGeom prst="rect">
            <a:avLst/>
          </a:prstGeom>
          <a:noFill/>
          <a:ln>
            <a:noFill/>
          </a:ln>
        </p:spPr>
      </p:pic>
      <p:pic>
        <p:nvPicPr>
          <p:cNvPr id="224" name="Google Shape;224;p16"/>
          <p:cNvPicPr preferRelativeResize="0"/>
          <p:nvPr/>
        </p:nvPicPr>
        <p:blipFill rotWithShape="1">
          <a:blip r:embed="rId4">
            <a:alphaModFix/>
          </a:blip>
          <a:srcRect/>
          <a:stretch/>
        </p:blipFill>
        <p:spPr>
          <a:xfrm>
            <a:off x="5622625" y="2571763"/>
            <a:ext cx="1273500" cy="1273500"/>
          </a:xfrm>
          <a:prstGeom prst="rect">
            <a:avLst/>
          </a:prstGeom>
          <a:noFill/>
          <a:ln>
            <a:noFill/>
          </a:ln>
        </p:spPr>
      </p:pic>
      <p:sp>
        <p:nvSpPr>
          <p:cNvPr id="225" name="Google Shape;225;p16"/>
          <p:cNvSpPr txBox="1"/>
          <p:nvPr/>
        </p:nvSpPr>
        <p:spPr>
          <a:xfrm>
            <a:off x="1721691" y="4216825"/>
            <a:ext cx="1888500" cy="446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FF00"/>
                </a:solidFill>
                <a:latin typeface="Comfortaa"/>
                <a:ea typeface="Comfortaa"/>
                <a:cs typeface="Comfortaa"/>
                <a:sym typeface="Comfortaa"/>
              </a:rPr>
              <a:t>Ropeway m/c</a:t>
            </a:r>
            <a:endParaRPr sz="1700" b="1" i="0" u="none" strike="noStrike" cap="none">
              <a:solidFill>
                <a:srgbClr val="00FF00"/>
              </a:solidFill>
              <a:latin typeface="Comfortaa"/>
              <a:ea typeface="Comfortaa"/>
              <a:cs typeface="Comfortaa"/>
              <a:sym typeface="Comfortaa"/>
            </a:endParaRPr>
          </a:p>
        </p:txBody>
      </p:sp>
      <p:sp>
        <p:nvSpPr>
          <p:cNvPr id="226" name="Google Shape;226;p16"/>
          <p:cNvSpPr txBox="1"/>
          <p:nvPr/>
        </p:nvSpPr>
        <p:spPr>
          <a:xfrm>
            <a:off x="5256116" y="4216825"/>
            <a:ext cx="1888500" cy="446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FF00"/>
                </a:solidFill>
                <a:latin typeface="Comfortaa"/>
                <a:ea typeface="Comfortaa"/>
                <a:cs typeface="Comfortaa"/>
                <a:sym typeface="Comfortaa"/>
              </a:rPr>
              <a:t>Cash-counter</a:t>
            </a:r>
            <a:endParaRPr sz="1700" b="1" i="0" u="none" strike="noStrike" cap="none">
              <a:solidFill>
                <a:srgbClr val="00FF00"/>
              </a:solidFill>
              <a:latin typeface="Comfortaa"/>
              <a:ea typeface="Comfortaa"/>
              <a:cs typeface="Comfortaa"/>
              <a:sym typeface="Comforta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7"/>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620" b="1" dirty="0">
                <a:solidFill>
                  <a:srgbClr val="00FF00"/>
                </a:solidFill>
                <a:latin typeface="Comfortaa"/>
                <a:ea typeface="Comfortaa"/>
                <a:cs typeface="Comfortaa"/>
                <a:sym typeface="Comfortaa"/>
              </a:rPr>
              <a:t>System view of Operating System</a:t>
            </a:r>
            <a:endParaRPr sz="2620" b="1" dirty="0">
              <a:solidFill>
                <a:srgbClr val="00FF00"/>
              </a:solidFill>
              <a:latin typeface="Comfortaa"/>
              <a:ea typeface="Comfortaa"/>
              <a:cs typeface="Comfortaa"/>
              <a:sym typeface="Comfortaa"/>
            </a:endParaRPr>
          </a:p>
        </p:txBody>
      </p:sp>
      <p:sp>
        <p:nvSpPr>
          <p:cNvPr id="233" name="Google Shape;233;p17"/>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0"/>
              </a:spcBef>
              <a:spcAft>
                <a:spcPts val="0"/>
              </a:spcAft>
              <a:buSzPts val="1800"/>
              <a:buNone/>
            </a:pPr>
            <a:r>
              <a:rPr lang="en" dirty="0">
                <a:solidFill>
                  <a:srgbClr val="FFFF00"/>
                </a:solidFill>
                <a:latin typeface="Comfortaa"/>
                <a:ea typeface="Comfortaa"/>
                <a:cs typeface="Comfortaa"/>
                <a:sym typeface="Comfortaa"/>
              </a:rPr>
              <a:t>From computer’s point of view, the OS is a program most intimately involved with the hardware. There are two different views</a:t>
            </a:r>
            <a:endParaRPr dirty="0">
              <a:solidFill>
                <a:srgbClr val="FFFF00"/>
              </a:solidFill>
              <a:latin typeface="Comfortaa"/>
              <a:ea typeface="Comfortaa"/>
              <a:cs typeface="Comfortaa"/>
              <a:sym typeface="Comfortaa"/>
            </a:endParaRPr>
          </a:p>
          <a:p>
            <a:pPr marL="0" lvl="0" indent="0" algn="just" rtl="0">
              <a:lnSpc>
                <a:spcPct val="115000"/>
              </a:lnSpc>
              <a:spcBef>
                <a:spcPts val="1200"/>
              </a:spcBef>
              <a:spcAft>
                <a:spcPts val="0"/>
              </a:spcAft>
              <a:buSzPts val="1800"/>
              <a:buNone/>
            </a:pPr>
            <a:r>
              <a:rPr lang="en" dirty="0">
                <a:solidFill>
                  <a:srgbClr val="FFFF00"/>
                </a:solidFill>
                <a:latin typeface="Comfortaa"/>
                <a:ea typeface="Comfortaa"/>
                <a:cs typeface="Comfortaa"/>
                <a:sym typeface="Comfortaa"/>
              </a:rPr>
              <a:t>The operating system is </a:t>
            </a:r>
            <a:r>
              <a:rPr lang="en" b="1" dirty="0">
                <a:solidFill>
                  <a:srgbClr val="00FF00"/>
                </a:solidFill>
                <a:latin typeface="Comfortaa"/>
                <a:ea typeface="Comfortaa"/>
                <a:cs typeface="Comfortaa"/>
                <a:sym typeface="Comfortaa"/>
              </a:rPr>
              <a:t>resource allocator</a:t>
            </a:r>
            <a:endParaRPr b="1" dirty="0">
              <a:solidFill>
                <a:srgbClr val="00FF00"/>
              </a:solidFill>
              <a:latin typeface="Comfortaa"/>
              <a:ea typeface="Comfortaa"/>
              <a:cs typeface="Comfortaa"/>
              <a:sym typeface="Comfortaa"/>
            </a:endParaRPr>
          </a:p>
          <a:p>
            <a:pPr marL="457200" lvl="0" indent="-342900" algn="just" rtl="0">
              <a:lnSpc>
                <a:spcPct val="115000"/>
              </a:lnSpc>
              <a:spcBef>
                <a:spcPts val="1200"/>
              </a:spcBef>
              <a:spcAft>
                <a:spcPts val="0"/>
              </a:spcAft>
              <a:buClr>
                <a:srgbClr val="FFFF00"/>
              </a:buClr>
              <a:buSzPts val="1800"/>
              <a:buFont typeface="Comfortaa"/>
              <a:buChar char="-"/>
            </a:pPr>
            <a:r>
              <a:rPr lang="en" dirty="0">
                <a:solidFill>
                  <a:srgbClr val="FFFF00"/>
                </a:solidFill>
                <a:latin typeface="Comfortaa"/>
                <a:ea typeface="Comfortaa"/>
                <a:cs typeface="Comfortaa"/>
                <a:sym typeface="Comfortaa"/>
              </a:rPr>
              <a:t>Manages all resources.</a:t>
            </a:r>
            <a:endParaRPr dirty="0">
              <a:solidFill>
                <a:srgbClr val="FFFF00"/>
              </a:solidFill>
              <a:latin typeface="Comfortaa"/>
              <a:ea typeface="Comfortaa"/>
              <a:cs typeface="Comfortaa"/>
              <a:sym typeface="Comfortaa"/>
            </a:endParaRPr>
          </a:p>
          <a:p>
            <a:pPr marL="457200" lvl="0" indent="-342900" algn="just" rtl="0">
              <a:lnSpc>
                <a:spcPct val="115000"/>
              </a:lnSpc>
              <a:spcBef>
                <a:spcPts val="0"/>
              </a:spcBef>
              <a:spcAft>
                <a:spcPts val="0"/>
              </a:spcAft>
              <a:buClr>
                <a:srgbClr val="FFFF00"/>
              </a:buClr>
              <a:buSzPts val="1800"/>
              <a:buFont typeface="Comfortaa"/>
              <a:buChar char="-"/>
            </a:pPr>
            <a:r>
              <a:rPr lang="en" dirty="0">
                <a:solidFill>
                  <a:srgbClr val="FFFF00"/>
                </a:solidFill>
                <a:latin typeface="Comfortaa"/>
                <a:ea typeface="Comfortaa"/>
                <a:cs typeface="Comfortaa"/>
                <a:sym typeface="Comfortaa"/>
              </a:rPr>
              <a:t>Decides between conflicting requests for efficient and fair resource use.</a:t>
            </a:r>
            <a:endParaRPr dirty="0">
              <a:solidFill>
                <a:srgbClr val="FFFF00"/>
              </a:solidFill>
              <a:latin typeface="Comfortaa"/>
              <a:ea typeface="Comfortaa"/>
              <a:cs typeface="Comfortaa"/>
              <a:sym typeface="Comfortaa"/>
            </a:endParaRPr>
          </a:p>
          <a:p>
            <a:pPr marL="0" lvl="0" indent="0" algn="just" rtl="0">
              <a:lnSpc>
                <a:spcPct val="115000"/>
              </a:lnSpc>
              <a:spcBef>
                <a:spcPts val="1200"/>
              </a:spcBef>
              <a:spcAft>
                <a:spcPts val="0"/>
              </a:spcAft>
              <a:buSzPts val="1800"/>
              <a:buNone/>
            </a:pPr>
            <a:r>
              <a:rPr lang="en" dirty="0">
                <a:solidFill>
                  <a:srgbClr val="FFFF00"/>
                </a:solidFill>
                <a:latin typeface="Comfortaa"/>
                <a:ea typeface="Comfortaa"/>
                <a:cs typeface="Comfortaa"/>
                <a:sym typeface="Comfortaa"/>
              </a:rPr>
              <a:t>The Operating system is a </a:t>
            </a:r>
            <a:r>
              <a:rPr lang="en" b="1" dirty="0">
                <a:solidFill>
                  <a:srgbClr val="00FF00"/>
                </a:solidFill>
                <a:latin typeface="Comfortaa"/>
                <a:ea typeface="Comfortaa"/>
                <a:cs typeface="Comfortaa"/>
                <a:sym typeface="Comfortaa"/>
              </a:rPr>
              <a:t>control program</a:t>
            </a:r>
            <a:endParaRPr b="1" dirty="0">
              <a:solidFill>
                <a:srgbClr val="00FF00"/>
              </a:solidFill>
              <a:latin typeface="Comfortaa"/>
              <a:ea typeface="Comfortaa"/>
              <a:cs typeface="Comfortaa"/>
              <a:sym typeface="Comfortaa"/>
            </a:endParaRPr>
          </a:p>
          <a:p>
            <a:pPr marL="457200" lvl="0" indent="-342900" algn="just" rtl="0">
              <a:lnSpc>
                <a:spcPct val="115000"/>
              </a:lnSpc>
              <a:spcBef>
                <a:spcPts val="1200"/>
              </a:spcBef>
              <a:spcAft>
                <a:spcPts val="0"/>
              </a:spcAft>
              <a:buClr>
                <a:srgbClr val="FFFF00"/>
              </a:buClr>
              <a:buSzPts val="1800"/>
              <a:buFont typeface="Comfortaa"/>
              <a:buChar char="-"/>
            </a:pPr>
            <a:r>
              <a:rPr lang="en" dirty="0">
                <a:solidFill>
                  <a:srgbClr val="FFFF00"/>
                </a:solidFill>
                <a:latin typeface="Comfortaa"/>
                <a:ea typeface="Comfortaa"/>
                <a:cs typeface="Comfortaa"/>
                <a:sym typeface="Comfortaa"/>
              </a:rPr>
              <a:t>Controls execution of program to prevent errors and improper use of the computer</a:t>
            </a:r>
            <a:endParaRPr dirty="0">
              <a:solidFill>
                <a:srgbClr val="FFFF00"/>
              </a:solidFill>
              <a:latin typeface="Comfortaa"/>
              <a:ea typeface="Comfortaa"/>
              <a:cs typeface="Comfortaa"/>
              <a:sym typeface="Comfortaa"/>
            </a:endParaRPr>
          </a:p>
        </p:txBody>
      </p:sp>
      <p:sp>
        <p:nvSpPr>
          <p:cNvPr id="232" name="Google Shape;232;p17"/>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8"/>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620" b="1">
                <a:solidFill>
                  <a:srgbClr val="00FF00"/>
                </a:solidFill>
                <a:latin typeface="Comfortaa"/>
                <a:ea typeface="Comfortaa"/>
                <a:cs typeface="Comfortaa"/>
                <a:sym typeface="Comfortaa"/>
              </a:rPr>
              <a:t>More common definition of OS</a:t>
            </a:r>
            <a:endParaRPr sz="2620" b="1">
              <a:solidFill>
                <a:srgbClr val="00FF00"/>
              </a:solidFill>
              <a:latin typeface="Comfortaa"/>
              <a:ea typeface="Comfortaa"/>
              <a:cs typeface="Comfortaa"/>
              <a:sym typeface="Comfortaa"/>
            </a:endParaRPr>
          </a:p>
        </p:txBody>
      </p:sp>
      <p:sp>
        <p:nvSpPr>
          <p:cNvPr id="240" name="Google Shape;240;p18"/>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0" lvl="0" indent="0" algn="just" rtl="0">
              <a:lnSpc>
                <a:spcPct val="95000"/>
              </a:lnSpc>
              <a:spcBef>
                <a:spcPts val="0"/>
              </a:spcBef>
              <a:spcAft>
                <a:spcPts val="0"/>
              </a:spcAft>
              <a:buSzPts val="1530"/>
              <a:buNone/>
            </a:pPr>
            <a:r>
              <a:rPr lang="en" sz="1700" dirty="0">
                <a:solidFill>
                  <a:srgbClr val="FFFF00"/>
                </a:solidFill>
                <a:latin typeface="Comfortaa"/>
                <a:ea typeface="Comfortaa"/>
                <a:cs typeface="Comfortaa"/>
                <a:sym typeface="Comfortaa"/>
              </a:rPr>
              <a:t>The operating system is one program running at all times on the computer usually called </a:t>
            </a:r>
            <a:r>
              <a:rPr lang="en" sz="1700" b="1" dirty="0">
                <a:solidFill>
                  <a:srgbClr val="00FF00"/>
                </a:solidFill>
                <a:latin typeface="Comfortaa"/>
                <a:ea typeface="Comfortaa"/>
                <a:cs typeface="Comfortaa"/>
                <a:sym typeface="Comfortaa"/>
              </a:rPr>
              <a:t>kernel</a:t>
            </a:r>
            <a:r>
              <a:rPr lang="en" sz="1700" dirty="0">
                <a:solidFill>
                  <a:srgbClr val="FFFF00"/>
                </a:solidFill>
                <a:latin typeface="Comfortaa"/>
                <a:ea typeface="Comfortaa"/>
                <a:cs typeface="Comfortaa"/>
                <a:sym typeface="Comfortaa"/>
              </a:rPr>
              <a:t>.</a:t>
            </a:r>
            <a:endParaRPr sz="1700" dirty="0">
              <a:solidFill>
                <a:srgbClr val="FFFF00"/>
              </a:solidFill>
              <a:latin typeface="Comfortaa"/>
              <a:ea typeface="Comfortaa"/>
              <a:cs typeface="Comfortaa"/>
              <a:sym typeface="Comfortaa"/>
            </a:endParaRPr>
          </a:p>
          <a:p>
            <a:pPr marL="0" lvl="0" indent="0" algn="just" rtl="0">
              <a:lnSpc>
                <a:spcPct val="95000"/>
              </a:lnSpc>
              <a:spcBef>
                <a:spcPts val="1200"/>
              </a:spcBef>
              <a:spcAft>
                <a:spcPts val="0"/>
              </a:spcAft>
              <a:buSzPts val="1530"/>
              <a:buNone/>
            </a:pPr>
            <a:r>
              <a:rPr lang="en" sz="1700" dirty="0">
                <a:solidFill>
                  <a:srgbClr val="FFFF00"/>
                </a:solidFill>
                <a:latin typeface="Comfortaa"/>
                <a:ea typeface="Comfortaa"/>
                <a:cs typeface="Comfortaa"/>
                <a:sym typeface="Comfortaa"/>
              </a:rPr>
              <a:t>Along with the kernel there are two types of programs</a:t>
            </a:r>
            <a:endParaRPr sz="1700" dirty="0">
              <a:solidFill>
                <a:srgbClr val="FFFF00"/>
              </a:solidFill>
              <a:latin typeface="Comfortaa"/>
              <a:ea typeface="Comfortaa"/>
              <a:cs typeface="Comfortaa"/>
              <a:sym typeface="Comfortaa"/>
            </a:endParaRPr>
          </a:p>
          <a:p>
            <a:pPr marL="457200" lvl="0" indent="-336550" algn="just" rtl="0">
              <a:lnSpc>
                <a:spcPct val="95000"/>
              </a:lnSpc>
              <a:spcBef>
                <a:spcPts val="1200"/>
              </a:spcBef>
              <a:spcAft>
                <a:spcPts val="0"/>
              </a:spcAft>
              <a:buClr>
                <a:srgbClr val="00FF00"/>
              </a:buClr>
              <a:buSzPts val="1700"/>
              <a:buFont typeface="Comfortaa"/>
              <a:buAutoNum type="arabicPeriod"/>
            </a:pPr>
            <a:r>
              <a:rPr lang="en" sz="1700" b="1" dirty="0">
                <a:solidFill>
                  <a:srgbClr val="00FF00"/>
                </a:solidFill>
                <a:latin typeface="Comfortaa"/>
                <a:ea typeface="Comfortaa"/>
                <a:cs typeface="Comfortaa"/>
                <a:sym typeface="Comfortaa"/>
              </a:rPr>
              <a:t>System programs - </a:t>
            </a:r>
            <a:r>
              <a:rPr lang="en" sz="1700" dirty="0">
                <a:solidFill>
                  <a:srgbClr val="FFFF00"/>
                </a:solidFill>
                <a:latin typeface="Comfortaa"/>
                <a:ea typeface="Comfortaa"/>
                <a:cs typeface="Comfortaa"/>
                <a:sym typeface="Comfortaa"/>
              </a:rPr>
              <a:t>Associated with the OS but are not necessarily part of of the kernel.</a:t>
            </a:r>
            <a:endParaRPr sz="1700" dirty="0">
              <a:solidFill>
                <a:srgbClr val="FFFF00"/>
              </a:solidFill>
              <a:latin typeface="Comfortaa"/>
              <a:ea typeface="Comfortaa"/>
              <a:cs typeface="Comfortaa"/>
              <a:sym typeface="Comfortaa"/>
            </a:endParaRPr>
          </a:p>
          <a:p>
            <a:pPr marL="457200" lvl="0" indent="-336550" algn="just" rtl="0">
              <a:lnSpc>
                <a:spcPct val="95000"/>
              </a:lnSpc>
              <a:spcBef>
                <a:spcPts val="0"/>
              </a:spcBef>
              <a:spcAft>
                <a:spcPts val="0"/>
              </a:spcAft>
              <a:buClr>
                <a:srgbClr val="00FF00"/>
              </a:buClr>
              <a:buSzPts val="1700"/>
              <a:buFont typeface="Comfortaa"/>
              <a:buAutoNum type="arabicPeriod"/>
            </a:pPr>
            <a:r>
              <a:rPr lang="en" sz="1700" b="1" dirty="0">
                <a:solidFill>
                  <a:srgbClr val="00FF00"/>
                </a:solidFill>
                <a:latin typeface="Comfortaa"/>
                <a:ea typeface="Comfortaa"/>
                <a:cs typeface="Comfortaa"/>
                <a:sym typeface="Comfortaa"/>
              </a:rPr>
              <a:t>Application programs -</a:t>
            </a:r>
            <a:r>
              <a:rPr lang="en" sz="1700" dirty="0">
                <a:solidFill>
                  <a:srgbClr val="FFFF00"/>
                </a:solidFill>
                <a:latin typeface="Comfortaa"/>
                <a:ea typeface="Comfortaa"/>
                <a:cs typeface="Comfortaa"/>
                <a:sym typeface="Comfortaa"/>
              </a:rPr>
              <a:t> Which includes all programs not associated with the operation of the system.</a:t>
            </a:r>
            <a:endParaRPr sz="1700" dirty="0">
              <a:solidFill>
                <a:srgbClr val="FFFF00"/>
              </a:solidFill>
              <a:latin typeface="Comfortaa"/>
              <a:ea typeface="Comfortaa"/>
              <a:cs typeface="Comfortaa"/>
              <a:sym typeface="Comfortaa"/>
            </a:endParaRPr>
          </a:p>
          <a:p>
            <a:pPr marL="0" lvl="0" indent="0" algn="just" rtl="0">
              <a:lnSpc>
                <a:spcPct val="95000"/>
              </a:lnSpc>
              <a:spcBef>
                <a:spcPts val="0"/>
              </a:spcBef>
              <a:spcAft>
                <a:spcPts val="0"/>
              </a:spcAft>
              <a:buSzPts val="935"/>
              <a:buNone/>
            </a:pPr>
            <a:endParaRPr sz="1700" dirty="0">
              <a:solidFill>
                <a:srgbClr val="FFFF00"/>
              </a:solidFill>
              <a:latin typeface="Comfortaa"/>
              <a:ea typeface="Comfortaa"/>
              <a:cs typeface="Comfortaa"/>
              <a:sym typeface="Comfortaa"/>
            </a:endParaRPr>
          </a:p>
          <a:p>
            <a:pPr marL="0" lvl="0" indent="0" algn="just" rtl="0">
              <a:lnSpc>
                <a:spcPct val="95000"/>
              </a:lnSpc>
              <a:spcBef>
                <a:spcPts val="0"/>
              </a:spcBef>
              <a:spcAft>
                <a:spcPts val="0"/>
              </a:spcAft>
              <a:buSzPts val="935"/>
              <a:buNone/>
            </a:pPr>
            <a:r>
              <a:rPr lang="en" sz="1700" dirty="0">
                <a:solidFill>
                  <a:srgbClr val="FFFF00"/>
                </a:solidFill>
                <a:latin typeface="Comfortaa"/>
                <a:ea typeface="Comfortaa"/>
                <a:cs typeface="Comfortaa"/>
                <a:sym typeface="Comfortaa"/>
              </a:rPr>
              <a:t>The system programs are used to program the operating system software. While application programs provide software that is used directly by the user, system programs provide software that are used by other systems such as device driver, compilers, computational science applications etc.</a:t>
            </a:r>
            <a:endParaRPr sz="1700" dirty="0">
              <a:solidFill>
                <a:srgbClr val="FFFF00"/>
              </a:solidFill>
              <a:latin typeface="Comfortaa"/>
              <a:ea typeface="Comfortaa"/>
              <a:cs typeface="Comfortaa"/>
              <a:sym typeface="Comfortaa"/>
            </a:endParaRPr>
          </a:p>
          <a:p>
            <a:pPr marL="0" lvl="0" indent="0" algn="just" rtl="0">
              <a:lnSpc>
                <a:spcPct val="95000"/>
              </a:lnSpc>
              <a:spcBef>
                <a:spcPts val="1200"/>
              </a:spcBef>
              <a:spcAft>
                <a:spcPts val="1200"/>
              </a:spcAft>
              <a:buSzPts val="1530"/>
              <a:buNone/>
            </a:pPr>
            <a:endParaRPr sz="1700" dirty="0">
              <a:solidFill>
                <a:srgbClr val="FFFF00"/>
              </a:solidFill>
              <a:latin typeface="Comfortaa"/>
              <a:ea typeface="Comfortaa"/>
              <a:cs typeface="Comfortaa"/>
              <a:sym typeface="Comfortaa"/>
            </a:endParaRPr>
          </a:p>
        </p:txBody>
      </p:sp>
      <p:sp>
        <p:nvSpPr>
          <p:cNvPr id="239" name="Google Shape;239;p18"/>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2"/>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720" b="1" dirty="0">
                <a:solidFill>
                  <a:srgbClr val="00FF00"/>
                </a:solidFill>
                <a:latin typeface="Comfortaa"/>
                <a:ea typeface="Comfortaa"/>
                <a:cs typeface="Comfortaa"/>
                <a:sym typeface="Comfortaa"/>
              </a:rPr>
              <a:t>How computer starts?</a:t>
            </a:r>
            <a:endParaRPr sz="2720" b="1" dirty="0">
              <a:solidFill>
                <a:srgbClr val="00FF00"/>
              </a:solidFill>
              <a:latin typeface="Comfortaa"/>
              <a:ea typeface="Comfortaa"/>
              <a:cs typeface="Comfortaa"/>
              <a:sym typeface="Comfortaa"/>
            </a:endParaRPr>
          </a:p>
        </p:txBody>
      </p:sp>
      <p:sp>
        <p:nvSpPr>
          <p:cNvPr id="311" name="Google Shape;311;p22"/>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18</a:t>
            </a:fld>
            <a:endParaRPr/>
          </a:p>
        </p:txBody>
      </p:sp>
      <p:pic>
        <p:nvPicPr>
          <p:cNvPr id="312" name="Google Shape;312;p22"/>
          <p:cNvPicPr preferRelativeResize="0"/>
          <p:nvPr/>
        </p:nvPicPr>
        <p:blipFill rotWithShape="1">
          <a:blip r:embed="rId3">
            <a:alphaModFix/>
          </a:blip>
          <a:srcRect/>
          <a:stretch/>
        </p:blipFill>
        <p:spPr>
          <a:xfrm>
            <a:off x="311700" y="1567138"/>
            <a:ext cx="2511525" cy="2009225"/>
          </a:xfrm>
          <a:prstGeom prst="rect">
            <a:avLst/>
          </a:prstGeom>
          <a:noFill/>
          <a:ln>
            <a:noFill/>
          </a:ln>
        </p:spPr>
      </p:pic>
      <p:pic>
        <p:nvPicPr>
          <p:cNvPr id="313" name="Google Shape;313;p22"/>
          <p:cNvPicPr preferRelativeResize="0"/>
          <p:nvPr/>
        </p:nvPicPr>
        <p:blipFill rotWithShape="1">
          <a:blip r:embed="rId4">
            <a:alphaModFix/>
          </a:blip>
          <a:srcRect/>
          <a:stretch/>
        </p:blipFill>
        <p:spPr>
          <a:xfrm>
            <a:off x="1370663" y="2178151"/>
            <a:ext cx="393600" cy="393600"/>
          </a:xfrm>
          <a:prstGeom prst="rect">
            <a:avLst/>
          </a:prstGeom>
          <a:noFill/>
          <a:ln>
            <a:noFill/>
          </a:ln>
        </p:spPr>
      </p:pic>
      <p:pic>
        <p:nvPicPr>
          <p:cNvPr id="314" name="Google Shape;314;p22"/>
          <p:cNvPicPr preferRelativeResize="0"/>
          <p:nvPr/>
        </p:nvPicPr>
        <p:blipFill rotWithShape="1">
          <a:blip r:embed="rId5">
            <a:alphaModFix/>
          </a:blip>
          <a:srcRect/>
          <a:stretch/>
        </p:blipFill>
        <p:spPr>
          <a:xfrm>
            <a:off x="2823225" y="2004538"/>
            <a:ext cx="926026" cy="740826"/>
          </a:xfrm>
          <a:prstGeom prst="rect">
            <a:avLst/>
          </a:prstGeom>
          <a:noFill/>
          <a:ln>
            <a:noFill/>
          </a:ln>
        </p:spPr>
      </p:pic>
      <p:sp>
        <p:nvSpPr>
          <p:cNvPr id="315" name="Google Shape;315;p22"/>
          <p:cNvSpPr txBox="1"/>
          <p:nvPr/>
        </p:nvSpPr>
        <p:spPr>
          <a:xfrm>
            <a:off x="2711738" y="1567150"/>
            <a:ext cx="11490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1" i="0" u="none" strike="noStrike" cap="none">
                <a:solidFill>
                  <a:srgbClr val="FFFFFF"/>
                </a:solidFill>
                <a:latin typeface="Comfortaa"/>
                <a:ea typeface="Comfortaa"/>
                <a:cs typeface="Comfortaa"/>
                <a:sym typeface="Comfortaa"/>
              </a:rPr>
              <a:t>Memory</a:t>
            </a:r>
            <a:endParaRPr sz="1700" b="1" i="0" u="none" strike="noStrike" cap="none">
              <a:solidFill>
                <a:srgbClr val="FFFFFF"/>
              </a:solidFill>
              <a:latin typeface="Comfortaa"/>
              <a:ea typeface="Comfortaa"/>
              <a:cs typeface="Comfortaa"/>
              <a:sym typeface="Comfortaa"/>
            </a:endParaRPr>
          </a:p>
        </p:txBody>
      </p:sp>
      <p:cxnSp>
        <p:nvCxnSpPr>
          <p:cNvPr id="316" name="Google Shape;316;p22"/>
          <p:cNvCxnSpPr>
            <a:stCxn id="314" idx="3"/>
          </p:cNvCxnSpPr>
          <p:nvPr/>
        </p:nvCxnSpPr>
        <p:spPr>
          <a:xfrm rot="10800000" flipH="1">
            <a:off x="3749251" y="1421551"/>
            <a:ext cx="2278500" cy="953400"/>
          </a:xfrm>
          <a:prstGeom prst="straightConnector1">
            <a:avLst/>
          </a:prstGeom>
          <a:noFill/>
          <a:ln w="28575" cap="flat" cmpd="sng">
            <a:solidFill>
              <a:schemeClr val="dk1"/>
            </a:solidFill>
            <a:prstDash val="solid"/>
            <a:round/>
            <a:headEnd type="none" w="sm" len="sm"/>
            <a:tailEnd type="none" w="sm" len="sm"/>
          </a:ln>
        </p:spPr>
      </p:cxnSp>
      <p:cxnSp>
        <p:nvCxnSpPr>
          <p:cNvPr id="317" name="Google Shape;317;p22"/>
          <p:cNvCxnSpPr>
            <a:stCxn id="314" idx="3"/>
          </p:cNvCxnSpPr>
          <p:nvPr/>
        </p:nvCxnSpPr>
        <p:spPr>
          <a:xfrm>
            <a:off x="3749251" y="2374951"/>
            <a:ext cx="2278500" cy="1137900"/>
          </a:xfrm>
          <a:prstGeom prst="straightConnector1">
            <a:avLst/>
          </a:prstGeom>
          <a:noFill/>
          <a:ln w="28575" cap="flat" cmpd="sng">
            <a:solidFill>
              <a:schemeClr val="dk1"/>
            </a:solidFill>
            <a:prstDash val="solid"/>
            <a:round/>
            <a:headEnd type="none" w="sm" len="sm"/>
            <a:tailEnd type="none" w="sm" len="sm"/>
          </a:ln>
        </p:spPr>
      </p:cxnSp>
      <p:sp>
        <p:nvSpPr>
          <p:cNvPr id="318" name="Google Shape;318;p22"/>
          <p:cNvSpPr/>
          <p:nvPr/>
        </p:nvSpPr>
        <p:spPr>
          <a:xfrm>
            <a:off x="6013950" y="1407750"/>
            <a:ext cx="926100" cy="2105100"/>
          </a:xfrm>
          <a:prstGeom prst="rect">
            <a:avLst/>
          </a:prstGeom>
          <a:gradFill>
            <a:gsLst>
              <a:gs pos="0">
                <a:srgbClr val="DBD4EB"/>
              </a:gs>
              <a:gs pos="100000">
                <a:srgbClr val="9180BB"/>
              </a:gs>
            </a:gsLst>
            <a:path path="circle">
              <a:fillToRect l="50000" t="50000" r="50000" b="50000"/>
            </a:path>
            <a:tileRect/>
          </a:gradFill>
          <a:ln w="28575" cap="flat" cmpd="sng">
            <a:solidFill>
              <a:schemeClr val="dk1"/>
            </a:solidFill>
            <a:prstDash val="solid"/>
            <a:round/>
            <a:headEnd type="none" w="sm" len="sm"/>
            <a:tailEnd type="none" w="sm" len="sm"/>
          </a:ln>
          <a:effectLst>
            <a:outerShdw blurRad="57150" dist="104775" dir="5400000" algn="bl" rotWithShape="0">
              <a:schemeClr val="dk1">
                <a:alpha val="49803"/>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19" name="Google Shape;319;p22"/>
          <p:cNvCxnSpPr/>
          <p:nvPr/>
        </p:nvCxnSpPr>
        <p:spPr>
          <a:xfrm>
            <a:off x="6027650" y="1858875"/>
            <a:ext cx="915900" cy="0"/>
          </a:xfrm>
          <a:prstGeom prst="straightConnector1">
            <a:avLst/>
          </a:prstGeom>
          <a:noFill/>
          <a:ln w="28575" cap="flat" cmpd="sng">
            <a:solidFill>
              <a:schemeClr val="dk1"/>
            </a:solidFill>
            <a:prstDash val="solid"/>
            <a:round/>
            <a:headEnd type="none" w="sm" len="sm"/>
            <a:tailEnd type="none" w="sm" len="sm"/>
          </a:ln>
        </p:spPr>
      </p:cxnSp>
      <p:sp>
        <p:nvSpPr>
          <p:cNvPr id="320" name="Google Shape;320;p22"/>
          <p:cNvSpPr txBox="1"/>
          <p:nvPr/>
        </p:nvSpPr>
        <p:spPr>
          <a:xfrm>
            <a:off x="6022550" y="1407738"/>
            <a:ext cx="926100" cy="415500"/>
          </a:xfrm>
          <a:prstGeom prst="rect">
            <a:avLst/>
          </a:prstGeom>
          <a:noFill/>
          <a:ln w="9525" cap="flat" cmpd="sng">
            <a:solidFill>
              <a:srgbClr val="8E7CC3"/>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Comfortaa"/>
                <a:ea typeface="Comfortaa"/>
                <a:cs typeface="Comfortaa"/>
                <a:sym typeface="Comfortaa"/>
              </a:rPr>
              <a:t>ROM</a:t>
            </a:r>
            <a:endParaRPr sz="1500" b="1" i="0" u="none" strike="noStrike" cap="none">
              <a:solidFill>
                <a:schemeClr val="dk1"/>
              </a:solidFill>
              <a:latin typeface="Comfortaa"/>
              <a:ea typeface="Comfortaa"/>
              <a:cs typeface="Comfortaa"/>
              <a:sym typeface="Comfortaa"/>
            </a:endParaRPr>
          </a:p>
        </p:txBody>
      </p:sp>
      <p:sp>
        <p:nvSpPr>
          <p:cNvPr id="321" name="Google Shape;321;p22"/>
          <p:cNvSpPr txBox="1"/>
          <p:nvPr/>
        </p:nvSpPr>
        <p:spPr>
          <a:xfrm>
            <a:off x="6022550" y="2460888"/>
            <a:ext cx="926100" cy="415500"/>
          </a:xfrm>
          <a:prstGeom prst="rect">
            <a:avLst/>
          </a:prstGeom>
          <a:noFill/>
          <a:ln w="9525" cap="flat" cmpd="sng">
            <a:solidFill>
              <a:srgbClr val="8E7CC3"/>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Comfortaa"/>
                <a:ea typeface="Comfortaa"/>
                <a:cs typeface="Comfortaa"/>
                <a:sym typeface="Comfortaa"/>
              </a:rPr>
              <a:t>RAM</a:t>
            </a:r>
            <a:endParaRPr sz="1500" b="1" i="0" u="none" strike="noStrike" cap="none">
              <a:solidFill>
                <a:schemeClr val="dk1"/>
              </a:solidFill>
              <a:latin typeface="Comfortaa"/>
              <a:ea typeface="Comfortaa"/>
              <a:cs typeface="Comfortaa"/>
              <a:sym typeface="Comfortaa"/>
            </a:endParaRPr>
          </a:p>
        </p:txBody>
      </p:sp>
      <p:sp>
        <p:nvSpPr>
          <p:cNvPr id="322" name="Google Shape;322;p22"/>
          <p:cNvSpPr txBox="1"/>
          <p:nvPr/>
        </p:nvSpPr>
        <p:spPr>
          <a:xfrm>
            <a:off x="464138" y="3964176"/>
            <a:ext cx="3396600" cy="4464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00000"/>
              </a:lnSpc>
              <a:spcBef>
                <a:spcPts val="0"/>
              </a:spcBef>
              <a:spcAft>
                <a:spcPts val="0"/>
              </a:spcAft>
              <a:buClr>
                <a:srgbClr val="FFFF00"/>
              </a:buClr>
              <a:buSzPts val="1700"/>
              <a:buFont typeface="Comfortaa"/>
              <a:buAutoNum type="arabicPeriod"/>
            </a:pPr>
            <a:r>
              <a:rPr lang="en" sz="1700" b="1" i="0" u="none" strike="noStrike" cap="none" dirty="0">
                <a:solidFill>
                  <a:srgbClr val="FFFF00"/>
                </a:solidFill>
                <a:latin typeface="Comfortaa"/>
                <a:ea typeface="Comfortaa"/>
                <a:cs typeface="Comfortaa"/>
                <a:sym typeface="Comfortaa"/>
              </a:rPr>
              <a:t>Power button pressed</a:t>
            </a:r>
            <a:endParaRPr sz="1700" b="1" i="0" u="none" strike="noStrike" cap="none" dirty="0">
              <a:solidFill>
                <a:srgbClr val="FFFF00"/>
              </a:solidFill>
              <a:latin typeface="Comfortaa"/>
              <a:ea typeface="Comfortaa"/>
              <a:cs typeface="Comfortaa"/>
              <a:sym typeface="Comfortaa"/>
            </a:endParaRPr>
          </a:p>
        </p:txBody>
      </p:sp>
      <p:sp>
        <p:nvSpPr>
          <p:cNvPr id="323" name="Google Shape;323;p22"/>
          <p:cNvSpPr txBox="1"/>
          <p:nvPr/>
        </p:nvSpPr>
        <p:spPr>
          <a:xfrm>
            <a:off x="490575" y="4292587"/>
            <a:ext cx="46653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1" i="0" u="none" strike="noStrike" cap="none" dirty="0">
                <a:solidFill>
                  <a:srgbClr val="FFFF00"/>
                </a:solidFill>
                <a:latin typeface="Comfortaa"/>
                <a:ea typeface="Comfortaa"/>
                <a:cs typeface="Comfortaa"/>
                <a:sym typeface="Comfortaa"/>
              </a:rPr>
              <a:t>2.  Load bootstrap program from ROM</a:t>
            </a:r>
            <a:endParaRPr sz="1700" b="1" i="0" u="none" strike="noStrike" cap="none" dirty="0">
              <a:solidFill>
                <a:srgbClr val="FFFF00"/>
              </a:solidFill>
              <a:latin typeface="Comfortaa"/>
              <a:ea typeface="Comfortaa"/>
              <a:cs typeface="Comfortaa"/>
              <a:sym typeface="Comfortaa"/>
            </a:endParaRPr>
          </a:p>
        </p:txBody>
      </p:sp>
      <p:sp>
        <p:nvSpPr>
          <p:cNvPr id="324" name="Google Shape;324;p22"/>
          <p:cNvSpPr txBox="1"/>
          <p:nvPr/>
        </p:nvSpPr>
        <p:spPr>
          <a:xfrm>
            <a:off x="490575" y="4636817"/>
            <a:ext cx="46653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1" i="0" u="none" strike="noStrike" cap="none" dirty="0">
                <a:solidFill>
                  <a:srgbClr val="FFFF00"/>
                </a:solidFill>
                <a:latin typeface="Comfortaa"/>
                <a:ea typeface="Comfortaa"/>
                <a:cs typeface="Comfortaa"/>
                <a:sym typeface="Comfortaa"/>
              </a:rPr>
              <a:t>3.  Load OS into RAM from disk</a:t>
            </a:r>
            <a:endParaRPr sz="1700" b="1" i="0" u="none" strike="noStrike" cap="none" dirty="0">
              <a:solidFill>
                <a:srgbClr val="FFFF00"/>
              </a:solidFill>
              <a:latin typeface="Comfortaa"/>
              <a:ea typeface="Comfortaa"/>
              <a:cs typeface="Comfortaa"/>
              <a:sym typeface="Comfortaa"/>
            </a:endParaRPr>
          </a:p>
        </p:txBody>
      </p:sp>
      <p:pic>
        <p:nvPicPr>
          <p:cNvPr id="325" name="Google Shape;325;p22"/>
          <p:cNvPicPr preferRelativeResize="0"/>
          <p:nvPr/>
        </p:nvPicPr>
        <p:blipFill rotWithShape="1">
          <a:blip r:embed="rId6">
            <a:alphaModFix/>
          </a:blip>
          <a:srcRect/>
          <a:stretch/>
        </p:blipFill>
        <p:spPr>
          <a:xfrm>
            <a:off x="7424500" y="1983600"/>
            <a:ext cx="1047957" cy="953400"/>
          </a:xfrm>
          <a:prstGeom prst="rect">
            <a:avLst/>
          </a:prstGeom>
          <a:noFill/>
          <a:ln>
            <a:noFill/>
          </a:ln>
        </p:spPr>
      </p:pic>
      <p:sp>
        <p:nvSpPr>
          <p:cNvPr id="326" name="Google Shape;326;p22"/>
          <p:cNvSpPr txBox="1"/>
          <p:nvPr/>
        </p:nvSpPr>
        <p:spPr>
          <a:xfrm>
            <a:off x="7373963" y="1567150"/>
            <a:ext cx="1149000" cy="446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FFFFFF"/>
                </a:solidFill>
                <a:latin typeface="Comfortaa"/>
                <a:ea typeface="Comfortaa"/>
                <a:cs typeface="Comfortaa"/>
                <a:sym typeface="Comfortaa"/>
              </a:rPr>
              <a:t>HDD</a:t>
            </a:r>
            <a:endParaRPr sz="1700" b="1" i="0" u="none" strike="noStrike" cap="none">
              <a:solidFill>
                <a:srgbClr val="FFFFFF"/>
              </a:solidFill>
              <a:latin typeface="Comfortaa"/>
              <a:ea typeface="Comfortaa"/>
              <a:cs typeface="Comfortaa"/>
              <a:sym typeface="Comforta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2"/>
                                        </p:tgtEl>
                                        <p:attrNameLst>
                                          <p:attrName>style.visibility</p:attrName>
                                        </p:attrNameLst>
                                      </p:cBhvr>
                                      <p:to>
                                        <p:strVal val="visible"/>
                                      </p:to>
                                    </p:set>
                                    <p:animEffect transition="in" filter="fade">
                                      <p:cBhvr>
                                        <p:cTn id="7" dur="1000"/>
                                        <p:tgtEl>
                                          <p:spTgt spid="322"/>
                                        </p:tgtEl>
                                      </p:cBhvr>
                                    </p:animEffect>
                                  </p:childTnLst>
                                </p:cTn>
                              </p:par>
                              <p:par>
                                <p:cTn id="8" presetID="10" presetClass="entr" presetSubtype="0" fill="hold" nodeType="withEffect">
                                  <p:stCondLst>
                                    <p:cond delay="0"/>
                                  </p:stCondLst>
                                  <p:childTnLst>
                                    <p:set>
                                      <p:cBhvr>
                                        <p:cTn id="9" dur="1" fill="hold">
                                          <p:stCondLst>
                                            <p:cond delay="0"/>
                                          </p:stCondLst>
                                        </p:cTn>
                                        <p:tgtEl>
                                          <p:spTgt spid="313"/>
                                        </p:tgtEl>
                                        <p:attrNameLst>
                                          <p:attrName>style.visibility</p:attrName>
                                        </p:attrNameLst>
                                      </p:cBhvr>
                                      <p:to>
                                        <p:strVal val="visible"/>
                                      </p:to>
                                    </p:set>
                                    <p:animEffect transition="in" filter="fade">
                                      <p:cBhvr>
                                        <p:cTn id="10" dur="1000"/>
                                        <p:tgtEl>
                                          <p:spTgt spid="3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1000"/>
                                        <p:tgtEl>
                                          <p:spTgt spid="322"/>
                                        </p:tgtEl>
                                      </p:cBhvr>
                                    </p:animEffect>
                                    <p:set>
                                      <p:cBhvr>
                                        <p:cTn id="15" dur="1" fill="hold">
                                          <p:stCondLst>
                                            <p:cond delay="1000"/>
                                          </p:stCondLst>
                                        </p:cTn>
                                        <p:tgtEl>
                                          <p:spTgt spid="322"/>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14"/>
                                        </p:tgtEl>
                                        <p:attrNameLst>
                                          <p:attrName>style.visibility</p:attrName>
                                        </p:attrNameLst>
                                      </p:cBhvr>
                                      <p:to>
                                        <p:strVal val="visible"/>
                                      </p:to>
                                    </p:set>
                                    <p:animEffect transition="in" filter="fade">
                                      <p:cBhvr>
                                        <p:cTn id="20" dur="1000"/>
                                        <p:tgtEl>
                                          <p:spTgt spid="314"/>
                                        </p:tgtEl>
                                      </p:cBhvr>
                                    </p:animEffect>
                                  </p:childTnLst>
                                </p:cTn>
                              </p:par>
                              <p:par>
                                <p:cTn id="21" presetID="10" presetClass="entr" presetSubtype="0" fill="hold" nodeType="withEffect">
                                  <p:stCondLst>
                                    <p:cond delay="0"/>
                                  </p:stCondLst>
                                  <p:childTnLst>
                                    <p:set>
                                      <p:cBhvr>
                                        <p:cTn id="22" dur="1" fill="hold">
                                          <p:stCondLst>
                                            <p:cond delay="0"/>
                                          </p:stCondLst>
                                        </p:cTn>
                                        <p:tgtEl>
                                          <p:spTgt spid="315"/>
                                        </p:tgtEl>
                                        <p:attrNameLst>
                                          <p:attrName>style.visibility</p:attrName>
                                        </p:attrNameLst>
                                      </p:cBhvr>
                                      <p:to>
                                        <p:strVal val="visible"/>
                                      </p:to>
                                    </p:set>
                                    <p:animEffect transition="in" filter="fade">
                                      <p:cBhvr>
                                        <p:cTn id="23" dur="1000"/>
                                        <p:tgtEl>
                                          <p:spTgt spid="315"/>
                                        </p:tgtEl>
                                      </p:cBhvr>
                                    </p:animEffect>
                                  </p:childTnLst>
                                </p:cTn>
                              </p:par>
                              <p:par>
                                <p:cTn id="24" presetID="10" presetClass="entr" presetSubtype="0" fill="hold" nodeType="withEffect">
                                  <p:stCondLst>
                                    <p:cond delay="0"/>
                                  </p:stCondLst>
                                  <p:childTnLst>
                                    <p:set>
                                      <p:cBhvr>
                                        <p:cTn id="25" dur="1" fill="hold">
                                          <p:stCondLst>
                                            <p:cond delay="0"/>
                                          </p:stCondLst>
                                        </p:cTn>
                                        <p:tgtEl>
                                          <p:spTgt spid="316"/>
                                        </p:tgtEl>
                                        <p:attrNameLst>
                                          <p:attrName>style.visibility</p:attrName>
                                        </p:attrNameLst>
                                      </p:cBhvr>
                                      <p:to>
                                        <p:strVal val="visible"/>
                                      </p:to>
                                    </p:set>
                                    <p:animEffect transition="in" filter="fade">
                                      <p:cBhvr>
                                        <p:cTn id="26" dur="1000"/>
                                        <p:tgtEl>
                                          <p:spTgt spid="316"/>
                                        </p:tgtEl>
                                      </p:cBhvr>
                                    </p:animEffect>
                                  </p:childTnLst>
                                </p:cTn>
                              </p:par>
                              <p:par>
                                <p:cTn id="27" presetID="10" presetClass="entr" presetSubtype="0" fill="hold" nodeType="withEffect">
                                  <p:stCondLst>
                                    <p:cond delay="0"/>
                                  </p:stCondLst>
                                  <p:childTnLst>
                                    <p:set>
                                      <p:cBhvr>
                                        <p:cTn id="28" dur="1" fill="hold">
                                          <p:stCondLst>
                                            <p:cond delay="0"/>
                                          </p:stCondLst>
                                        </p:cTn>
                                        <p:tgtEl>
                                          <p:spTgt spid="317"/>
                                        </p:tgtEl>
                                        <p:attrNameLst>
                                          <p:attrName>style.visibility</p:attrName>
                                        </p:attrNameLst>
                                      </p:cBhvr>
                                      <p:to>
                                        <p:strVal val="visible"/>
                                      </p:to>
                                    </p:set>
                                    <p:animEffect transition="in" filter="fade">
                                      <p:cBhvr>
                                        <p:cTn id="29" dur="1000"/>
                                        <p:tgtEl>
                                          <p:spTgt spid="317"/>
                                        </p:tgtEl>
                                      </p:cBhvr>
                                    </p:animEffect>
                                  </p:childTnLst>
                                </p:cTn>
                              </p:par>
                              <p:par>
                                <p:cTn id="30" presetID="10" presetClass="entr" presetSubtype="0" fill="hold" nodeType="withEffect">
                                  <p:stCondLst>
                                    <p:cond delay="0"/>
                                  </p:stCondLst>
                                  <p:childTnLst>
                                    <p:set>
                                      <p:cBhvr>
                                        <p:cTn id="31" dur="1" fill="hold">
                                          <p:stCondLst>
                                            <p:cond delay="0"/>
                                          </p:stCondLst>
                                        </p:cTn>
                                        <p:tgtEl>
                                          <p:spTgt spid="319"/>
                                        </p:tgtEl>
                                        <p:attrNameLst>
                                          <p:attrName>style.visibility</p:attrName>
                                        </p:attrNameLst>
                                      </p:cBhvr>
                                      <p:to>
                                        <p:strVal val="visible"/>
                                      </p:to>
                                    </p:set>
                                    <p:animEffect transition="in" filter="fade">
                                      <p:cBhvr>
                                        <p:cTn id="32" dur="1000"/>
                                        <p:tgtEl>
                                          <p:spTgt spid="319"/>
                                        </p:tgtEl>
                                      </p:cBhvr>
                                    </p:animEffect>
                                  </p:childTnLst>
                                </p:cTn>
                              </p:par>
                              <p:par>
                                <p:cTn id="33" presetID="10" presetClass="entr" presetSubtype="0" fill="hold" nodeType="withEffect">
                                  <p:stCondLst>
                                    <p:cond delay="0"/>
                                  </p:stCondLst>
                                  <p:childTnLst>
                                    <p:set>
                                      <p:cBhvr>
                                        <p:cTn id="34" dur="1" fill="hold">
                                          <p:stCondLst>
                                            <p:cond delay="0"/>
                                          </p:stCondLst>
                                        </p:cTn>
                                        <p:tgtEl>
                                          <p:spTgt spid="320"/>
                                        </p:tgtEl>
                                        <p:attrNameLst>
                                          <p:attrName>style.visibility</p:attrName>
                                        </p:attrNameLst>
                                      </p:cBhvr>
                                      <p:to>
                                        <p:strVal val="visible"/>
                                      </p:to>
                                    </p:set>
                                    <p:animEffect transition="in" filter="fade">
                                      <p:cBhvr>
                                        <p:cTn id="35" dur="1000"/>
                                        <p:tgtEl>
                                          <p:spTgt spid="320"/>
                                        </p:tgtEl>
                                      </p:cBhvr>
                                    </p:animEffect>
                                  </p:childTnLst>
                                </p:cTn>
                              </p:par>
                              <p:par>
                                <p:cTn id="36" presetID="10" presetClass="entr" presetSubtype="0" fill="hold" nodeType="withEffect">
                                  <p:stCondLst>
                                    <p:cond delay="0"/>
                                  </p:stCondLst>
                                  <p:childTnLst>
                                    <p:set>
                                      <p:cBhvr>
                                        <p:cTn id="37" dur="1" fill="hold">
                                          <p:stCondLst>
                                            <p:cond delay="0"/>
                                          </p:stCondLst>
                                        </p:cTn>
                                        <p:tgtEl>
                                          <p:spTgt spid="321"/>
                                        </p:tgtEl>
                                        <p:attrNameLst>
                                          <p:attrName>style.visibility</p:attrName>
                                        </p:attrNameLst>
                                      </p:cBhvr>
                                      <p:to>
                                        <p:strVal val="visible"/>
                                      </p:to>
                                    </p:set>
                                    <p:animEffect transition="in" filter="fade">
                                      <p:cBhvr>
                                        <p:cTn id="38" dur="1000"/>
                                        <p:tgtEl>
                                          <p:spTgt spid="321"/>
                                        </p:tgtEl>
                                      </p:cBhvr>
                                    </p:animEffect>
                                  </p:childTnLst>
                                </p:cTn>
                              </p:par>
                              <p:par>
                                <p:cTn id="39" presetID="10" presetClass="entr" presetSubtype="0" fill="hold" nodeType="withEffect">
                                  <p:stCondLst>
                                    <p:cond delay="0"/>
                                  </p:stCondLst>
                                  <p:childTnLst>
                                    <p:set>
                                      <p:cBhvr>
                                        <p:cTn id="40" dur="1" fill="hold">
                                          <p:stCondLst>
                                            <p:cond delay="0"/>
                                          </p:stCondLst>
                                        </p:cTn>
                                        <p:tgtEl>
                                          <p:spTgt spid="318"/>
                                        </p:tgtEl>
                                        <p:attrNameLst>
                                          <p:attrName>style.visibility</p:attrName>
                                        </p:attrNameLst>
                                      </p:cBhvr>
                                      <p:to>
                                        <p:strVal val="visible"/>
                                      </p:to>
                                    </p:set>
                                    <p:animEffect transition="in" filter="fade">
                                      <p:cBhvr>
                                        <p:cTn id="41" dur="1000"/>
                                        <p:tgtEl>
                                          <p:spTgt spid="31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23"/>
                                        </p:tgtEl>
                                        <p:attrNameLst>
                                          <p:attrName>style.visibility</p:attrName>
                                        </p:attrNameLst>
                                      </p:cBhvr>
                                      <p:to>
                                        <p:strVal val="visible"/>
                                      </p:to>
                                    </p:set>
                                    <p:animEffect transition="in" filter="fade">
                                      <p:cBhvr>
                                        <p:cTn id="46" dur="1000"/>
                                        <p:tgtEl>
                                          <p:spTgt spid="323"/>
                                        </p:tgtEl>
                                      </p:cBhvr>
                                    </p:animEffect>
                                  </p:childTnLst>
                                </p:cTn>
                              </p:par>
                              <p:par>
                                <p:cTn id="47" presetID="10" presetClass="entr" presetSubtype="0" fill="hold" nodeType="withEffect">
                                  <p:stCondLst>
                                    <p:cond delay="0"/>
                                  </p:stCondLst>
                                  <p:childTnLst>
                                    <p:set>
                                      <p:cBhvr>
                                        <p:cTn id="48" dur="1" fill="hold">
                                          <p:stCondLst>
                                            <p:cond delay="0"/>
                                          </p:stCondLst>
                                        </p:cTn>
                                        <p:tgtEl>
                                          <p:spTgt spid="320"/>
                                        </p:tgtEl>
                                        <p:attrNameLst>
                                          <p:attrName>style.visibility</p:attrName>
                                        </p:attrNameLst>
                                      </p:cBhvr>
                                      <p:to>
                                        <p:strVal val="visible"/>
                                      </p:to>
                                    </p:set>
                                    <p:animEffect transition="in" filter="fade">
                                      <p:cBhvr>
                                        <p:cTn id="49" dur="1000"/>
                                        <p:tgtEl>
                                          <p:spTgt spid="32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nodeType="clickEffect">
                                  <p:stCondLst>
                                    <p:cond delay="0"/>
                                  </p:stCondLst>
                                  <p:childTnLst>
                                    <p:animEffect transition="out" filter="fade">
                                      <p:cBhvr>
                                        <p:cTn id="53" dur="900"/>
                                        <p:tgtEl>
                                          <p:spTgt spid="323"/>
                                        </p:tgtEl>
                                      </p:cBhvr>
                                    </p:animEffect>
                                    <p:set>
                                      <p:cBhvr>
                                        <p:cTn id="54" dur="1" fill="hold">
                                          <p:stCondLst>
                                            <p:cond delay="900"/>
                                          </p:stCondLst>
                                        </p:cTn>
                                        <p:tgtEl>
                                          <p:spTgt spid="323"/>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23" presetClass="entr" presetSubtype="16" fill="hold" nodeType="clickEffect">
                                  <p:stCondLst>
                                    <p:cond delay="0"/>
                                  </p:stCondLst>
                                  <p:childTnLst>
                                    <p:set>
                                      <p:cBhvr>
                                        <p:cTn id="58" dur="1" fill="hold">
                                          <p:stCondLst>
                                            <p:cond delay="0"/>
                                          </p:stCondLst>
                                        </p:cTn>
                                        <p:tgtEl>
                                          <p:spTgt spid="320"/>
                                        </p:tgtEl>
                                        <p:attrNameLst>
                                          <p:attrName>style.visibility</p:attrName>
                                        </p:attrNameLst>
                                      </p:cBhvr>
                                      <p:to>
                                        <p:strVal val="visible"/>
                                      </p:to>
                                    </p:set>
                                    <p:anim calcmode="lin" valueType="num">
                                      <p:cBhvr additive="base">
                                        <p:cTn id="59" dur="1000"/>
                                        <p:tgtEl>
                                          <p:spTgt spid="320"/>
                                        </p:tgtEl>
                                        <p:attrNameLst>
                                          <p:attrName>ppt_w</p:attrName>
                                        </p:attrNameLst>
                                      </p:cBhvr>
                                      <p:tavLst>
                                        <p:tav tm="0">
                                          <p:val>
                                            <p:strVal val="0"/>
                                          </p:val>
                                        </p:tav>
                                        <p:tav tm="100000">
                                          <p:val>
                                            <p:strVal val="#ppt_w"/>
                                          </p:val>
                                        </p:tav>
                                      </p:tavLst>
                                    </p:anim>
                                    <p:anim calcmode="lin" valueType="num">
                                      <p:cBhvr additive="base">
                                        <p:cTn id="60" dur="1000"/>
                                        <p:tgtEl>
                                          <p:spTgt spid="320"/>
                                        </p:tgtEl>
                                        <p:attrNameLst>
                                          <p:attrName>ppt_h</p:attrName>
                                        </p:attrNameLst>
                                      </p:cBhvr>
                                      <p:tavLst>
                                        <p:tav tm="0">
                                          <p:val>
                                            <p:strVal val="0"/>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24"/>
                                        </p:tgtEl>
                                        <p:attrNameLst>
                                          <p:attrName>style.visibility</p:attrName>
                                        </p:attrNameLst>
                                      </p:cBhvr>
                                      <p:to>
                                        <p:strVal val="visible"/>
                                      </p:to>
                                    </p:set>
                                    <p:animEffect transition="in" filter="fade">
                                      <p:cBhvr>
                                        <p:cTn id="65" dur="1000"/>
                                        <p:tgtEl>
                                          <p:spTgt spid="324"/>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24"/>
                                        </p:tgtEl>
                                        <p:attrNameLst>
                                          <p:attrName>style.visibility</p:attrName>
                                        </p:attrNameLst>
                                      </p:cBhvr>
                                      <p:to>
                                        <p:strVal val="visible"/>
                                      </p:to>
                                    </p:set>
                                    <p:animEffect transition="in" filter="fade">
                                      <p:cBhvr>
                                        <p:cTn id="70" dur="1000"/>
                                        <p:tgtEl>
                                          <p:spTgt spid="324"/>
                                        </p:tgtEl>
                                      </p:cBhvr>
                                    </p:animEffect>
                                  </p:childTnLst>
                                </p:cTn>
                              </p:par>
                              <p:par>
                                <p:cTn id="71" presetID="10" presetClass="entr" presetSubtype="0" fill="hold" nodeType="withEffect">
                                  <p:stCondLst>
                                    <p:cond delay="0"/>
                                  </p:stCondLst>
                                  <p:childTnLst>
                                    <p:set>
                                      <p:cBhvr>
                                        <p:cTn id="72" dur="1" fill="hold">
                                          <p:stCondLst>
                                            <p:cond delay="0"/>
                                          </p:stCondLst>
                                        </p:cTn>
                                        <p:tgtEl>
                                          <p:spTgt spid="325"/>
                                        </p:tgtEl>
                                        <p:attrNameLst>
                                          <p:attrName>style.visibility</p:attrName>
                                        </p:attrNameLst>
                                      </p:cBhvr>
                                      <p:to>
                                        <p:strVal val="visible"/>
                                      </p:to>
                                    </p:set>
                                    <p:animEffect transition="in" filter="fade">
                                      <p:cBhvr>
                                        <p:cTn id="73" dur="1000"/>
                                        <p:tgtEl>
                                          <p:spTgt spid="325"/>
                                        </p:tgtEl>
                                      </p:cBhvr>
                                    </p:animEffect>
                                  </p:childTnLst>
                                </p:cTn>
                              </p:par>
                              <p:par>
                                <p:cTn id="74" presetID="10" presetClass="entr" presetSubtype="0" fill="hold" nodeType="withEffect">
                                  <p:stCondLst>
                                    <p:cond delay="0"/>
                                  </p:stCondLst>
                                  <p:childTnLst>
                                    <p:set>
                                      <p:cBhvr>
                                        <p:cTn id="75" dur="1" fill="hold">
                                          <p:stCondLst>
                                            <p:cond delay="0"/>
                                          </p:stCondLst>
                                        </p:cTn>
                                        <p:tgtEl>
                                          <p:spTgt spid="326"/>
                                        </p:tgtEl>
                                        <p:attrNameLst>
                                          <p:attrName>style.visibility</p:attrName>
                                        </p:attrNameLst>
                                      </p:cBhvr>
                                      <p:to>
                                        <p:strVal val="visible"/>
                                      </p:to>
                                    </p:set>
                                    <p:animEffect transition="in" filter="fade">
                                      <p:cBhvr>
                                        <p:cTn id="76" dur="1000"/>
                                        <p:tgtEl>
                                          <p:spTgt spid="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3"/>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720" b="1">
                <a:solidFill>
                  <a:srgbClr val="00FF00"/>
                </a:solidFill>
                <a:latin typeface="Comfortaa"/>
                <a:ea typeface="Comfortaa"/>
                <a:cs typeface="Comfortaa"/>
                <a:sym typeface="Comfortaa"/>
              </a:rPr>
              <a:t>Storage Structure</a:t>
            </a:r>
            <a:endParaRPr sz="2720" b="1">
              <a:solidFill>
                <a:srgbClr val="00FF00"/>
              </a:solidFill>
              <a:latin typeface="Comfortaa"/>
              <a:ea typeface="Comfortaa"/>
              <a:cs typeface="Comfortaa"/>
              <a:sym typeface="Comfortaa"/>
            </a:endParaRPr>
          </a:p>
        </p:txBody>
      </p:sp>
      <p:sp>
        <p:nvSpPr>
          <p:cNvPr id="343" name="Google Shape;343;p23"/>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19</a:t>
            </a:fld>
            <a:endParaRPr/>
          </a:p>
        </p:txBody>
      </p:sp>
      <p:sp>
        <p:nvSpPr>
          <p:cNvPr id="332" name="Google Shape;332;p23"/>
          <p:cNvSpPr/>
          <p:nvPr/>
        </p:nvSpPr>
        <p:spPr>
          <a:xfrm>
            <a:off x="3800850" y="1146400"/>
            <a:ext cx="1542300" cy="450300"/>
          </a:xfrm>
          <a:prstGeom prst="roundRect">
            <a:avLst>
              <a:gd name="adj" fmla="val 16667"/>
            </a:avLst>
          </a:prstGeom>
          <a:solidFill>
            <a:schemeClr val="lt1"/>
          </a:solid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FFFF00"/>
                </a:solidFill>
                <a:latin typeface="Comfortaa"/>
                <a:ea typeface="Comfortaa"/>
                <a:cs typeface="Comfortaa"/>
                <a:sym typeface="Comfortaa"/>
              </a:rPr>
              <a:t>Storage</a:t>
            </a:r>
            <a:endParaRPr sz="1800" b="1" i="0" u="none" strike="noStrike" cap="none">
              <a:solidFill>
                <a:srgbClr val="FFFF00"/>
              </a:solidFill>
              <a:latin typeface="Comfortaa"/>
              <a:ea typeface="Comfortaa"/>
              <a:cs typeface="Comfortaa"/>
              <a:sym typeface="Comfortaa"/>
            </a:endParaRPr>
          </a:p>
        </p:txBody>
      </p:sp>
      <p:sp>
        <p:nvSpPr>
          <p:cNvPr id="333" name="Google Shape;333;p23"/>
          <p:cNvSpPr/>
          <p:nvPr/>
        </p:nvSpPr>
        <p:spPr>
          <a:xfrm>
            <a:off x="418475" y="2121450"/>
            <a:ext cx="1542300" cy="703500"/>
          </a:xfrm>
          <a:prstGeom prst="roundRect">
            <a:avLst>
              <a:gd name="adj" fmla="val 16667"/>
            </a:avLst>
          </a:prstGeom>
          <a:solidFill>
            <a:schemeClr val="lt1"/>
          </a:solid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FFFF00"/>
                </a:solidFill>
                <a:latin typeface="Comfortaa"/>
                <a:ea typeface="Comfortaa"/>
                <a:cs typeface="Comfortaa"/>
                <a:sym typeface="Comfortaa"/>
              </a:rPr>
              <a:t>Main </a:t>
            </a:r>
            <a:endParaRPr sz="18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FFFF00"/>
                </a:solidFill>
                <a:latin typeface="Comfortaa"/>
                <a:ea typeface="Comfortaa"/>
                <a:cs typeface="Comfortaa"/>
                <a:sym typeface="Comfortaa"/>
              </a:rPr>
              <a:t>Memory</a:t>
            </a:r>
            <a:endParaRPr sz="1800" b="1" i="0" u="none" strike="noStrike" cap="none">
              <a:solidFill>
                <a:srgbClr val="FFFF00"/>
              </a:solidFill>
              <a:latin typeface="Comfortaa"/>
              <a:ea typeface="Comfortaa"/>
              <a:cs typeface="Comfortaa"/>
              <a:sym typeface="Comfortaa"/>
            </a:endParaRPr>
          </a:p>
        </p:txBody>
      </p:sp>
      <p:sp>
        <p:nvSpPr>
          <p:cNvPr id="334" name="Google Shape;334;p23"/>
          <p:cNvSpPr/>
          <p:nvPr/>
        </p:nvSpPr>
        <p:spPr>
          <a:xfrm>
            <a:off x="3756450" y="2121450"/>
            <a:ext cx="1631100" cy="703500"/>
          </a:xfrm>
          <a:prstGeom prst="roundRect">
            <a:avLst>
              <a:gd name="adj" fmla="val 16667"/>
            </a:avLst>
          </a:prstGeom>
          <a:solidFill>
            <a:schemeClr val="lt1"/>
          </a:solid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FFFF00"/>
                </a:solidFill>
                <a:latin typeface="Comfortaa"/>
                <a:ea typeface="Comfortaa"/>
                <a:cs typeface="Comfortaa"/>
                <a:sym typeface="Comfortaa"/>
              </a:rPr>
              <a:t>Secondary</a:t>
            </a:r>
            <a:endParaRPr sz="18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FFFF00"/>
                </a:solidFill>
                <a:latin typeface="Comfortaa"/>
                <a:ea typeface="Comfortaa"/>
                <a:cs typeface="Comfortaa"/>
                <a:sym typeface="Comfortaa"/>
              </a:rPr>
              <a:t>Memory</a:t>
            </a:r>
            <a:endParaRPr sz="1800" b="1" i="0" u="none" strike="noStrike" cap="none">
              <a:solidFill>
                <a:srgbClr val="FFFF00"/>
              </a:solidFill>
              <a:latin typeface="Comfortaa"/>
              <a:ea typeface="Comfortaa"/>
              <a:cs typeface="Comfortaa"/>
              <a:sym typeface="Comfortaa"/>
            </a:endParaRPr>
          </a:p>
        </p:txBody>
      </p:sp>
      <p:sp>
        <p:nvSpPr>
          <p:cNvPr id="335" name="Google Shape;335;p23"/>
          <p:cNvSpPr/>
          <p:nvPr/>
        </p:nvSpPr>
        <p:spPr>
          <a:xfrm>
            <a:off x="7183225" y="2220000"/>
            <a:ext cx="1631100" cy="703500"/>
          </a:xfrm>
          <a:prstGeom prst="roundRect">
            <a:avLst>
              <a:gd name="adj" fmla="val 16667"/>
            </a:avLst>
          </a:prstGeom>
          <a:solidFill>
            <a:schemeClr val="lt1"/>
          </a:solid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FFFF00"/>
                </a:solidFill>
                <a:latin typeface="Comfortaa"/>
                <a:ea typeface="Comfortaa"/>
                <a:cs typeface="Comfortaa"/>
                <a:sym typeface="Comfortaa"/>
              </a:rPr>
              <a:t>Tertiary</a:t>
            </a:r>
            <a:endParaRPr sz="18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FFFF00"/>
                </a:solidFill>
                <a:latin typeface="Comfortaa"/>
                <a:ea typeface="Comfortaa"/>
                <a:cs typeface="Comfortaa"/>
                <a:sym typeface="Comfortaa"/>
              </a:rPr>
              <a:t>Storage</a:t>
            </a:r>
            <a:endParaRPr sz="1800" b="1" i="0" u="none" strike="noStrike" cap="none">
              <a:solidFill>
                <a:srgbClr val="FFFF00"/>
              </a:solidFill>
              <a:latin typeface="Comfortaa"/>
              <a:ea typeface="Comfortaa"/>
              <a:cs typeface="Comfortaa"/>
              <a:sym typeface="Comfortaa"/>
            </a:endParaRPr>
          </a:p>
        </p:txBody>
      </p:sp>
      <p:cxnSp>
        <p:nvCxnSpPr>
          <p:cNvPr id="336" name="Google Shape;336;p23"/>
          <p:cNvCxnSpPr/>
          <p:nvPr/>
        </p:nvCxnSpPr>
        <p:spPr>
          <a:xfrm>
            <a:off x="1201000" y="1815175"/>
            <a:ext cx="6810300" cy="27300"/>
          </a:xfrm>
          <a:prstGeom prst="straightConnector1">
            <a:avLst/>
          </a:prstGeom>
          <a:noFill/>
          <a:ln w="28575" cap="flat" cmpd="sng">
            <a:solidFill>
              <a:srgbClr val="00FF00"/>
            </a:solidFill>
            <a:prstDash val="solid"/>
            <a:round/>
            <a:headEnd type="none" w="sm" len="sm"/>
            <a:tailEnd type="none" w="sm" len="sm"/>
          </a:ln>
        </p:spPr>
      </p:cxnSp>
      <p:cxnSp>
        <p:nvCxnSpPr>
          <p:cNvPr id="337" name="Google Shape;337;p23"/>
          <p:cNvCxnSpPr>
            <a:endCxn id="333" idx="0"/>
          </p:cNvCxnSpPr>
          <p:nvPr/>
        </p:nvCxnSpPr>
        <p:spPr>
          <a:xfrm>
            <a:off x="1187225" y="1815150"/>
            <a:ext cx="2400" cy="306300"/>
          </a:xfrm>
          <a:prstGeom prst="straightConnector1">
            <a:avLst/>
          </a:prstGeom>
          <a:noFill/>
          <a:ln w="28575" cap="flat" cmpd="sng">
            <a:solidFill>
              <a:srgbClr val="00FF00"/>
            </a:solidFill>
            <a:prstDash val="solid"/>
            <a:round/>
            <a:headEnd type="none" w="sm" len="sm"/>
            <a:tailEnd type="none" w="sm" len="sm"/>
          </a:ln>
        </p:spPr>
      </p:cxnSp>
      <p:cxnSp>
        <p:nvCxnSpPr>
          <p:cNvPr id="338" name="Google Shape;338;p23"/>
          <p:cNvCxnSpPr>
            <a:stCxn id="335" idx="0"/>
          </p:cNvCxnSpPr>
          <p:nvPr/>
        </p:nvCxnSpPr>
        <p:spPr>
          <a:xfrm rot="10800000">
            <a:off x="7998775" y="1828800"/>
            <a:ext cx="0" cy="391200"/>
          </a:xfrm>
          <a:prstGeom prst="straightConnector1">
            <a:avLst/>
          </a:prstGeom>
          <a:noFill/>
          <a:ln w="28575" cap="flat" cmpd="sng">
            <a:solidFill>
              <a:srgbClr val="00FF00"/>
            </a:solidFill>
            <a:prstDash val="solid"/>
            <a:round/>
            <a:headEnd type="none" w="sm" len="sm"/>
            <a:tailEnd type="none" w="sm" len="sm"/>
          </a:ln>
        </p:spPr>
      </p:cxnSp>
      <p:cxnSp>
        <p:nvCxnSpPr>
          <p:cNvPr id="339" name="Google Shape;339;p23"/>
          <p:cNvCxnSpPr>
            <a:stCxn id="334" idx="0"/>
            <a:endCxn id="332" idx="2"/>
          </p:cNvCxnSpPr>
          <p:nvPr/>
        </p:nvCxnSpPr>
        <p:spPr>
          <a:xfrm rot="10800000">
            <a:off x="4572000" y="1596750"/>
            <a:ext cx="0" cy="524700"/>
          </a:xfrm>
          <a:prstGeom prst="straightConnector1">
            <a:avLst/>
          </a:prstGeom>
          <a:noFill/>
          <a:ln w="28575" cap="flat" cmpd="sng">
            <a:solidFill>
              <a:srgbClr val="00FF00"/>
            </a:solidFill>
            <a:prstDash val="solid"/>
            <a:round/>
            <a:headEnd type="none" w="sm" len="sm"/>
            <a:tailEnd type="none" w="sm" len="sm"/>
          </a:ln>
        </p:spPr>
      </p:cxnSp>
      <p:sp>
        <p:nvSpPr>
          <p:cNvPr id="340" name="Google Shape;340;p23"/>
          <p:cNvSpPr txBox="1"/>
          <p:nvPr/>
        </p:nvSpPr>
        <p:spPr>
          <a:xfrm>
            <a:off x="163750" y="3103925"/>
            <a:ext cx="2907000" cy="11082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t" anchorCtr="0">
            <a:spAutoFit/>
          </a:bodyPr>
          <a:lstStyle/>
          <a:p>
            <a:pPr marL="457200" marR="0" lvl="0" indent="-323850" algn="l" rtl="0">
              <a:lnSpc>
                <a:spcPct val="100000"/>
              </a:lnSpc>
              <a:spcBef>
                <a:spcPts val="0"/>
              </a:spcBef>
              <a:spcAft>
                <a:spcPts val="0"/>
              </a:spcAft>
              <a:buClr>
                <a:srgbClr val="FFFF00"/>
              </a:buClr>
              <a:buSzPts val="1500"/>
              <a:buFont typeface="Comfortaa"/>
              <a:buChar char="●"/>
            </a:pPr>
            <a:r>
              <a:rPr lang="en" sz="1500" b="0" i="0" u="none" strike="noStrike" cap="none">
                <a:solidFill>
                  <a:srgbClr val="FFFF00"/>
                </a:solidFill>
                <a:latin typeface="Comfortaa"/>
                <a:ea typeface="Comfortaa"/>
                <a:cs typeface="Comfortaa"/>
                <a:sym typeface="Comfortaa"/>
              </a:rPr>
              <a:t>CPU can access directly</a:t>
            </a:r>
            <a:endParaRPr sz="1500" b="0" i="0" u="none" strike="noStrike" cap="none">
              <a:solidFill>
                <a:srgbClr val="FF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Comfortaa"/>
              <a:buChar char="●"/>
            </a:pPr>
            <a:r>
              <a:rPr lang="en" sz="1500" b="0" i="0" u="none" strike="noStrike" cap="none">
                <a:solidFill>
                  <a:srgbClr val="FFFF00"/>
                </a:solidFill>
                <a:latin typeface="Comfortaa"/>
                <a:ea typeface="Comfortaa"/>
                <a:cs typeface="Comfortaa"/>
                <a:sym typeface="Comfortaa"/>
              </a:rPr>
              <a:t>Random Access</a:t>
            </a:r>
            <a:endParaRPr sz="1500" b="0" i="0" u="none" strike="noStrike" cap="none">
              <a:solidFill>
                <a:srgbClr val="FF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Comfortaa"/>
              <a:buChar char="●"/>
            </a:pPr>
            <a:r>
              <a:rPr lang="en" sz="1500" b="0" i="0" u="none" strike="noStrike" cap="none">
                <a:solidFill>
                  <a:srgbClr val="FFFF00"/>
                </a:solidFill>
                <a:latin typeface="Comfortaa"/>
                <a:ea typeface="Comfortaa"/>
                <a:cs typeface="Comfortaa"/>
                <a:sym typeface="Comfortaa"/>
              </a:rPr>
              <a:t>Mostly volatile</a:t>
            </a:r>
            <a:endParaRPr sz="1500" b="0" i="0" u="none" strike="noStrike" cap="none">
              <a:solidFill>
                <a:srgbClr val="FFFF00"/>
              </a:solidFill>
              <a:latin typeface="Comfortaa"/>
              <a:ea typeface="Comfortaa"/>
              <a:cs typeface="Comfortaa"/>
              <a:sym typeface="Comfortaa"/>
            </a:endParaRPr>
          </a:p>
        </p:txBody>
      </p:sp>
      <p:sp>
        <p:nvSpPr>
          <p:cNvPr id="341" name="Google Shape;341;p23"/>
          <p:cNvSpPr txBox="1"/>
          <p:nvPr/>
        </p:nvSpPr>
        <p:spPr>
          <a:xfrm>
            <a:off x="3070750" y="3103925"/>
            <a:ext cx="2907000" cy="11082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t" anchorCtr="0">
            <a:spAutoFit/>
          </a:bodyPr>
          <a:lstStyle/>
          <a:p>
            <a:pPr marL="457200" marR="0" lvl="0" indent="-323850" algn="l" rtl="0">
              <a:lnSpc>
                <a:spcPct val="100000"/>
              </a:lnSpc>
              <a:spcBef>
                <a:spcPts val="0"/>
              </a:spcBef>
              <a:spcAft>
                <a:spcPts val="0"/>
              </a:spcAft>
              <a:buClr>
                <a:srgbClr val="FFFF00"/>
              </a:buClr>
              <a:buSzPts val="1500"/>
              <a:buFont typeface="Comfortaa"/>
              <a:buChar char="●"/>
            </a:pPr>
            <a:r>
              <a:rPr lang="en" sz="1500" b="0" i="0" u="none" strike="noStrike" cap="none">
                <a:solidFill>
                  <a:srgbClr val="FFFF00"/>
                </a:solidFill>
                <a:latin typeface="Comfortaa"/>
                <a:ea typeface="Comfortaa"/>
                <a:cs typeface="Comfortaa"/>
                <a:sym typeface="Comfortaa"/>
              </a:rPr>
              <a:t>HDD</a:t>
            </a:r>
            <a:endParaRPr sz="1500" b="0" i="0" u="none" strike="noStrike" cap="none">
              <a:solidFill>
                <a:srgbClr val="FF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Comfortaa"/>
              <a:buChar char="●"/>
            </a:pPr>
            <a:r>
              <a:rPr lang="en" sz="1500" b="0" i="0" u="none" strike="noStrike" cap="none">
                <a:solidFill>
                  <a:srgbClr val="FFFF00"/>
                </a:solidFill>
                <a:latin typeface="Comfortaa"/>
                <a:ea typeface="Comfortaa"/>
                <a:cs typeface="Comfortaa"/>
                <a:sym typeface="Comfortaa"/>
              </a:rPr>
              <a:t>SSD</a:t>
            </a:r>
            <a:endParaRPr sz="1500" b="0" i="0" u="none" strike="noStrike" cap="none">
              <a:solidFill>
                <a:srgbClr val="FF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Comfortaa"/>
              <a:buChar char="●"/>
            </a:pPr>
            <a:r>
              <a:rPr lang="en" sz="1500" b="0" i="0" u="none" strike="noStrike" cap="none">
                <a:solidFill>
                  <a:srgbClr val="FFFF00"/>
                </a:solidFill>
                <a:latin typeface="Comfortaa"/>
                <a:ea typeface="Comfortaa"/>
                <a:cs typeface="Comfortaa"/>
                <a:sym typeface="Comfortaa"/>
              </a:rPr>
              <a:t>Non volatile</a:t>
            </a:r>
            <a:endParaRPr sz="1500" b="0" i="0" u="none" strike="noStrike" cap="none">
              <a:solidFill>
                <a:srgbClr val="FF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Comfortaa"/>
              <a:buChar char="●"/>
            </a:pPr>
            <a:r>
              <a:rPr lang="en" sz="1500" b="0" i="0" u="none" strike="noStrike" cap="none">
                <a:solidFill>
                  <a:srgbClr val="FFFF00"/>
                </a:solidFill>
                <a:latin typeface="Comfortaa"/>
                <a:ea typeface="Comfortaa"/>
                <a:cs typeface="Comfortaa"/>
                <a:sym typeface="Comfortaa"/>
              </a:rPr>
              <a:t>Slower</a:t>
            </a:r>
            <a:endParaRPr sz="1500" b="0" i="0" u="none" strike="noStrike" cap="none">
              <a:solidFill>
                <a:srgbClr val="FFFF00"/>
              </a:solidFill>
              <a:latin typeface="Comfortaa"/>
              <a:ea typeface="Comfortaa"/>
              <a:cs typeface="Comfortaa"/>
              <a:sym typeface="Comfortaa"/>
            </a:endParaRPr>
          </a:p>
        </p:txBody>
      </p:sp>
      <p:sp>
        <p:nvSpPr>
          <p:cNvPr id="342" name="Google Shape;342;p23"/>
          <p:cNvSpPr txBox="1"/>
          <p:nvPr/>
        </p:nvSpPr>
        <p:spPr>
          <a:xfrm>
            <a:off x="5977750" y="3103925"/>
            <a:ext cx="2907000" cy="11082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t" anchorCtr="0">
            <a:spAutoFit/>
          </a:bodyPr>
          <a:lstStyle/>
          <a:p>
            <a:pPr marL="457200" marR="0" lvl="0" indent="-323850" algn="l" rtl="0">
              <a:lnSpc>
                <a:spcPct val="100000"/>
              </a:lnSpc>
              <a:spcBef>
                <a:spcPts val="0"/>
              </a:spcBef>
              <a:spcAft>
                <a:spcPts val="0"/>
              </a:spcAft>
              <a:buClr>
                <a:srgbClr val="FFFF00"/>
              </a:buClr>
              <a:buSzPts val="1500"/>
              <a:buFont typeface="Comfortaa"/>
              <a:buChar char="●"/>
            </a:pPr>
            <a:r>
              <a:rPr lang="en" sz="1500" b="0" i="0" u="none" strike="noStrike" cap="none">
                <a:solidFill>
                  <a:srgbClr val="FFFF00"/>
                </a:solidFill>
                <a:latin typeface="Comfortaa"/>
                <a:ea typeface="Comfortaa"/>
                <a:cs typeface="Comfortaa"/>
                <a:sym typeface="Comfortaa"/>
              </a:rPr>
              <a:t>Magnetic Tape drives</a:t>
            </a:r>
            <a:endParaRPr sz="1500" b="0" i="0" u="none" strike="noStrike" cap="none">
              <a:solidFill>
                <a:srgbClr val="FFFF00"/>
              </a:solidFill>
              <a:latin typeface="Comfortaa"/>
              <a:ea typeface="Comfortaa"/>
              <a:cs typeface="Comfortaa"/>
              <a:sym typeface="Comfortaa"/>
            </a:endParaRPr>
          </a:p>
          <a:p>
            <a:pPr marL="45720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FFFF00"/>
              </a:solidFill>
              <a:latin typeface="Comfortaa"/>
              <a:ea typeface="Comfortaa"/>
              <a:cs typeface="Comfortaa"/>
              <a:sym typeface="Comfortaa"/>
            </a:endParaRPr>
          </a:p>
          <a:p>
            <a:pPr marL="45720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FFFF00"/>
              </a:solidFill>
              <a:latin typeface="Comfortaa"/>
              <a:ea typeface="Comfortaa"/>
              <a:cs typeface="Comfortaa"/>
              <a:sym typeface="Comfortaa"/>
            </a:endParaRPr>
          </a:p>
          <a:p>
            <a:pPr marL="45720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FFFF00"/>
              </a:solidFill>
              <a:latin typeface="Comfortaa"/>
              <a:ea typeface="Comfortaa"/>
              <a:cs typeface="Comfortaa"/>
              <a:sym typeface="Comforta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25"/>
          <p:cNvSpPr txBox="1">
            <a:spLocks noGrp="1"/>
          </p:cNvSpPr>
          <p:nvPr>
            <p:ph type="title"/>
          </p:nvPr>
        </p:nvSpPr>
        <p:spPr>
          <a:xfrm>
            <a:off x="161575" y="90200"/>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720" b="1">
                <a:solidFill>
                  <a:srgbClr val="00FF00"/>
                </a:solidFill>
                <a:latin typeface="Comfortaa"/>
                <a:ea typeface="Comfortaa"/>
                <a:cs typeface="Comfortaa"/>
                <a:sym typeface="Comfortaa"/>
              </a:rPr>
              <a:t>Storage Device Hierarchy</a:t>
            </a:r>
            <a:endParaRPr sz="2720" b="1">
              <a:solidFill>
                <a:srgbClr val="00FF00"/>
              </a:solidFill>
              <a:latin typeface="Comfortaa"/>
              <a:ea typeface="Comfortaa"/>
              <a:cs typeface="Comfortaa"/>
              <a:sym typeface="Comfortaa"/>
            </a:endParaRPr>
          </a:p>
        </p:txBody>
      </p:sp>
      <p:sp>
        <p:nvSpPr>
          <p:cNvPr id="415" name="Google Shape;415;p25"/>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20</a:t>
            </a:fld>
            <a:endParaRPr/>
          </a:p>
        </p:txBody>
      </p:sp>
      <p:sp>
        <p:nvSpPr>
          <p:cNvPr id="416" name="Google Shape;416;p25"/>
          <p:cNvSpPr/>
          <p:nvPr/>
        </p:nvSpPr>
        <p:spPr>
          <a:xfrm>
            <a:off x="2733450" y="4269625"/>
            <a:ext cx="5739000" cy="393600"/>
          </a:xfrm>
          <a:prstGeom prst="cube">
            <a:avLst>
              <a:gd name="adj" fmla="val 25000"/>
            </a:avLst>
          </a:prstGeom>
          <a:gradFill>
            <a:gsLst>
              <a:gs pos="0">
                <a:srgbClr val="DCECD5"/>
              </a:gs>
              <a:gs pos="100000">
                <a:srgbClr val="93BC81"/>
              </a:gs>
            </a:gsLst>
            <a:path path="circle">
              <a:fillToRect l="50000" t="50000" r="50000" b="50000"/>
            </a:path>
            <a:tileRect/>
          </a:gra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Comfortaa"/>
                <a:ea typeface="Comfortaa"/>
                <a:cs typeface="Comfortaa"/>
                <a:sym typeface="Comfortaa"/>
              </a:rPr>
              <a:t>Magnetic Tapes</a:t>
            </a:r>
            <a:endParaRPr sz="1600" b="1" i="0" u="none" strike="noStrike" cap="none">
              <a:solidFill>
                <a:srgbClr val="000000"/>
              </a:solidFill>
              <a:latin typeface="Comfortaa"/>
              <a:ea typeface="Comfortaa"/>
              <a:cs typeface="Comfortaa"/>
              <a:sym typeface="Comfortaa"/>
            </a:endParaRPr>
          </a:p>
        </p:txBody>
      </p:sp>
      <p:sp>
        <p:nvSpPr>
          <p:cNvPr id="417" name="Google Shape;417;p25"/>
          <p:cNvSpPr/>
          <p:nvPr/>
        </p:nvSpPr>
        <p:spPr>
          <a:xfrm>
            <a:off x="3156600" y="3616800"/>
            <a:ext cx="4892700" cy="393600"/>
          </a:xfrm>
          <a:prstGeom prst="cube">
            <a:avLst>
              <a:gd name="adj" fmla="val 25000"/>
            </a:avLst>
          </a:prstGeom>
          <a:gradFill>
            <a:gsLst>
              <a:gs pos="0">
                <a:srgbClr val="DCECD5"/>
              </a:gs>
              <a:gs pos="100000">
                <a:srgbClr val="93BC81"/>
              </a:gs>
            </a:gsLst>
            <a:path path="circle">
              <a:fillToRect l="50000" t="50000" r="50000" b="50000"/>
            </a:path>
            <a:tileRect/>
          </a:gra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Comfortaa"/>
                <a:ea typeface="Comfortaa"/>
                <a:cs typeface="Comfortaa"/>
                <a:sym typeface="Comfortaa"/>
              </a:rPr>
              <a:t>Optical Disks</a:t>
            </a:r>
            <a:endParaRPr sz="1600" b="1" i="0" u="none" strike="noStrike" cap="none">
              <a:solidFill>
                <a:srgbClr val="000000"/>
              </a:solidFill>
              <a:latin typeface="Comfortaa"/>
              <a:ea typeface="Comfortaa"/>
              <a:cs typeface="Comfortaa"/>
              <a:sym typeface="Comfortaa"/>
            </a:endParaRPr>
          </a:p>
        </p:txBody>
      </p:sp>
      <p:sp>
        <p:nvSpPr>
          <p:cNvPr id="418" name="Google Shape;418;p25"/>
          <p:cNvSpPr/>
          <p:nvPr/>
        </p:nvSpPr>
        <p:spPr>
          <a:xfrm>
            <a:off x="3560400" y="2963975"/>
            <a:ext cx="4085100" cy="393600"/>
          </a:xfrm>
          <a:prstGeom prst="cube">
            <a:avLst>
              <a:gd name="adj" fmla="val 25000"/>
            </a:avLst>
          </a:prstGeom>
          <a:gradFill>
            <a:gsLst>
              <a:gs pos="0">
                <a:srgbClr val="FFF6DB"/>
              </a:gs>
              <a:gs pos="100000">
                <a:srgbClr val="FAD25C"/>
              </a:gs>
            </a:gsLst>
            <a:path path="circle">
              <a:fillToRect l="50000" t="50000" r="50000" b="50000"/>
            </a:path>
            <a:tileRect/>
          </a:gra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Comfortaa"/>
                <a:ea typeface="Comfortaa"/>
                <a:cs typeface="Comfortaa"/>
                <a:sym typeface="Comfortaa"/>
              </a:rPr>
              <a:t>Magnetic Disks</a:t>
            </a:r>
            <a:endParaRPr sz="1600" b="1" i="0" u="none" strike="noStrike" cap="none">
              <a:solidFill>
                <a:srgbClr val="000000"/>
              </a:solidFill>
              <a:latin typeface="Comfortaa"/>
              <a:ea typeface="Comfortaa"/>
              <a:cs typeface="Comfortaa"/>
              <a:sym typeface="Comfortaa"/>
            </a:endParaRPr>
          </a:p>
        </p:txBody>
      </p:sp>
      <p:sp>
        <p:nvSpPr>
          <p:cNvPr id="419" name="Google Shape;419;p25"/>
          <p:cNvSpPr/>
          <p:nvPr/>
        </p:nvSpPr>
        <p:spPr>
          <a:xfrm>
            <a:off x="3985050" y="2320488"/>
            <a:ext cx="3235800" cy="393600"/>
          </a:xfrm>
          <a:prstGeom prst="cube">
            <a:avLst>
              <a:gd name="adj" fmla="val 25000"/>
            </a:avLst>
          </a:prstGeom>
          <a:gradFill>
            <a:gsLst>
              <a:gs pos="0">
                <a:srgbClr val="FFF6DB"/>
              </a:gs>
              <a:gs pos="100000">
                <a:srgbClr val="FAD25C"/>
              </a:gs>
            </a:gsLst>
            <a:path path="circle">
              <a:fillToRect l="50000" t="50000" r="50000" b="50000"/>
            </a:path>
            <a:tileRect/>
          </a:gra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Comfortaa"/>
                <a:ea typeface="Comfortaa"/>
                <a:cs typeface="Comfortaa"/>
                <a:sym typeface="Comfortaa"/>
              </a:rPr>
              <a:t>Non volatile memory</a:t>
            </a:r>
            <a:endParaRPr sz="1600" b="1" i="0" u="none" strike="noStrike" cap="none">
              <a:solidFill>
                <a:srgbClr val="000000"/>
              </a:solidFill>
              <a:latin typeface="Comfortaa"/>
              <a:ea typeface="Comfortaa"/>
              <a:cs typeface="Comfortaa"/>
              <a:sym typeface="Comfortaa"/>
            </a:endParaRPr>
          </a:p>
        </p:txBody>
      </p:sp>
      <p:sp>
        <p:nvSpPr>
          <p:cNvPr id="420" name="Google Shape;420;p25"/>
          <p:cNvSpPr/>
          <p:nvPr/>
        </p:nvSpPr>
        <p:spPr>
          <a:xfrm>
            <a:off x="4426050" y="1724763"/>
            <a:ext cx="2353800" cy="393600"/>
          </a:xfrm>
          <a:prstGeom prst="cube">
            <a:avLst>
              <a:gd name="adj" fmla="val 25000"/>
            </a:avLst>
          </a:prstGeom>
          <a:gradFill>
            <a:gsLst>
              <a:gs pos="0">
                <a:srgbClr val="DBD4EB"/>
              </a:gs>
              <a:gs pos="100000">
                <a:srgbClr val="9180BB"/>
              </a:gs>
            </a:gsLst>
            <a:path path="circle">
              <a:fillToRect l="50000" t="50000" r="50000" b="50000"/>
            </a:path>
            <a:tileRect/>
          </a:gra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Comfortaa"/>
                <a:ea typeface="Comfortaa"/>
                <a:cs typeface="Comfortaa"/>
                <a:sym typeface="Comfortaa"/>
              </a:rPr>
              <a:t>Main Memory</a:t>
            </a:r>
            <a:endParaRPr sz="1600" b="1" i="0" u="none" strike="noStrike" cap="none">
              <a:solidFill>
                <a:srgbClr val="000000"/>
              </a:solidFill>
              <a:latin typeface="Comfortaa"/>
              <a:ea typeface="Comfortaa"/>
              <a:cs typeface="Comfortaa"/>
              <a:sym typeface="Comfortaa"/>
            </a:endParaRPr>
          </a:p>
        </p:txBody>
      </p:sp>
      <p:sp>
        <p:nvSpPr>
          <p:cNvPr id="421" name="Google Shape;421;p25"/>
          <p:cNvSpPr/>
          <p:nvPr/>
        </p:nvSpPr>
        <p:spPr>
          <a:xfrm>
            <a:off x="4911600" y="1152913"/>
            <a:ext cx="1382700" cy="393600"/>
          </a:xfrm>
          <a:prstGeom prst="cube">
            <a:avLst>
              <a:gd name="adj" fmla="val 25000"/>
            </a:avLst>
          </a:prstGeom>
          <a:gradFill>
            <a:gsLst>
              <a:gs pos="0">
                <a:srgbClr val="DBD4EB"/>
              </a:gs>
              <a:gs pos="100000">
                <a:srgbClr val="9180BB"/>
              </a:gs>
            </a:gsLst>
            <a:path path="circle">
              <a:fillToRect l="50000" t="50000" r="50000" b="50000"/>
            </a:path>
            <a:tileRect/>
          </a:gra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Comfortaa"/>
                <a:ea typeface="Comfortaa"/>
                <a:cs typeface="Comfortaa"/>
                <a:sym typeface="Comfortaa"/>
              </a:rPr>
              <a:t>Cache </a:t>
            </a:r>
            <a:endParaRPr sz="1600" b="1" i="0" u="none" strike="noStrike" cap="none">
              <a:solidFill>
                <a:srgbClr val="000000"/>
              </a:solidFill>
              <a:latin typeface="Comfortaa"/>
              <a:ea typeface="Comfortaa"/>
              <a:cs typeface="Comfortaa"/>
              <a:sym typeface="Comfortaa"/>
            </a:endParaRPr>
          </a:p>
        </p:txBody>
      </p:sp>
      <p:sp>
        <p:nvSpPr>
          <p:cNvPr id="422" name="Google Shape;422;p25"/>
          <p:cNvSpPr/>
          <p:nvPr/>
        </p:nvSpPr>
        <p:spPr>
          <a:xfrm>
            <a:off x="5185050" y="634913"/>
            <a:ext cx="835800" cy="393600"/>
          </a:xfrm>
          <a:prstGeom prst="cube">
            <a:avLst>
              <a:gd name="adj" fmla="val 25000"/>
            </a:avLst>
          </a:prstGeom>
          <a:gradFill>
            <a:gsLst>
              <a:gs pos="0">
                <a:srgbClr val="DBD4EB"/>
              </a:gs>
              <a:gs pos="100000">
                <a:srgbClr val="9180BB"/>
              </a:gs>
            </a:gsLst>
            <a:lin ang="5400012" scaled="0"/>
          </a:gra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900" b="1" i="0" u="none" strike="noStrike" cap="none">
                <a:solidFill>
                  <a:srgbClr val="000000"/>
                </a:solidFill>
                <a:latin typeface="Comfortaa"/>
                <a:ea typeface="Comfortaa"/>
                <a:cs typeface="Comfortaa"/>
                <a:sym typeface="Comfortaa"/>
              </a:rPr>
              <a:t>Registers</a:t>
            </a:r>
            <a:endParaRPr sz="900" b="1" i="0" u="none" strike="noStrike" cap="none">
              <a:solidFill>
                <a:srgbClr val="000000"/>
              </a:solidFill>
              <a:latin typeface="Comfortaa"/>
              <a:ea typeface="Comfortaa"/>
              <a:cs typeface="Comfortaa"/>
              <a:sym typeface="Comfortaa"/>
            </a:endParaRPr>
          </a:p>
        </p:txBody>
      </p:sp>
      <p:sp>
        <p:nvSpPr>
          <p:cNvPr id="423" name="Google Shape;423;p25"/>
          <p:cNvSpPr/>
          <p:nvPr/>
        </p:nvSpPr>
        <p:spPr>
          <a:xfrm>
            <a:off x="8472450" y="581075"/>
            <a:ext cx="275700" cy="4082100"/>
          </a:xfrm>
          <a:prstGeom prst="upDownArrow">
            <a:avLst>
              <a:gd name="adj1" fmla="val 50000"/>
              <a:gd name="adj2" fmla="val 50000"/>
            </a:avLst>
          </a:prstGeom>
          <a:solidFill>
            <a:srgbClr val="FF99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25"/>
          <p:cNvSpPr/>
          <p:nvPr/>
        </p:nvSpPr>
        <p:spPr>
          <a:xfrm>
            <a:off x="2346900" y="581075"/>
            <a:ext cx="275700" cy="4082100"/>
          </a:xfrm>
          <a:prstGeom prst="upDownArrow">
            <a:avLst>
              <a:gd name="adj1" fmla="val 50000"/>
              <a:gd name="adj2" fmla="val 50000"/>
            </a:avLst>
          </a:prstGeom>
          <a:solidFill>
            <a:srgbClr val="FF99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 name="Google Shape;425;p25"/>
          <p:cNvSpPr txBox="1"/>
          <p:nvPr/>
        </p:nvSpPr>
        <p:spPr>
          <a:xfrm rot="-5400000">
            <a:off x="8397325" y="865925"/>
            <a:ext cx="1000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Faster</a:t>
            </a:r>
            <a:endParaRPr sz="1600" b="1" i="0" u="none" strike="noStrike" cap="none">
              <a:solidFill>
                <a:srgbClr val="FFFF00"/>
              </a:solidFill>
              <a:latin typeface="Comfortaa"/>
              <a:ea typeface="Comfortaa"/>
              <a:cs typeface="Comfortaa"/>
              <a:sym typeface="Comfortaa"/>
            </a:endParaRPr>
          </a:p>
        </p:txBody>
      </p:sp>
      <p:sp>
        <p:nvSpPr>
          <p:cNvPr id="426" name="Google Shape;426;p25"/>
          <p:cNvSpPr txBox="1"/>
          <p:nvPr/>
        </p:nvSpPr>
        <p:spPr>
          <a:xfrm rot="-5400000">
            <a:off x="8397325" y="3807400"/>
            <a:ext cx="1000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Slower</a:t>
            </a:r>
            <a:endParaRPr sz="1600" b="1" i="0" u="none" strike="noStrike" cap="none">
              <a:solidFill>
                <a:srgbClr val="FFFF00"/>
              </a:solidFill>
              <a:latin typeface="Comfortaa"/>
              <a:ea typeface="Comfortaa"/>
              <a:cs typeface="Comfortaa"/>
              <a:sym typeface="Comfortaa"/>
            </a:endParaRPr>
          </a:p>
        </p:txBody>
      </p:sp>
      <p:sp>
        <p:nvSpPr>
          <p:cNvPr id="427" name="Google Shape;427;p25"/>
          <p:cNvSpPr txBox="1"/>
          <p:nvPr/>
        </p:nvSpPr>
        <p:spPr>
          <a:xfrm rot="-5400000">
            <a:off x="1630950" y="3901650"/>
            <a:ext cx="1000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Larger</a:t>
            </a:r>
            <a:endParaRPr sz="1600" b="1" i="0" u="none" strike="noStrike" cap="none">
              <a:solidFill>
                <a:srgbClr val="FFFF00"/>
              </a:solidFill>
              <a:latin typeface="Comfortaa"/>
              <a:ea typeface="Comfortaa"/>
              <a:cs typeface="Comfortaa"/>
              <a:sym typeface="Comfortaa"/>
            </a:endParaRPr>
          </a:p>
        </p:txBody>
      </p:sp>
      <p:sp>
        <p:nvSpPr>
          <p:cNvPr id="428" name="Google Shape;428;p25"/>
          <p:cNvSpPr txBox="1"/>
          <p:nvPr/>
        </p:nvSpPr>
        <p:spPr>
          <a:xfrm rot="-5400000">
            <a:off x="1630950" y="1134175"/>
            <a:ext cx="1000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Smaller</a:t>
            </a:r>
            <a:endParaRPr sz="1600" b="1" i="0" u="none" strike="noStrike" cap="none">
              <a:solidFill>
                <a:srgbClr val="FFFF00"/>
              </a:solidFill>
              <a:latin typeface="Comfortaa"/>
              <a:ea typeface="Comfortaa"/>
              <a:cs typeface="Comfortaa"/>
              <a:sym typeface="Comfortaa"/>
            </a:endParaRPr>
          </a:p>
        </p:txBody>
      </p:sp>
      <p:cxnSp>
        <p:nvCxnSpPr>
          <p:cNvPr id="429" name="Google Shape;429;p25"/>
          <p:cNvCxnSpPr/>
          <p:nvPr/>
        </p:nvCxnSpPr>
        <p:spPr>
          <a:xfrm>
            <a:off x="2606725" y="2209525"/>
            <a:ext cx="5796600" cy="0"/>
          </a:xfrm>
          <a:prstGeom prst="straightConnector1">
            <a:avLst/>
          </a:prstGeom>
          <a:noFill/>
          <a:ln w="28575" cap="flat" cmpd="sng">
            <a:solidFill>
              <a:srgbClr val="00FF00"/>
            </a:solidFill>
            <a:prstDash val="dot"/>
            <a:round/>
            <a:headEnd type="none" w="sm" len="sm"/>
            <a:tailEnd type="none" w="sm" len="sm"/>
          </a:ln>
        </p:spPr>
      </p:cxnSp>
      <p:sp>
        <p:nvSpPr>
          <p:cNvPr id="430" name="Google Shape;430;p25"/>
          <p:cNvSpPr txBox="1"/>
          <p:nvPr/>
        </p:nvSpPr>
        <p:spPr>
          <a:xfrm>
            <a:off x="2733450" y="1220663"/>
            <a:ext cx="1000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Volatile</a:t>
            </a:r>
            <a:endParaRPr sz="1600" b="1" i="0" u="none" strike="noStrike" cap="none">
              <a:solidFill>
                <a:srgbClr val="FFFF00"/>
              </a:solidFill>
              <a:latin typeface="Comfortaa"/>
              <a:ea typeface="Comfortaa"/>
              <a:cs typeface="Comfortaa"/>
              <a:sym typeface="Comfortaa"/>
            </a:endParaRPr>
          </a:p>
        </p:txBody>
      </p:sp>
      <p:sp>
        <p:nvSpPr>
          <p:cNvPr id="431" name="Google Shape;431;p25"/>
          <p:cNvSpPr txBox="1"/>
          <p:nvPr/>
        </p:nvSpPr>
        <p:spPr>
          <a:xfrm>
            <a:off x="2622600" y="2295738"/>
            <a:ext cx="1000800" cy="67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Non</a:t>
            </a:r>
            <a:endParaRPr sz="16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Volatile</a:t>
            </a:r>
            <a:endParaRPr sz="1600" b="1" i="0" u="none" strike="noStrike" cap="none">
              <a:solidFill>
                <a:srgbClr val="FFFF00"/>
              </a:solidFill>
              <a:latin typeface="Comfortaa"/>
              <a:ea typeface="Comfortaa"/>
              <a:cs typeface="Comfortaa"/>
              <a:sym typeface="Comfortaa"/>
            </a:endParaRPr>
          </a:p>
        </p:txBody>
      </p:sp>
      <p:sp>
        <p:nvSpPr>
          <p:cNvPr id="432" name="Google Shape;432;p25"/>
          <p:cNvSpPr txBox="1"/>
          <p:nvPr/>
        </p:nvSpPr>
        <p:spPr>
          <a:xfrm>
            <a:off x="305238" y="1134175"/>
            <a:ext cx="1224000" cy="431100"/>
          </a:xfrm>
          <a:prstGeom prst="rect">
            <a:avLst/>
          </a:prstGeom>
          <a:noFill/>
          <a:ln w="28575" cap="flat" cmpd="sng">
            <a:solidFill>
              <a:srgbClr val="674EA7"/>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Primary</a:t>
            </a:r>
            <a:endParaRPr sz="1600" b="1" i="0" u="none" strike="noStrike" cap="none">
              <a:solidFill>
                <a:srgbClr val="FFFF00"/>
              </a:solidFill>
              <a:latin typeface="Comfortaa"/>
              <a:ea typeface="Comfortaa"/>
              <a:cs typeface="Comfortaa"/>
              <a:sym typeface="Comfortaa"/>
            </a:endParaRPr>
          </a:p>
        </p:txBody>
      </p:sp>
      <p:sp>
        <p:nvSpPr>
          <p:cNvPr id="433" name="Google Shape;433;p25"/>
          <p:cNvSpPr txBox="1"/>
          <p:nvPr/>
        </p:nvSpPr>
        <p:spPr>
          <a:xfrm>
            <a:off x="169053" y="2714100"/>
            <a:ext cx="1496400" cy="431100"/>
          </a:xfrm>
          <a:prstGeom prst="rect">
            <a:avLst/>
          </a:prstGeom>
          <a:noFill/>
          <a:ln w="28575" cap="flat" cmpd="sng">
            <a:solidFill>
              <a:srgbClr val="F1C232"/>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Secondary</a:t>
            </a:r>
            <a:endParaRPr sz="1600" b="1" i="0" u="none" strike="noStrike" cap="none">
              <a:solidFill>
                <a:srgbClr val="FFFF00"/>
              </a:solidFill>
              <a:latin typeface="Comfortaa"/>
              <a:ea typeface="Comfortaa"/>
              <a:cs typeface="Comfortaa"/>
              <a:sym typeface="Comfortaa"/>
            </a:endParaRPr>
          </a:p>
        </p:txBody>
      </p:sp>
      <p:sp>
        <p:nvSpPr>
          <p:cNvPr id="434" name="Google Shape;434;p25"/>
          <p:cNvSpPr txBox="1"/>
          <p:nvPr/>
        </p:nvSpPr>
        <p:spPr>
          <a:xfrm>
            <a:off x="225900" y="3901650"/>
            <a:ext cx="1382700" cy="431100"/>
          </a:xfrm>
          <a:prstGeom prst="rect">
            <a:avLst/>
          </a:prstGeom>
          <a:noFill/>
          <a:ln w="28575" cap="flat" cmpd="sng">
            <a:solidFill>
              <a:srgbClr val="6AA84F"/>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Tertiary</a:t>
            </a:r>
            <a:endParaRPr sz="1600" b="1" i="0" u="none" strike="noStrike" cap="none">
              <a:solidFill>
                <a:srgbClr val="FFFF00"/>
              </a:solidFill>
              <a:latin typeface="Comfortaa"/>
              <a:ea typeface="Comfortaa"/>
              <a:cs typeface="Comfortaa"/>
              <a:sym typeface="Comforta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16"/>
                                        </p:tgtEl>
                                        <p:attrNameLst>
                                          <p:attrName>style.visibility</p:attrName>
                                        </p:attrNameLst>
                                      </p:cBhvr>
                                      <p:to>
                                        <p:strVal val="visible"/>
                                      </p:to>
                                    </p:set>
                                    <p:anim calcmode="lin" valueType="num">
                                      <p:cBhvr additive="base">
                                        <p:cTn id="7" dur="1000"/>
                                        <p:tgtEl>
                                          <p:spTgt spid="416"/>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417"/>
                                        </p:tgtEl>
                                        <p:attrNameLst>
                                          <p:attrName>style.visibility</p:attrName>
                                        </p:attrNameLst>
                                      </p:cBhvr>
                                      <p:to>
                                        <p:strVal val="visible"/>
                                      </p:to>
                                    </p:set>
                                    <p:anim calcmode="lin" valueType="num">
                                      <p:cBhvr additive="base">
                                        <p:cTn id="10" dur="1100"/>
                                        <p:tgtEl>
                                          <p:spTgt spid="417"/>
                                        </p:tgtEl>
                                        <p:attrNameLst>
                                          <p:attrName>ppt_x</p:attrName>
                                        </p:attrNameLst>
                                      </p:cBhvr>
                                      <p:tavLst>
                                        <p:tav tm="0">
                                          <p:val>
                                            <p:strVal val="#ppt_x+1"/>
                                          </p:val>
                                        </p:tav>
                                        <p:tav tm="100000">
                                          <p:val>
                                            <p:strVal val="#ppt_x"/>
                                          </p:val>
                                        </p:tav>
                                      </p:tavLst>
                                    </p:anim>
                                  </p:childTnLst>
                                </p:cTn>
                              </p:par>
                              <p:par>
                                <p:cTn id="11" presetID="2" presetClass="entr" presetSubtype="2" fill="hold" nodeType="withEffect">
                                  <p:stCondLst>
                                    <p:cond delay="0"/>
                                  </p:stCondLst>
                                  <p:childTnLst>
                                    <p:set>
                                      <p:cBhvr>
                                        <p:cTn id="12" dur="1" fill="hold">
                                          <p:stCondLst>
                                            <p:cond delay="0"/>
                                          </p:stCondLst>
                                        </p:cTn>
                                        <p:tgtEl>
                                          <p:spTgt spid="418"/>
                                        </p:tgtEl>
                                        <p:attrNameLst>
                                          <p:attrName>style.visibility</p:attrName>
                                        </p:attrNameLst>
                                      </p:cBhvr>
                                      <p:to>
                                        <p:strVal val="visible"/>
                                      </p:to>
                                    </p:set>
                                    <p:anim calcmode="lin" valueType="num">
                                      <p:cBhvr additive="base">
                                        <p:cTn id="13" dur="1200"/>
                                        <p:tgtEl>
                                          <p:spTgt spid="418"/>
                                        </p:tgtEl>
                                        <p:attrNameLst>
                                          <p:attrName>ppt_x</p:attrName>
                                        </p:attrNameLst>
                                      </p:cBhvr>
                                      <p:tavLst>
                                        <p:tav tm="0">
                                          <p:val>
                                            <p:strVal val="#ppt_x+1"/>
                                          </p:val>
                                        </p:tav>
                                        <p:tav tm="100000">
                                          <p:val>
                                            <p:strVal val="#ppt_x"/>
                                          </p:val>
                                        </p:tav>
                                      </p:tavLst>
                                    </p:anim>
                                  </p:childTnLst>
                                </p:cTn>
                              </p:par>
                              <p:par>
                                <p:cTn id="14" presetID="2" presetClass="entr" presetSubtype="2" fill="hold" nodeType="withEffect">
                                  <p:stCondLst>
                                    <p:cond delay="0"/>
                                  </p:stCondLst>
                                  <p:childTnLst>
                                    <p:set>
                                      <p:cBhvr>
                                        <p:cTn id="15" dur="1" fill="hold">
                                          <p:stCondLst>
                                            <p:cond delay="0"/>
                                          </p:stCondLst>
                                        </p:cTn>
                                        <p:tgtEl>
                                          <p:spTgt spid="419"/>
                                        </p:tgtEl>
                                        <p:attrNameLst>
                                          <p:attrName>style.visibility</p:attrName>
                                        </p:attrNameLst>
                                      </p:cBhvr>
                                      <p:to>
                                        <p:strVal val="visible"/>
                                      </p:to>
                                    </p:set>
                                    <p:anim calcmode="lin" valueType="num">
                                      <p:cBhvr additive="base">
                                        <p:cTn id="16" dur="1300"/>
                                        <p:tgtEl>
                                          <p:spTgt spid="419"/>
                                        </p:tgtEl>
                                        <p:attrNameLst>
                                          <p:attrName>ppt_x</p:attrName>
                                        </p:attrNameLst>
                                      </p:cBhvr>
                                      <p:tavLst>
                                        <p:tav tm="0">
                                          <p:val>
                                            <p:strVal val="#ppt_x+1"/>
                                          </p:val>
                                        </p:tav>
                                        <p:tav tm="100000">
                                          <p:val>
                                            <p:strVal val="#ppt_x"/>
                                          </p:val>
                                        </p:tav>
                                      </p:tavLst>
                                    </p:anim>
                                  </p:childTnLst>
                                </p:cTn>
                              </p:par>
                              <p:par>
                                <p:cTn id="17" presetID="2" presetClass="entr" presetSubtype="2" fill="hold" nodeType="withEffect">
                                  <p:stCondLst>
                                    <p:cond delay="0"/>
                                  </p:stCondLst>
                                  <p:childTnLst>
                                    <p:set>
                                      <p:cBhvr>
                                        <p:cTn id="18" dur="1" fill="hold">
                                          <p:stCondLst>
                                            <p:cond delay="0"/>
                                          </p:stCondLst>
                                        </p:cTn>
                                        <p:tgtEl>
                                          <p:spTgt spid="420"/>
                                        </p:tgtEl>
                                        <p:attrNameLst>
                                          <p:attrName>style.visibility</p:attrName>
                                        </p:attrNameLst>
                                      </p:cBhvr>
                                      <p:to>
                                        <p:strVal val="visible"/>
                                      </p:to>
                                    </p:set>
                                    <p:anim calcmode="lin" valueType="num">
                                      <p:cBhvr additive="base">
                                        <p:cTn id="19" dur="1400"/>
                                        <p:tgtEl>
                                          <p:spTgt spid="420"/>
                                        </p:tgtEl>
                                        <p:attrNameLst>
                                          <p:attrName>ppt_x</p:attrName>
                                        </p:attrNameLst>
                                      </p:cBhvr>
                                      <p:tavLst>
                                        <p:tav tm="0">
                                          <p:val>
                                            <p:strVal val="#ppt_x+1"/>
                                          </p:val>
                                        </p:tav>
                                        <p:tav tm="100000">
                                          <p:val>
                                            <p:strVal val="#ppt_x"/>
                                          </p:val>
                                        </p:tav>
                                      </p:tavLst>
                                    </p:anim>
                                  </p:childTnLst>
                                </p:cTn>
                              </p:par>
                              <p:par>
                                <p:cTn id="20" presetID="2" presetClass="entr" presetSubtype="2" fill="hold" nodeType="withEffect">
                                  <p:stCondLst>
                                    <p:cond delay="0"/>
                                  </p:stCondLst>
                                  <p:childTnLst>
                                    <p:set>
                                      <p:cBhvr>
                                        <p:cTn id="21" dur="1" fill="hold">
                                          <p:stCondLst>
                                            <p:cond delay="0"/>
                                          </p:stCondLst>
                                        </p:cTn>
                                        <p:tgtEl>
                                          <p:spTgt spid="421"/>
                                        </p:tgtEl>
                                        <p:attrNameLst>
                                          <p:attrName>style.visibility</p:attrName>
                                        </p:attrNameLst>
                                      </p:cBhvr>
                                      <p:to>
                                        <p:strVal val="visible"/>
                                      </p:to>
                                    </p:set>
                                    <p:anim calcmode="lin" valueType="num">
                                      <p:cBhvr additive="base">
                                        <p:cTn id="22" dur="1500"/>
                                        <p:tgtEl>
                                          <p:spTgt spid="421"/>
                                        </p:tgtEl>
                                        <p:attrNameLst>
                                          <p:attrName>ppt_x</p:attrName>
                                        </p:attrNameLst>
                                      </p:cBhvr>
                                      <p:tavLst>
                                        <p:tav tm="0">
                                          <p:val>
                                            <p:strVal val="#ppt_x+1"/>
                                          </p:val>
                                        </p:tav>
                                        <p:tav tm="100000">
                                          <p:val>
                                            <p:strVal val="#ppt_x"/>
                                          </p:val>
                                        </p:tav>
                                      </p:tavLst>
                                    </p:anim>
                                  </p:childTnLst>
                                </p:cTn>
                              </p:par>
                              <p:par>
                                <p:cTn id="23" presetID="2" presetClass="entr" presetSubtype="2" fill="hold" nodeType="withEffect">
                                  <p:stCondLst>
                                    <p:cond delay="0"/>
                                  </p:stCondLst>
                                  <p:childTnLst>
                                    <p:set>
                                      <p:cBhvr>
                                        <p:cTn id="24" dur="1" fill="hold">
                                          <p:stCondLst>
                                            <p:cond delay="0"/>
                                          </p:stCondLst>
                                        </p:cTn>
                                        <p:tgtEl>
                                          <p:spTgt spid="422"/>
                                        </p:tgtEl>
                                        <p:attrNameLst>
                                          <p:attrName>style.visibility</p:attrName>
                                        </p:attrNameLst>
                                      </p:cBhvr>
                                      <p:to>
                                        <p:strVal val="visible"/>
                                      </p:to>
                                    </p:set>
                                    <p:anim calcmode="lin" valueType="num">
                                      <p:cBhvr additive="base">
                                        <p:cTn id="25" dur="1600"/>
                                        <p:tgtEl>
                                          <p:spTgt spid="422"/>
                                        </p:tgtEl>
                                        <p:attrNameLst>
                                          <p:attrName>ppt_x</p:attrName>
                                        </p:attrNameLst>
                                      </p:cBhvr>
                                      <p:tavLst>
                                        <p:tav tm="0">
                                          <p:val>
                                            <p:strVal val="#ppt_x+1"/>
                                          </p:val>
                                        </p:tav>
                                        <p:tav tm="100000">
                                          <p:val>
                                            <p:strVal val="#ppt_x"/>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23"/>
                                        </p:tgtEl>
                                        <p:attrNameLst>
                                          <p:attrName>style.visibility</p:attrName>
                                        </p:attrNameLst>
                                      </p:cBhvr>
                                      <p:to>
                                        <p:strVal val="visible"/>
                                      </p:to>
                                    </p:set>
                                    <p:animEffect transition="in" filter="fade">
                                      <p:cBhvr>
                                        <p:cTn id="30" dur="1000"/>
                                        <p:tgtEl>
                                          <p:spTgt spid="423"/>
                                        </p:tgtEl>
                                      </p:cBhvr>
                                    </p:animEffect>
                                  </p:childTnLst>
                                </p:cTn>
                              </p:par>
                              <p:par>
                                <p:cTn id="31" presetID="10" presetClass="entr" presetSubtype="0" fill="hold" nodeType="withEffect">
                                  <p:stCondLst>
                                    <p:cond delay="0"/>
                                  </p:stCondLst>
                                  <p:childTnLst>
                                    <p:set>
                                      <p:cBhvr>
                                        <p:cTn id="32" dur="1" fill="hold">
                                          <p:stCondLst>
                                            <p:cond delay="0"/>
                                          </p:stCondLst>
                                        </p:cTn>
                                        <p:tgtEl>
                                          <p:spTgt spid="424"/>
                                        </p:tgtEl>
                                        <p:attrNameLst>
                                          <p:attrName>style.visibility</p:attrName>
                                        </p:attrNameLst>
                                      </p:cBhvr>
                                      <p:to>
                                        <p:strVal val="visible"/>
                                      </p:to>
                                    </p:set>
                                    <p:animEffect transition="in" filter="fade">
                                      <p:cBhvr>
                                        <p:cTn id="33" dur="1000"/>
                                        <p:tgtEl>
                                          <p:spTgt spid="424"/>
                                        </p:tgtEl>
                                      </p:cBhvr>
                                    </p:animEffect>
                                  </p:childTnLst>
                                </p:cTn>
                              </p:par>
                              <p:par>
                                <p:cTn id="34" presetID="10" presetClass="entr" presetSubtype="0" fill="hold" nodeType="withEffect">
                                  <p:stCondLst>
                                    <p:cond delay="0"/>
                                  </p:stCondLst>
                                  <p:childTnLst>
                                    <p:set>
                                      <p:cBhvr>
                                        <p:cTn id="35" dur="1" fill="hold">
                                          <p:stCondLst>
                                            <p:cond delay="0"/>
                                          </p:stCondLst>
                                        </p:cTn>
                                        <p:tgtEl>
                                          <p:spTgt spid="425"/>
                                        </p:tgtEl>
                                        <p:attrNameLst>
                                          <p:attrName>style.visibility</p:attrName>
                                        </p:attrNameLst>
                                      </p:cBhvr>
                                      <p:to>
                                        <p:strVal val="visible"/>
                                      </p:to>
                                    </p:set>
                                    <p:animEffect transition="in" filter="fade">
                                      <p:cBhvr>
                                        <p:cTn id="36" dur="1000"/>
                                        <p:tgtEl>
                                          <p:spTgt spid="425"/>
                                        </p:tgtEl>
                                      </p:cBhvr>
                                    </p:animEffect>
                                  </p:childTnLst>
                                </p:cTn>
                              </p:par>
                              <p:par>
                                <p:cTn id="37" presetID="10" presetClass="entr" presetSubtype="0" fill="hold" nodeType="withEffect">
                                  <p:stCondLst>
                                    <p:cond delay="0"/>
                                  </p:stCondLst>
                                  <p:childTnLst>
                                    <p:set>
                                      <p:cBhvr>
                                        <p:cTn id="38" dur="1" fill="hold">
                                          <p:stCondLst>
                                            <p:cond delay="0"/>
                                          </p:stCondLst>
                                        </p:cTn>
                                        <p:tgtEl>
                                          <p:spTgt spid="426"/>
                                        </p:tgtEl>
                                        <p:attrNameLst>
                                          <p:attrName>style.visibility</p:attrName>
                                        </p:attrNameLst>
                                      </p:cBhvr>
                                      <p:to>
                                        <p:strVal val="visible"/>
                                      </p:to>
                                    </p:set>
                                    <p:animEffect transition="in" filter="fade">
                                      <p:cBhvr>
                                        <p:cTn id="39" dur="1000"/>
                                        <p:tgtEl>
                                          <p:spTgt spid="426"/>
                                        </p:tgtEl>
                                      </p:cBhvr>
                                    </p:animEffect>
                                  </p:childTnLst>
                                </p:cTn>
                              </p:par>
                              <p:par>
                                <p:cTn id="40" presetID="10" presetClass="entr" presetSubtype="0" fill="hold" nodeType="withEffect">
                                  <p:stCondLst>
                                    <p:cond delay="0"/>
                                  </p:stCondLst>
                                  <p:childTnLst>
                                    <p:set>
                                      <p:cBhvr>
                                        <p:cTn id="41" dur="1" fill="hold">
                                          <p:stCondLst>
                                            <p:cond delay="0"/>
                                          </p:stCondLst>
                                        </p:cTn>
                                        <p:tgtEl>
                                          <p:spTgt spid="427"/>
                                        </p:tgtEl>
                                        <p:attrNameLst>
                                          <p:attrName>style.visibility</p:attrName>
                                        </p:attrNameLst>
                                      </p:cBhvr>
                                      <p:to>
                                        <p:strVal val="visible"/>
                                      </p:to>
                                    </p:set>
                                    <p:animEffect transition="in" filter="fade">
                                      <p:cBhvr>
                                        <p:cTn id="42" dur="1000"/>
                                        <p:tgtEl>
                                          <p:spTgt spid="427"/>
                                        </p:tgtEl>
                                      </p:cBhvr>
                                    </p:animEffect>
                                  </p:childTnLst>
                                </p:cTn>
                              </p:par>
                              <p:par>
                                <p:cTn id="43" presetID="10" presetClass="entr" presetSubtype="0" fill="hold" nodeType="withEffect">
                                  <p:stCondLst>
                                    <p:cond delay="0"/>
                                  </p:stCondLst>
                                  <p:childTnLst>
                                    <p:set>
                                      <p:cBhvr>
                                        <p:cTn id="44" dur="1" fill="hold">
                                          <p:stCondLst>
                                            <p:cond delay="0"/>
                                          </p:stCondLst>
                                        </p:cTn>
                                        <p:tgtEl>
                                          <p:spTgt spid="428"/>
                                        </p:tgtEl>
                                        <p:attrNameLst>
                                          <p:attrName>style.visibility</p:attrName>
                                        </p:attrNameLst>
                                      </p:cBhvr>
                                      <p:to>
                                        <p:strVal val="visible"/>
                                      </p:to>
                                    </p:set>
                                    <p:animEffect transition="in" filter="fade">
                                      <p:cBhvr>
                                        <p:cTn id="45" dur="1000"/>
                                        <p:tgtEl>
                                          <p:spTgt spid="428"/>
                                        </p:tgtEl>
                                      </p:cBhvr>
                                    </p:animEffect>
                                  </p:childTnLst>
                                </p:cTn>
                              </p:par>
                              <p:par>
                                <p:cTn id="46" presetID="10" presetClass="entr" presetSubtype="0" fill="hold" nodeType="withEffect">
                                  <p:stCondLst>
                                    <p:cond delay="0"/>
                                  </p:stCondLst>
                                  <p:childTnLst>
                                    <p:set>
                                      <p:cBhvr>
                                        <p:cTn id="47" dur="1" fill="hold">
                                          <p:stCondLst>
                                            <p:cond delay="0"/>
                                          </p:stCondLst>
                                        </p:cTn>
                                        <p:tgtEl>
                                          <p:spTgt spid="429"/>
                                        </p:tgtEl>
                                        <p:attrNameLst>
                                          <p:attrName>style.visibility</p:attrName>
                                        </p:attrNameLst>
                                      </p:cBhvr>
                                      <p:to>
                                        <p:strVal val="visible"/>
                                      </p:to>
                                    </p:set>
                                    <p:animEffect transition="in" filter="fade">
                                      <p:cBhvr>
                                        <p:cTn id="48" dur="1000"/>
                                        <p:tgtEl>
                                          <p:spTgt spid="429"/>
                                        </p:tgtEl>
                                      </p:cBhvr>
                                    </p:animEffect>
                                  </p:childTnLst>
                                </p:cTn>
                              </p:par>
                              <p:par>
                                <p:cTn id="49" presetID="10" presetClass="entr" presetSubtype="0" fill="hold" nodeType="withEffect">
                                  <p:stCondLst>
                                    <p:cond delay="0"/>
                                  </p:stCondLst>
                                  <p:childTnLst>
                                    <p:set>
                                      <p:cBhvr>
                                        <p:cTn id="50" dur="1" fill="hold">
                                          <p:stCondLst>
                                            <p:cond delay="0"/>
                                          </p:stCondLst>
                                        </p:cTn>
                                        <p:tgtEl>
                                          <p:spTgt spid="430"/>
                                        </p:tgtEl>
                                        <p:attrNameLst>
                                          <p:attrName>style.visibility</p:attrName>
                                        </p:attrNameLst>
                                      </p:cBhvr>
                                      <p:to>
                                        <p:strVal val="visible"/>
                                      </p:to>
                                    </p:set>
                                    <p:animEffect transition="in" filter="fade">
                                      <p:cBhvr>
                                        <p:cTn id="51" dur="1000"/>
                                        <p:tgtEl>
                                          <p:spTgt spid="430"/>
                                        </p:tgtEl>
                                      </p:cBhvr>
                                    </p:animEffect>
                                  </p:childTnLst>
                                </p:cTn>
                              </p:par>
                              <p:par>
                                <p:cTn id="52" presetID="10" presetClass="entr" presetSubtype="0" fill="hold" nodeType="withEffect">
                                  <p:stCondLst>
                                    <p:cond delay="0"/>
                                  </p:stCondLst>
                                  <p:childTnLst>
                                    <p:set>
                                      <p:cBhvr>
                                        <p:cTn id="53" dur="1" fill="hold">
                                          <p:stCondLst>
                                            <p:cond delay="0"/>
                                          </p:stCondLst>
                                        </p:cTn>
                                        <p:tgtEl>
                                          <p:spTgt spid="431"/>
                                        </p:tgtEl>
                                        <p:attrNameLst>
                                          <p:attrName>style.visibility</p:attrName>
                                        </p:attrNameLst>
                                      </p:cBhvr>
                                      <p:to>
                                        <p:strVal val="visible"/>
                                      </p:to>
                                    </p:set>
                                    <p:animEffect transition="in" filter="fade">
                                      <p:cBhvr>
                                        <p:cTn id="54" dur="1000"/>
                                        <p:tgtEl>
                                          <p:spTgt spid="431"/>
                                        </p:tgtEl>
                                      </p:cBhvr>
                                    </p:animEffect>
                                  </p:childTnLst>
                                </p:cTn>
                              </p:par>
                              <p:par>
                                <p:cTn id="55" presetID="10" presetClass="entr" presetSubtype="0" fill="hold" nodeType="withEffect">
                                  <p:stCondLst>
                                    <p:cond delay="0"/>
                                  </p:stCondLst>
                                  <p:childTnLst>
                                    <p:set>
                                      <p:cBhvr>
                                        <p:cTn id="56" dur="1" fill="hold">
                                          <p:stCondLst>
                                            <p:cond delay="0"/>
                                          </p:stCondLst>
                                        </p:cTn>
                                        <p:tgtEl>
                                          <p:spTgt spid="433"/>
                                        </p:tgtEl>
                                        <p:attrNameLst>
                                          <p:attrName>style.visibility</p:attrName>
                                        </p:attrNameLst>
                                      </p:cBhvr>
                                      <p:to>
                                        <p:strVal val="visible"/>
                                      </p:to>
                                    </p:set>
                                    <p:animEffect transition="in" filter="fade">
                                      <p:cBhvr>
                                        <p:cTn id="57" dur="1000"/>
                                        <p:tgtEl>
                                          <p:spTgt spid="433"/>
                                        </p:tgtEl>
                                      </p:cBhvr>
                                    </p:animEffect>
                                  </p:childTnLst>
                                </p:cTn>
                              </p:par>
                              <p:par>
                                <p:cTn id="58" presetID="10" presetClass="entr" presetSubtype="0" fill="hold" nodeType="withEffect">
                                  <p:stCondLst>
                                    <p:cond delay="0"/>
                                  </p:stCondLst>
                                  <p:childTnLst>
                                    <p:set>
                                      <p:cBhvr>
                                        <p:cTn id="59" dur="1" fill="hold">
                                          <p:stCondLst>
                                            <p:cond delay="0"/>
                                          </p:stCondLst>
                                        </p:cTn>
                                        <p:tgtEl>
                                          <p:spTgt spid="434"/>
                                        </p:tgtEl>
                                        <p:attrNameLst>
                                          <p:attrName>style.visibility</p:attrName>
                                        </p:attrNameLst>
                                      </p:cBhvr>
                                      <p:to>
                                        <p:strVal val="visible"/>
                                      </p:to>
                                    </p:set>
                                    <p:animEffect transition="in" filter="fade">
                                      <p:cBhvr>
                                        <p:cTn id="60" dur="1000"/>
                                        <p:tgtEl>
                                          <p:spTgt spid="434"/>
                                        </p:tgtEl>
                                      </p:cBhvr>
                                    </p:animEffect>
                                  </p:childTnLst>
                                </p:cTn>
                              </p:par>
                              <p:par>
                                <p:cTn id="61" presetID="10" presetClass="entr" presetSubtype="0" fill="hold" nodeType="withEffect">
                                  <p:stCondLst>
                                    <p:cond delay="0"/>
                                  </p:stCondLst>
                                  <p:childTnLst>
                                    <p:set>
                                      <p:cBhvr>
                                        <p:cTn id="62" dur="1" fill="hold">
                                          <p:stCondLst>
                                            <p:cond delay="0"/>
                                          </p:stCondLst>
                                        </p:cTn>
                                        <p:tgtEl>
                                          <p:spTgt spid="432"/>
                                        </p:tgtEl>
                                        <p:attrNameLst>
                                          <p:attrName>style.visibility</p:attrName>
                                        </p:attrNameLst>
                                      </p:cBhvr>
                                      <p:to>
                                        <p:strVal val="visible"/>
                                      </p:to>
                                    </p:set>
                                    <p:animEffect transition="in" filter="fade">
                                      <p:cBhvr>
                                        <p:cTn id="63" dur="1000"/>
                                        <p:tgtEl>
                                          <p:spTgt spid="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27"/>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720" b="1">
                <a:solidFill>
                  <a:srgbClr val="00FF00"/>
                </a:solidFill>
                <a:latin typeface="Comfortaa"/>
                <a:ea typeface="Comfortaa"/>
                <a:cs typeface="Comfortaa"/>
                <a:sym typeface="Comfortaa"/>
              </a:rPr>
              <a:t>Performance of various levels of storage</a:t>
            </a:r>
            <a:endParaRPr sz="2720" b="1">
              <a:solidFill>
                <a:srgbClr val="00FF00"/>
              </a:solidFill>
              <a:latin typeface="Comfortaa"/>
              <a:ea typeface="Comfortaa"/>
              <a:cs typeface="Comfortaa"/>
              <a:sym typeface="Comfortaa"/>
            </a:endParaRPr>
          </a:p>
        </p:txBody>
      </p:sp>
      <p:sp>
        <p:nvSpPr>
          <p:cNvPr id="460" name="Google Shape;460;p27"/>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21</a:t>
            </a:fld>
            <a:endParaRPr/>
          </a:p>
        </p:txBody>
      </p:sp>
      <p:graphicFrame>
        <p:nvGraphicFramePr>
          <p:cNvPr id="461" name="Google Shape;461;p27"/>
          <p:cNvGraphicFramePr/>
          <p:nvPr/>
        </p:nvGraphicFramePr>
        <p:xfrm>
          <a:off x="311700" y="1286550"/>
          <a:ext cx="8160750" cy="3165810"/>
        </p:xfrm>
        <a:graphic>
          <a:graphicData uri="http://schemas.openxmlformats.org/drawingml/2006/table">
            <a:tbl>
              <a:tblPr>
                <a:noFill/>
                <a:tableStyleId>{68A6A0F2-3717-4B88-AF85-82B9B6CF850D}</a:tableStyleId>
              </a:tblPr>
              <a:tblGrid>
                <a:gridCol w="1480875">
                  <a:extLst>
                    <a:ext uri="{9D8B030D-6E8A-4147-A177-3AD203B41FA5}">
                      <a16:colId xmlns:a16="http://schemas.microsoft.com/office/drawing/2014/main" val="20000"/>
                    </a:ext>
                  </a:extLst>
                </a:gridCol>
                <a:gridCol w="1239375">
                  <a:extLst>
                    <a:ext uri="{9D8B030D-6E8A-4147-A177-3AD203B41FA5}">
                      <a16:colId xmlns:a16="http://schemas.microsoft.com/office/drawing/2014/main" val="20001"/>
                    </a:ext>
                  </a:extLst>
                </a:gridCol>
                <a:gridCol w="1360125">
                  <a:extLst>
                    <a:ext uri="{9D8B030D-6E8A-4147-A177-3AD203B41FA5}">
                      <a16:colId xmlns:a16="http://schemas.microsoft.com/office/drawing/2014/main" val="20002"/>
                    </a:ext>
                  </a:extLst>
                </a:gridCol>
                <a:gridCol w="1323900">
                  <a:extLst>
                    <a:ext uri="{9D8B030D-6E8A-4147-A177-3AD203B41FA5}">
                      <a16:colId xmlns:a16="http://schemas.microsoft.com/office/drawing/2014/main" val="20003"/>
                    </a:ext>
                  </a:extLst>
                </a:gridCol>
                <a:gridCol w="1287675">
                  <a:extLst>
                    <a:ext uri="{9D8B030D-6E8A-4147-A177-3AD203B41FA5}">
                      <a16:colId xmlns:a16="http://schemas.microsoft.com/office/drawing/2014/main" val="20004"/>
                    </a:ext>
                  </a:extLst>
                </a:gridCol>
                <a:gridCol w="1468800">
                  <a:extLst>
                    <a:ext uri="{9D8B030D-6E8A-4147-A177-3AD203B41FA5}">
                      <a16:colId xmlns:a16="http://schemas.microsoft.com/office/drawing/2014/main" val="20005"/>
                    </a:ext>
                  </a:extLst>
                </a:gridCol>
              </a:tblGrid>
              <a:tr h="4457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Level</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1</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2</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3</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4</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5</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extLst>
                  <a:ext uri="{0D108BD9-81ED-4DB2-BD59-A6C34878D82A}">
                    <a16:rowId xmlns:a16="http://schemas.microsoft.com/office/drawing/2014/main" val="10000"/>
                  </a:ext>
                </a:extLst>
              </a:tr>
              <a:tr h="4457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Name</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Registers</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Cache</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Main Memory</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SSD</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Magnetic Tapes</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extLst>
                  <a:ext uri="{0D108BD9-81ED-4DB2-BD59-A6C34878D82A}">
                    <a16:rowId xmlns:a16="http://schemas.microsoft.com/office/drawing/2014/main" val="10001"/>
                  </a:ext>
                </a:extLst>
              </a:tr>
              <a:tr h="4457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Typical Size</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&lt;KB</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&lt;16MB</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&lt;64GB</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&lt;1TB</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&lt;10TB</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extLst>
                  <a:ext uri="{0D108BD9-81ED-4DB2-BD59-A6C34878D82A}">
                    <a16:rowId xmlns:a16="http://schemas.microsoft.com/office/drawing/2014/main" val="10002"/>
                  </a:ext>
                </a:extLst>
              </a:tr>
              <a:tr h="4457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Access Time  (ns)</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0.25 - 0.5</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0.5 - 25</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80 - 250</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25000 - 50000</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5000000</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extLst>
                  <a:ext uri="{0D108BD9-81ED-4DB2-BD59-A6C34878D82A}">
                    <a16:rowId xmlns:a16="http://schemas.microsoft.com/office/drawing/2014/main" val="10003"/>
                  </a:ext>
                </a:extLst>
              </a:tr>
              <a:tr h="4457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Bandwidth (MB/s)</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20,000 - 100000</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5000 - 10000</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1000 - 5000</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5000</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20 - 150</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extLst>
                  <a:ext uri="{0D108BD9-81ED-4DB2-BD59-A6C34878D82A}">
                    <a16:rowId xmlns:a16="http://schemas.microsoft.com/office/drawing/2014/main" val="10004"/>
                  </a:ext>
                </a:extLst>
              </a:tr>
              <a:tr h="4457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Managed by</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Compiler</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Hardware</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Operating System</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Operating System</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rPr>
                        <a:t>Operating System</a:t>
                      </a:r>
                      <a:endParaRPr sz="1400" u="none" strike="noStrike" cap="none">
                        <a:solidFill>
                          <a:srgbClr val="FFFF00"/>
                        </a:solidFill>
                      </a:endParaRPr>
                    </a:p>
                  </a:txBody>
                  <a:tcPr marL="91425" marR="91425" marT="91425" marB="91425" anchor="ctr">
                    <a:lnL w="28575" cap="flat" cmpd="sng">
                      <a:solidFill>
                        <a:srgbClr val="00FF00"/>
                      </a:solidFill>
                      <a:prstDash val="solid"/>
                      <a:round/>
                      <a:headEnd type="none" w="sm" len="sm"/>
                      <a:tailEnd type="none" w="sm" len="sm"/>
                    </a:lnL>
                    <a:lnR w="28575" cap="flat" cmpd="sng">
                      <a:solidFill>
                        <a:srgbClr val="00FF00"/>
                      </a:solidFill>
                      <a:prstDash val="solid"/>
                      <a:round/>
                      <a:headEnd type="none" w="sm" len="sm"/>
                      <a:tailEnd type="none" w="sm" len="sm"/>
                    </a:lnR>
                    <a:lnT w="28575" cap="flat" cmpd="sng">
                      <a:solidFill>
                        <a:srgbClr val="00FF00"/>
                      </a:solidFill>
                      <a:prstDash val="solid"/>
                      <a:round/>
                      <a:headEnd type="none" w="sm" len="sm"/>
                      <a:tailEnd type="none" w="sm" len="sm"/>
                    </a:lnT>
                    <a:lnB w="28575" cap="flat" cmpd="sng">
                      <a:solidFill>
                        <a:srgbClr val="00FF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28"/>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720" b="1">
                <a:solidFill>
                  <a:srgbClr val="00FF00"/>
                </a:solidFill>
                <a:latin typeface="Comfortaa"/>
                <a:ea typeface="Comfortaa"/>
                <a:cs typeface="Comfortaa"/>
                <a:sym typeface="Comfortaa"/>
              </a:rPr>
              <a:t>IO structure</a:t>
            </a:r>
            <a:endParaRPr sz="2720" b="1">
              <a:solidFill>
                <a:srgbClr val="00FF00"/>
              </a:solidFill>
              <a:latin typeface="Comfortaa"/>
              <a:ea typeface="Comfortaa"/>
              <a:cs typeface="Comfortaa"/>
              <a:sym typeface="Comfortaa"/>
            </a:endParaRPr>
          </a:p>
        </p:txBody>
      </p:sp>
      <p:sp>
        <p:nvSpPr>
          <p:cNvPr id="468" name="Google Shape;468;p28"/>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Clr>
                <a:srgbClr val="FFFF00"/>
              </a:buClr>
              <a:buSzPts val="1800"/>
              <a:buFont typeface="Comfortaa"/>
              <a:buChar char="●"/>
            </a:pPr>
            <a:r>
              <a:rPr lang="en" b="1">
                <a:solidFill>
                  <a:srgbClr val="FFFF00"/>
                </a:solidFill>
                <a:latin typeface="Comfortaa"/>
                <a:ea typeface="Comfortaa"/>
                <a:cs typeface="Comfortaa"/>
                <a:sym typeface="Comfortaa"/>
              </a:rPr>
              <a:t>A general purpose computer system consists of </a:t>
            </a:r>
            <a:r>
              <a:rPr lang="en" b="1">
                <a:solidFill>
                  <a:srgbClr val="00FF00"/>
                </a:solidFill>
                <a:latin typeface="Comfortaa"/>
                <a:ea typeface="Comfortaa"/>
                <a:cs typeface="Comfortaa"/>
                <a:sym typeface="Comfortaa"/>
              </a:rPr>
              <a:t>CPU and multiple device controllers</a:t>
            </a:r>
            <a:r>
              <a:rPr lang="en" b="1">
                <a:solidFill>
                  <a:srgbClr val="FFFF00"/>
                </a:solidFill>
                <a:latin typeface="Comfortaa"/>
                <a:ea typeface="Comfortaa"/>
                <a:cs typeface="Comfortaa"/>
                <a:sym typeface="Comfortaa"/>
              </a:rPr>
              <a:t> that are connected through a common bus</a:t>
            </a:r>
            <a:endParaRPr b="1">
              <a:solidFill>
                <a:srgbClr val="FFFF00"/>
              </a:solidFill>
              <a:latin typeface="Comfortaa"/>
              <a:ea typeface="Comfortaa"/>
              <a:cs typeface="Comfortaa"/>
              <a:sym typeface="Comfortaa"/>
            </a:endParaRPr>
          </a:p>
          <a:p>
            <a:pPr marL="457200" lvl="0" indent="-342900" algn="l" rtl="0">
              <a:lnSpc>
                <a:spcPct val="115000"/>
              </a:lnSpc>
              <a:spcBef>
                <a:spcPts val="0"/>
              </a:spcBef>
              <a:spcAft>
                <a:spcPts val="0"/>
              </a:spcAft>
              <a:buClr>
                <a:srgbClr val="FFFF00"/>
              </a:buClr>
              <a:buSzPts val="1800"/>
              <a:buFont typeface="Comfortaa"/>
              <a:buChar char="●"/>
            </a:pPr>
            <a:r>
              <a:rPr lang="en" b="1">
                <a:solidFill>
                  <a:srgbClr val="FFFF00"/>
                </a:solidFill>
                <a:latin typeface="Comfortaa"/>
                <a:ea typeface="Comfortaa"/>
                <a:cs typeface="Comfortaa"/>
                <a:sym typeface="Comfortaa"/>
              </a:rPr>
              <a:t>Each device controller is in charge of specific type of device.</a:t>
            </a:r>
            <a:endParaRPr b="1">
              <a:solidFill>
                <a:srgbClr val="FFFF00"/>
              </a:solidFill>
              <a:latin typeface="Comfortaa"/>
              <a:ea typeface="Comfortaa"/>
              <a:cs typeface="Comfortaa"/>
              <a:sym typeface="Comfortaa"/>
            </a:endParaRPr>
          </a:p>
          <a:p>
            <a:pPr marL="457200" lvl="0" indent="-342900" algn="l" rtl="0">
              <a:lnSpc>
                <a:spcPct val="115000"/>
              </a:lnSpc>
              <a:spcBef>
                <a:spcPts val="0"/>
              </a:spcBef>
              <a:spcAft>
                <a:spcPts val="0"/>
              </a:spcAft>
              <a:buClr>
                <a:srgbClr val="FFFF00"/>
              </a:buClr>
              <a:buSzPts val="1800"/>
              <a:buFont typeface="Comfortaa"/>
              <a:buChar char="●"/>
            </a:pPr>
            <a:r>
              <a:rPr lang="en" b="1">
                <a:solidFill>
                  <a:srgbClr val="FFFF00"/>
                </a:solidFill>
                <a:latin typeface="Comfortaa"/>
                <a:ea typeface="Comfortaa"/>
                <a:cs typeface="Comfortaa"/>
                <a:sym typeface="Comfortaa"/>
              </a:rPr>
              <a:t>More than one device may be attached.</a:t>
            </a:r>
            <a:endParaRPr b="1">
              <a:solidFill>
                <a:srgbClr val="FFFF00"/>
              </a:solidFill>
              <a:latin typeface="Comfortaa"/>
              <a:ea typeface="Comfortaa"/>
              <a:cs typeface="Comfortaa"/>
              <a:sym typeface="Comfortaa"/>
            </a:endParaRPr>
          </a:p>
          <a:p>
            <a:pPr marL="457200" lvl="0" indent="-342900" algn="l" rtl="0">
              <a:lnSpc>
                <a:spcPct val="115000"/>
              </a:lnSpc>
              <a:spcBef>
                <a:spcPts val="0"/>
              </a:spcBef>
              <a:spcAft>
                <a:spcPts val="0"/>
              </a:spcAft>
              <a:buClr>
                <a:srgbClr val="FFFF00"/>
              </a:buClr>
              <a:buSzPts val="1800"/>
              <a:buFont typeface="Comfortaa"/>
              <a:buChar char="●"/>
            </a:pPr>
            <a:r>
              <a:rPr lang="en" b="1">
                <a:solidFill>
                  <a:srgbClr val="FFFF00"/>
                </a:solidFill>
                <a:latin typeface="Comfortaa"/>
                <a:ea typeface="Comfortaa"/>
                <a:cs typeface="Comfortaa"/>
                <a:sym typeface="Comfortaa"/>
              </a:rPr>
              <a:t>A device controller maintains some local buffer storage and set of special purpose registers.</a:t>
            </a:r>
            <a:endParaRPr b="1">
              <a:solidFill>
                <a:srgbClr val="FFFF00"/>
              </a:solidFill>
              <a:latin typeface="Comfortaa"/>
              <a:ea typeface="Comfortaa"/>
              <a:cs typeface="Comfortaa"/>
              <a:sym typeface="Comfortaa"/>
            </a:endParaRPr>
          </a:p>
          <a:p>
            <a:pPr marL="457200" lvl="0" indent="-342900" algn="l" rtl="0">
              <a:lnSpc>
                <a:spcPct val="115000"/>
              </a:lnSpc>
              <a:spcBef>
                <a:spcPts val="0"/>
              </a:spcBef>
              <a:spcAft>
                <a:spcPts val="0"/>
              </a:spcAft>
              <a:buClr>
                <a:srgbClr val="FFFF00"/>
              </a:buClr>
              <a:buSzPts val="1800"/>
              <a:buFont typeface="Comfortaa"/>
              <a:buChar char="●"/>
            </a:pPr>
            <a:r>
              <a:rPr lang="en" b="1">
                <a:solidFill>
                  <a:srgbClr val="FFFF00"/>
                </a:solidFill>
                <a:latin typeface="Comfortaa"/>
                <a:ea typeface="Comfortaa"/>
                <a:cs typeface="Comfortaa"/>
                <a:sym typeface="Comfortaa"/>
              </a:rPr>
              <a:t>The device controller is responsible for moving the data between the peripheral devices that it controls and its local buffer storage.</a:t>
            </a:r>
            <a:endParaRPr b="1">
              <a:solidFill>
                <a:srgbClr val="FFFF00"/>
              </a:solidFill>
              <a:latin typeface="Comfortaa"/>
              <a:ea typeface="Comfortaa"/>
              <a:cs typeface="Comfortaa"/>
              <a:sym typeface="Comfortaa"/>
            </a:endParaRPr>
          </a:p>
          <a:p>
            <a:pPr marL="457200" lvl="0" indent="-342900" algn="l" rtl="0">
              <a:lnSpc>
                <a:spcPct val="115000"/>
              </a:lnSpc>
              <a:spcBef>
                <a:spcPts val="0"/>
              </a:spcBef>
              <a:spcAft>
                <a:spcPts val="0"/>
              </a:spcAft>
              <a:buClr>
                <a:srgbClr val="FFFF00"/>
              </a:buClr>
              <a:buSzPts val="1800"/>
              <a:buFont typeface="Comfortaa"/>
              <a:buChar char="●"/>
            </a:pPr>
            <a:r>
              <a:rPr lang="en" b="1">
                <a:solidFill>
                  <a:srgbClr val="FFFF00"/>
                </a:solidFill>
                <a:latin typeface="Comfortaa"/>
                <a:ea typeface="Comfortaa"/>
                <a:cs typeface="Comfortaa"/>
                <a:sym typeface="Comfortaa"/>
              </a:rPr>
              <a:t>Typically, OS have a device driver for each device controller</a:t>
            </a:r>
            <a:endParaRPr b="1">
              <a:solidFill>
                <a:srgbClr val="FFFF00"/>
              </a:solidFill>
              <a:latin typeface="Comfortaa"/>
              <a:ea typeface="Comfortaa"/>
              <a:cs typeface="Comfortaa"/>
              <a:sym typeface="Comfortaa"/>
            </a:endParaRPr>
          </a:p>
        </p:txBody>
      </p:sp>
      <p:sp>
        <p:nvSpPr>
          <p:cNvPr id="467" name="Google Shape;467;p28"/>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30"/>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720" b="1">
                <a:solidFill>
                  <a:srgbClr val="00FF00"/>
                </a:solidFill>
                <a:latin typeface="Comfortaa"/>
                <a:ea typeface="Comfortaa"/>
                <a:cs typeface="Comfortaa"/>
                <a:sym typeface="Comfortaa"/>
              </a:rPr>
              <a:t>Computer System Architecture</a:t>
            </a:r>
            <a:endParaRPr sz="2720" b="1">
              <a:solidFill>
                <a:srgbClr val="00FF00"/>
              </a:solidFill>
              <a:latin typeface="Comfortaa"/>
              <a:ea typeface="Comfortaa"/>
              <a:cs typeface="Comfortaa"/>
              <a:sym typeface="Comfortaa"/>
            </a:endParaRPr>
          </a:p>
        </p:txBody>
      </p:sp>
      <p:sp>
        <p:nvSpPr>
          <p:cNvPr id="496" name="Google Shape;496;p30"/>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23</a:t>
            </a:fld>
            <a:endParaRPr/>
          </a:p>
        </p:txBody>
      </p:sp>
      <p:sp>
        <p:nvSpPr>
          <p:cNvPr id="497" name="Google Shape;497;p30"/>
          <p:cNvSpPr/>
          <p:nvPr/>
        </p:nvSpPr>
        <p:spPr>
          <a:xfrm>
            <a:off x="2339400" y="1270463"/>
            <a:ext cx="2232600" cy="627900"/>
          </a:xfrm>
          <a:prstGeom prst="roundRect">
            <a:avLst>
              <a:gd name="adj" fmla="val 16667"/>
            </a:avLst>
          </a:prstGeom>
          <a:solidFill>
            <a:schemeClr val="lt1"/>
          </a:solid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Computer System Architecture</a:t>
            </a:r>
            <a:endParaRPr sz="1400" b="1" i="0" u="none" strike="noStrike" cap="none">
              <a:solidFill>
                <a:srgbClr val="FFFF00"/>
              </a:solidFill>
              <a:latin typeface="Comfortaa"/>
              <a:ea typeface="Comfortaa"/>
              <a:cs typeface="Comfortaa"/>
              <a:sym typeface="Comfortaa"/>
            </a:endParaRPr>
          </a:p>
        </p:txBody>
      </p:sp>
      <p:sp>
        <p:nvSpPr>
          <p:cNvPr id="498" name="Google Shape;498;p30"/>
          <p:cNvSpPr/>
          <p:nvPr/>
        </p:nvSpPr>
        <p:spPr>
          <a:xfrm>
            <a:off x="504975" y="2457400"/>
            <a:ext cx="1889100" cy="517800"/>
          </a:xfrm>
          <a:prstGeom prst="roundRect">
            <a:avLst>
              <a:gd name="adj" fmla="val 16667"/>
            </a:avLst>
          </a:prstGeom>
          <a:solidFill>
            <a:schemeClr val="lt1"/>
          </a:solid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Single Processor</a:t>
            </a:r>
            <a:endParaRPr sz="1400" b="1" i="0" u="none" strike="noStrike" cap="none">
              <a:solidFill>
                <a:srgbClr val="FFFF00"/>
              </a:solidFill>
              <a:latin typeface="Comfortaa"/>
              <a:ea typeface="Comfortaa"/>
              <a:cs typeface="Comfortaa"/>
              <a:sym typeface="Comfortaa"/>
            </a:endParaRPr>
          </a:p>
        </p:txBody>
      </p:sp>
      <p:sp>
        <p:nvSpPr>
          <p:cNvPr id="499" name="Google Shape;499;p30"/>
          <p:cNvSpPr/>
          <p:nvPr/>
        </p:nvSpPr>
        <p:spPr>
          <a:xfrm>
            <a:off x="4572000" y="2457400"/>
            <a:ext cx="2115600" cy="517800"/>
          </a:xfrm>
          <a:prstGeom prst="roundRect">
            <a:avLst>
              <a:gd name="adj" fmla="val 16667"/>
            </a:avLst>
          </a:prstGeom>
          <a:solidFill>
            <a:schemeClr val="lt1"/>
          </a:solid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Multi-processor</a:t>
            </a:r>
            <a:endParaRPr sz="1400" b="1" i="0" u="none" strike="noStrike" cap="none">
              <a:solidFill>
                <a:srgbClr val="FFFF00"/>
              </a:solidFill>
              <a:latin typeface="Comfortaa"/>
              <a:ea typeface="Comfortaa"/>
              <a:cs typeface="Comfortaa"/>
              <a:sym typeface="Comfortaa"/>
            </a:endParaRPr>
          </a:p>
        </p:txBody>
      </p:sp>
      <p:cxnSp>
        <p:nvCxnSpPr>
          <p:cNvPr id="500" name="Google Shape;500;p30"/>
          <p:cNvCxnSpPr/>
          <p:nvPr/>
        </p:nvCxnSpPr>
        <p:spPr>
          <a:xfrm>
            <a:off x="1438875" y="2151100"/>
            <a:ext cx="4203600" cy="0"/>
          </a:xfrm>
          <a:prstGeom prst="straightConnector1">
            <a:avLst/>
          </a:prstGeom>
          <a:noFill/>
          <a:ln w="28575" cap="flat" cmpd="sng">
            <a:solidFill>
              <a:srgbClr val="00FF00"/>
            </a:solidFill>
            <a:prstDash val="solid"/>
            <a:round/>
            <a:headEnd type="none" w="sm" len="sm"/>
            <a:tailEnd type="none" w="sm" len="sm"/>
          </a:ln>
        </p:spPr>
      </p:cxnSp>
      <p:cxnSp>
        <p:nvCxnSpPr>
          <p:cNvPr id="501" name="Google Shape;501;p30"/>
          <p:cNvCxnSpPr>
            <a:endCxn id="498" idx="0"/>
          </p:cNvCxnSpPr>
          <p:nvPr/>
        </p:nvCxnSpPr>
        <p:spPr>
          <a:xfrm>
            <a:off x="1447125" y="2151100"/>
            <a:ext cx="2400" cy="306300"/>
          </a:xfrm>
          <a:prstGeom prst="straightConnector1">
            <a:avLst/>
          </a:prstGeom>
          <a:noFill/>
          <a:ln w="28575" cap="flat" cmpd="sng">
            <a:solidFill>
              <a:srgbClr val="00FF00"/>
            </a:solidFill>
            <a:prstDash val="solid"/>
            <a:round/>
            <a:headEnd type="none" w="sm" len="sm"/>
            <a:tailEnd type="none" w="sm" len="sm"/>
          </a:ln>
        </p:spPr>
      </p:cxnSp>
      <p:cxnSp>
        <p:nvCxnSpPr>
          <p:cNvPr id="502" name="Google Shape;502;p30"/>
          <p:cNvCxnSpPr>
            <a:stCxn id="499" idx="0"/>
          </p:cNvCxnSpPr>
          <p:nvPr/>
        </p:nvCxnSpPr>
        <p:spPr>
          <a:xfrm rot="10800000">
            <a:off x="5625900" y="2151100"/>
            <a:ext cx="3900" cy="306300"/>
          </a:xfrm>
          <a:prstGeom prst="straightConnector1">
            <a:avLst/>
          </a:prstGeom>
          <a:noFill/>
          <a:ln w="28575" cap="flat" cmpd="sng">
            <a:solidFill>
              <a:srgbClr val="00FF00"/>
            </a:solidFill>
            <a:prstDash val="solid"/>
            <a:round/>
            <a:headEnd type="none" w="sm" len="sm"/>
            <a:tailEnd type="none" w="sm" len="sm"/>
          </a:ln>
        </p:spPr>
      </p:cxnSp>
      <p:cxnSp>
        <p:nvCxnSpPr>
          <p:cNvPr id="503" name="Google Shape;503;p30"/>
          <p:cNvCxnSpPr>
            <a:endCxn id="497" idx="2"/>
          </p:cNvCxnSpPr>
          <p:nvPr/>
        </p:nvCxnSpPr>
        <p:spPr>
          <a:xfrm rot="10800000">
            <a:off x="3455700" y="1898363"/>
            <a:ext cx="2100" cy="234900"/>
          </a:xfrm>
          <a:prstGeom prst="straightConnector1">
            <a:avLst/>
          </a:prstGeom>
          <a:noFill/>
          <a:ln w="28575" cap="flat" cmpd="sng">
            <a:solidFill>
              <a:srgbClr val="00FF00"/>
            </a:solidFill>
            <a:prstDash val="solid"/>
            <a:round/>
            <a:headEnd type="none" w="sm" len="sm"/>
            <a:tailEnd type="none" w="sm" len="sm"/>
          </a:ln>
        </p:spPr>
      </p:cxnSp>
      <p:cxnSp>
        <p:nvCxnSpPr>
          <p:cNvPr id="504" name="Google Shape;504;p30"/>
          <p:cNvCxnSpPr/>
          <p:nvPr/>
        </p:nvCxnSpPr>
        <p:spPr>
          <a:xfrm rot="10800000">
            <a:off x="5628750" y="2975188"/>
            <a:ext cx="2100" cy="234900"/>
          </a:xfrm>
          <a:prstGeom prst="straightConnector1">
            <a:avLst/>
          </a:prstGeom>
          <a:noFill/>
          <a:ln w="28575" cap="flat" cmpd="sng">
            <a:solidFill>
              <a:srgbClr val="00FF00"/>
            </a:solidFill>
            <a:prstDash val="solid"/>
            <a:round/>
            <a:headEnd type="none" w="sm" len="sm"/>
            <a:tailEnd type="none" w="sm" len="sm"/>
          </a:ln>
        </p:spPr>
      </p:cxnSp>
      <p:cxnSp>
        <p:nvCxnSpPr>
          <p:cNvPr id="505" name="Google Shape;505;p30"/>
          <p:cNvCxnSpPr/>
          <p:nvPr/>
        </p:nvCxnSpPr>
        <p:spPr>
          <a:xfrm>
            <a:off x="3526050" y="3210100"/>
            <a:ext cx="4203600" cy="0"/>
          </a:xfrm>
          <a:prstGeom prst="straightConnector1">
            <a:avLst/>
          </a:prstGeom>
          <a:noFill/>
          <a:ln w="28575" cap="flat" cmpd="sng">
            <a:solidFill>
              <a:srgbClr val="00FF00"/>
            </a:solidFill>
            <a:prstDash val="solid"/>
            <a:round/>
            <a:headEnd type="none" w="sm" len="sm"/>
            <a:tailEnd type="none" w="sm" len="sm"/>
          </a:ln>
        </p:spPr>
      </p:cxnSp>
      <p:cxnSp>
        <p:nvCxnSpPr>
          <p:cNvPr id="506" name="Google Shape;506;p30"/>
          <p:cNvCxnSpPr/>
          <p:nvPr/>
        </p:nvCxnSpPr>
        <p:spPr>
          <a:xfrm rot="10800000">
            <a:off x="3539625" y="3210088"/>
            <a:ext cx="2100" cy="234900"/>
          </a:xfrm>
          <a:prstGeom prst="straightConnector1">
            <a:avLst/>
          </a:prstGeom>
          <a:noFill/>
          <a:ln w="28575" cap="flat" cmpd="sng">
            <a:solidFill>
              <a:srgbClr val="00FF00"/>
            </a:solidFill>
            <a:prstDash val="solid"/>
            <a:round/>
            <a:headEnd type="none" w="sm" len="sm"/>
            <a:tailEnd type="none" w="sm" len="sm"/>
          </a:ln>
        </p:spPr>
      </p:cxnSp>
      <p:cxnSp>
        <p:nvCxnSpPr>
          <p:cNvPr id="507" name="Google Shape;507;p30"/>
          <p:cNvCxnSpPr/>
          <p:nvPr/>
        </p:nvCxnSpPr>
        <p:spPr>
          <a:xfrm rot="10800000">
            <a:off x="7717875" y="3210088"/>
            <a:ext cx="2100" cy="234900"/>
          </a:xfrm>
          <a:prstGeom prst="straightConnector1">
            <a:avLst/>
          </a:prstGeom>
          <a:noFill/>
          <a:ln w="28575" cap="flat" cmpd="sng">
            <a:solidFill>
              <a:srgbClr val="00FF00"/>
            </a:solidFill>
            <a:prstDash val="solid"/>
            <a:round/>
            <a:headEnd type="none" w="sm" len="sm"/>
            <a:tailEnd type="none" w="sm" len="sm"/>
          </a:ln>
        </p:spPr>
      </p:cxnSp>
      <p:sp>
        <p:nvSpPr>
          <p:cNvPr id="508" name="Google Shape;508;p30"/>
          <p:cNvSpPr/>
          <p:nvPr/>
        </p:nvSpPr>
        <p:spPr>
          <a:xfrm>
            <a:off x="2482875" y="3445000"/>
            <a:ext cx="2115600" cy="517800"/>
          </a:xfrm>
          <a:prstGeom prst="roundRect">
            <a:avLst>
              <a:gd name="adj" fmla="val 16667"/>
            </a:avLst>
          </a:prstGeom>
          <a:solidFill>
            <a:schemeClr val="lt1"/>
          </a:solid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Symmetric</a:t>
            </a:r>
            <a:endParaRPr sz="14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multi-processor</a:t>
            </a:r>
            <a:endParaRPr sz="1400" b="1" i="0" u="none" strike="noStrike" cap="none">
              <a:solidFill>
                <a:srgbClr val="FFFF00"/>
              </a:solidFill>
              <a:latin typeface="Comfortaa"/>
              <a:ea typeface="Comfortaa"/>
              <a:cs typeface="Comfortaa"/>
              <a:sym typeface="Comfortaa"/>
            </a:endParaRPr>
          </a:p>
        </p:txBody>
      </p:sp>
      <p:sp>
        <p:nvSpPr>
          <p:cNvPr id="509" name="Google Shape;509;p30"/>
          <p:cNvSpPr/>
          <p:nvPr/>
        </p:nvSpPr>
        <p:spPr>
          <a:xfrm>
            <a:off x="6661125" y="3445000"/>
            <a:ext cx="2115600" cy="517800"/>
          </a:xfrm>
          <a:prstGeom prst="roundRect">
            <a:avLst>
              <a:gd name="adj" fmla="val 16667"/>
            </a:avLst>
          </a:prstGeom>
          <a:solidFill>
            <a:schemeClr val="lt1"/>
          </a:solid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Asymmetric</a:t>
            </a:r>
            <a:endParaRPr sz="14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multi-processor</a:t>
            </a:r>
            <a:endParaRPr sz="1400" b="1" i="0" u="none" strike="noStrike" cap="none">
              <a:solidFill>
                <a:srgbClr val="FFFF00"/>
              </a:solidFill>
              <a:latin typeface="Comfortaa"/>
              <a:ea typeface="Comfortaa"/>
              <a:cs typeface="Comfortaa"/>
              <a:sym typeface="Comfortaa"/>
            </a:endParaRPr>
          </a:p>
        </p:txBody>
      </p:sp>
      <p:sp>
        <p:nvSpPr>
          <p:cNvPr id="510" name="Google Shape;510;p30"/>
          <p:cNvSpPr txBox="1"/>
          <p:nvPr/>
        </p:nvSpPr>
        <p:spPr>
          <a:xfrm>
            <a:off x="6294600" y="1482863"/>
            <a:ext cx="2829900" cy="1262100"/>
          </a:xfrm>
          <a:prstGeom prst="rect">
            <a:avLst/>
          </a:prstGeom>
          <a:noFill/>
          <a:ln>
            <a:noFill/>
          </a:ln>
        </p:spPr>
        <p:txBody>
          <a:bodyPr spcFirstLastPara="1" wrap="square" lIns="91425" tIns="91425" rIns="91425" bIns="91425" anchor="t" anchorCtr="0">
            <a:spAutoFit/>
          </a:bodyPr>
          <a:lstStyle/>
          <a:p>
            <a:pPr marL="457200" marR="0" lvl="0" indent="-317500" algn="l" rtl="0">
              <a:lnSpc>
                <a:spcPct val="100000"/>
              </a:lnSpc>
              <a:spcBef>
                <a:spcPts val="0"/>
              </a:spcBef>
              <a:spcAft>
                <a:spcPts val="0"/>
              </a:spcAft>
              <a:buClr>
                <a:srgbClr val="FFFF00"/>
              </a:buClr>
              <a:buSzPts val="1400"/>
              <a:buFont typeface="Comfortaa"/>
              <a:buAutoNum type="arabicPeriod"/>
            </a:pPr>
            <a:r>
              <a:rPr lang="en" sz="1400" b="1" i="0" u="none" strike="noStrike" cap="none">
                <a:solidFill>
                  <a:srgbClr val="FFFF00"/>
                </a:solidFill>
                <a:latin typeface="Comfortaa"/>
                <a:ea typeface="Comfortaa"/>
                <a:cs typeface="Comfortaa"/>
                <a:sym typeface="Comfortaa"/>
              </a:rPr>
              <a:t>Increased throughput</a:t>
            </a:r>
            <a:endParaRPr sz="1400" b="1" i="0" u="none" strike="noStrike" cap="none">
              <a:solidFill>
                <a:srgbClr val="FFFF00"/>
              </a:solidFill>
              <a:latin typeface="Comfortaa"/>
              <a:ea typeface="Comfortaa"/>
              <a:cs typeface="Comfortaa"/>
              <a:sym typeface="Comfortaa"/>
            </a:endParaRPr>
          </a:p>
          <a:p>
            <a:pPr marL="457200" marR="0" lvl="0" indent="-317500" algn="l" rtl="0">
              <a:lnSpc>
                <a:spcPct val="100000"/>
              </a:lnSpc>
              <a:spcBef>
                <a:spcPts val="0"/>
              </a:spcBef>
              <a:spcAft>
                <a:spcPts val="0"/>
              </a:spcAft>
              <a:buClr>
                <a:srgbClr val="FFFF00"/>
              </a:buClr>
              <a:buSzPts val="1400"/>
              <a:buFont typeface="Comfortaa"/>
              <a:buAutoNum type="arabicPeriod"/>
            </a:pPr>
            <a:r>
              <a:rPr lang="en" sz="1400" b="1" i="0" u="none" strike="noStrike" cap="none">
                <a:solidFill>
                  <a:srgbClr val="FFFF00"/>
                </a:solidFill>
                <a:latin typeface="Comfortaa"/>
                <a:ea typeface="Comfortaa"/>
                <a:cs typeface="Comfortaa"/>
                <a:sym typeface="Comfortaa"/>
              </a:rPr>
              <a:t>Economy of scale</a:t>
            </a:r>
            <a:endParaRPr sz="1400" b="1" i="0" u="none" strike="noStrike" cap="none">
              <a:solidFill>
                <a:srgbClr val="FFFF00"/>
              </a:solidFill>
              <a:latin typeface="Comfortaa"/>
              <a:ea typeface="Comfortaa"/>
              <a:cs typeface="Comfortaa"/>
              <a:sym typeface="Comfortaa"/>
            </a:endParaRPr>
          </a:p>
          <a:p>
            <a:pPr marL="457200" marR="0" lvl="0" indent="-317500" algn="l" rtl="0">
              <a:lnSpc>
                <a:spcPct val="100000"/>
              </a:lnSpc>
              <a:spcBef>
                <a:spcPts val="0"/>
              </a:spcBef>
              <a:spcAft>
                <a:spcPts val="0"/>
              </a:spcAft>
              <a:buClr>
                <a:srgbClr val="FFFF00"/>
              </a:buClr>
              <a:buSzPts val="1400"/>
              <a:buFont typeface="Comfortaa"/>
              <a:buAutoNum type="arabicPeriod"/>
            </a:pPr>
            <a:r>
              <a:rPr lang="en" sz="1400" b="1" i="0" u="none" strike="noStrike" cap="none">
                <a:solidFill>
                  <a:srgbClr val="FFFF00"/>
                </a:solidFill>
                <a:latin typeface="Comfortaa"/>
                <a:ea typeface="Comfortaa"/>
                <a:cs typeface="Comfortaa"/>
                <a:sym typeface="Comfortaa"/>
              </a:rPr>
              <a:t>Increased reliability - </a:t>
            </a:r>
            <a:endParaRPr sz="1400" b="1" i="0" u="none" strike="noStrike" cap="none">
              <a:solidFill>
                <a:srgbClr val="FFFF00"/>
              </a:solidFill>
              <a:latin typeface="Comfortaa"/>
              <a:ea typeface="Comfortaa"/>
              <a:cs typeface="Comfortaa"/>
              <a:sym typeface="Comfortaa"/>
            </a:endParaRPr>
          </a:p>
          <a:p>
            <a:pPr marL="45720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If one fails other performs</a:t>
            </a:r>
            <a:endParaRPr sz="1400" b="1" i="0" u="none" strike="noStrike" cap="none">
              <a:solidFill>
                <a:srgbClr val="FFFF00"/>
              </a:solidFill>
              <a:latin typeface="Comfortaa"/>
              <a:ea typeface="Comfortaa"/>
              <a:cs typeface="Comfortaa"/>
              <a:sym typeface="Comfortaa"/>
            </a:endParaRPr>
          </a:p>
        </p:txBody>
      </p:sp>
      <p:sp>
        <p:nvSpPr>
          <p:cNvPr id="511" name="Google Shape;511;p30"/>
          <p:cNvSpPr txBox="1"/>
          <p:nvPr/>
        </p:nvSpPr>
        <p:spPr>
          <a:xfrm>
            <a:off x="1884225" y="4018100"/>
            <a:ext cx="3312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Each processor perform all task</a:t>
            </a:r>
            <a:endParaRPr sz="1400" b="1" i="0" u="none" strike="noStrike" cap="none">
              <a:solidFill>
                <a:srgbClr val="FFFF00"/>
              </a:solidFill>
              <a:latin typeface="Comfortaa"/>
              <a:ea typeface="Comfortaa"/>
              <a:cs typeface="Comfortaa"/>
              <a:sym typeface="Comfortaa"/>
            </a:endParaRPr>
          </a:p>
        </p:txBody>
      </p:sp>
      <p:sp>
        <p:nvSpPr>
          <p:cNvPr id="512" name="Google Shape;512;p30"/>
          <p:cNvSpPr txBox="1"/>
          <p:nvPr/>
        </p:nvSpPr>
        <p:spPr>
          <a:xfrm>
            <a:off x="6294600" y="4005213"/>
            <a:ext cx="26232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Each processor perform </a:t>
            </a:r>
            <a:endParaRPr sz="1400" b="1" i="0" u="none" strike="noStrike" cap="none">
              <a:solidFill>
                <a:srgbClr val="FFFF00"/>
              </a:solidFill>
              <a:latin typeface="Comfortaa"/>
              <a:ea typeface="Comfortaa"/>
              <a:cs typeface="Comfortaa"/>
              <a:sym typeface="Comfortaa"/>
            </a:endParaRPr>
          </a:p>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specific task</a:t>
            </a:r>
            <a:endParaRPr sz="1400" b="1" i="0" u="none" strike="noStrike" cap="none">
              <a:solidFill>
                <a:srgbClr val="FFFF00"/>
              </a:solidFill>
              <a:latin typeface="Comfortaa"/>
              <a:ea typeface="Comfortaa"/>
              <a:cs typeface="Comfortaa"/>
              <a:sym typeface="Comforta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33"/>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Operating System Operations</a:t>
            </a:r>
            <a:endParaRPr b="1">
              <a:solidFill>
                <a:srgbClr val="00FF00"/>
              </a:solidFill>
              <a:latin typeface="Comfortaa"/>
              <a:ea typeface="Comfortaa"/>
              <a:cs typeface="Comfortaa"/>
              <a:sym typeface="Comfortaa"/>
            </a:endParaRPr>
          </a:p>
        </p:txBody>
      </p:sp>
      <p:sp>
        <p:nvSpPr>
          <p:cNvPr id="548" name="Google Shape;548;p33"/>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457200" lvl="0" indent="-368300" algn="l" rtl="0">
              <a:lnSpc>
                <a:spcPct val="115000"/>
              </a:lnSpc>
              <a:spcBef>
                <a:spcPts val="0"/>
              </a:spcBef>
              <a:spcAft>
                <a:spcPts val="0"/>
              </a:spcAft>
              <a:buClr>
                <a:srgbClr val="FFFF00"/>
              </a:buClr>
              <a:buSzPts val="2200"/>
              <a:buFont typeface="Comfortaa"/>
              <a:buAutoNum type="arabicPeriod"/>
            </a:pPr>
            <a:r>
              <a:rPr lang="en" sz="2200" b="1">
                <a:solidFill>
                  <a:srgbClr val="FFFF00"/>
                </a:solidFill>
                <a:latin typeface="Comfortaa"/>
                <a:ea typeface="Comfortaa"/>
                <a:cs typeface="Comfortaa"/>
                <a:sym typeface="Comfortaa"/>
              </a:rPr>
              <a:t>Process Management</a:t>
            </a:r>
            <a:endParaRPr sz="2200" b="1">
              <a:solidFill>
                <a:srgbClr val="FFFF00"/>
              </a:solidFill>
              <a:latin typeface="Comfortaa"/>
              <a:ea typeface="Comfortaa"/>
              <a:cs typeface="Comfortaa"/>
              <a:sym typeface="Comfortaa"/>
            </a:endParaRPr>
          </a:p>
          <a:p>
            <a:pPr marL="457200" lvl="0" indent="-368300" algn="l" rtl="0">
              <a:lnSpc>
                <a:spcPct val="115000"/>
              </a:lnSpc>
              <a:spcBef>
                <a:spcPts val="0"/>
              </a:spcBef>
              <a:spcAft>
                <a:spcPts val="0"/>
              </a:spcAft>
              <a:buClr>
                <a:srgbClr val="FFFF00"/>
              </a:buClr>
              <a:buSzPts val="2200"/>
              <a:buFont typeface="Comfortaa"/>
              <a:buAutoNum type="arabicPeriod"/>
            </a:pPr>
            <a:r>
              <a:rPr lang="en" sz="2200" b="1">
                <a:solidFill>
                  <a:srgbClr val="FFFF00"/>
                </a:solidFill>
                <a:latin typeface="Comfortaa"/>
                <a:ea typeface="Comfortaa"/>
                <a:cs typeface="Comfortaa"/>
                <a:sym typeface="Comfortaa"/>
              </a:rPr>
              <a:t>Memory Management</a:t>
            </a:r>
            <a:endParaRPr sz="2200" b="1">
              <a:solidFill>
                <a:srgbClr val="FFFF00"/>
              </a:solidFill>
              <a:latin typeface="Comfortaa"/>
              <a:ea typeface="Comfortaa"/>
              <a:cs typeface="Comfortaa"/>
              <a:sym typeface="Comfortaa"/>
            </a:endParaRPr>
          </a:p>
          <a:p>
            <a:pPr marL="457200" lvl="0" indent="-368300" algn="l" rtl="0">
              <a:lnSpc>
                <a:spcPct val="115000"/>
              </a:lnSpc>
              <a:spcBef>
                <a:spcPts val="0"/>
              </a:spcBef>
              <a:spcAft>
                <a:spcPts val="0"/>
              </a:spcAft>
              <a:buClr>
                <a:srgbClr val="FFFF00"/>
              </a:buClr>
              <a:buSzPts val="2200"/>
              <a:buFont typeface="Comfortaa"/>
              <a:buAutoNum type="arabicPeriod"/>
            </a:pPr>
            <a:r>
              <a:rPr lang="en" sz="2200" b="1">
                <a:solidFill>
                  <a:srgbClr val="FFFF00"/>
                </a:solidFill>
                <a:latin typeface="Comfortaa"/>
                <a:ea typeface="Comfortaa"/>
                <a:cs typeface="Comfortaa"/>
                <a:sym typeface="Comfortaa"/>
              </a:rPr>
              <a:t>Storage Management</a:t>
            </a:r>
            <a:endParaRPr sz="2200" b="1">
              <a:solidFill>
                <a:srgbClr val="FFFF00"/>
              </a:solidFill>
              <a:latin typeface="Comfortaa"/>
              <a:ea typeface="Comfortaa"/>
              <a:cs typeface="Comfortaa"/>
              <a:sym typeface="Comfortaa"/>
            </a:endParaRPr>
          </a:p>
          <a:p>
            <a:pPr marL="457200" lvl="0" indent="-368300" algn="l" rtl="0">
              <a:lnSpc>
                <a:spcPct val="115000"/>
              </a:lnSpc>
              <a:spcBef>
                <a:spcPts val="0"/>
              </a:spcBef>
              <a:spcAft>
                <a:spcPts val="0"/>
              </a:spcAft>
              <a:buClr>
                <a:srgbClr val="FFFF00"/>
              </a:buClr>
              <a:buSzPts val="2200"/>
              <a:buFont typeface="Comfortaa"/>
              <a:buAutoNum type="arabicPeriod"/>
            </a:pPr>
            <a:r>
              <a:rPr lang="en" sz="2200" b="1">
                <a:solidFill>
                  <a:srgbClr val="FFFF00"/>
                </a:solidFill>
                <a:latin typeface="Comfortaa"/>
                <a:ea typeface="Comfortaa"/>
                <a:cs typeface="Comfortaa"/>
                <a:sym typeface="Comfortaa"/>
              </a:rPr>
              <a:t>File management</a:t>
            </a:r>
            <a:endParaRPr sz="2200" b="1">
              <a:solidFill>
                <a:srgbClr val="FFFF00"/>
              </a:solidFill>
              <a:latin typeface="Comfortaa"/>
              <a:ea typeface="Comfortaa"/>
              <a:cs typeface="Comfortaa"/>
              <a:sym typeface="Comfortaa"/>
            </a:endParaRPr>
          </a:p>
          <a:p>
            <a:pPr marL="457200" lvl="0" indent="-368300" algn="l" rtl="0">
              <a:lnSpc>
                <a:spcPct val="115000"/>
              </a:lnSpc>
              <a:spcBef>
                <a:spcPts val="0"/>
              </a:spcBef>
              <a:spcAft>
                <a:spcPts val="0"/>
              </a:spcAft>
              <a:buClr>
                <a:srgbClr val="FFFF00"/>
              </a:buClr>
              <a:buSzPts val="2200"/>
              <a:buFont typeface="Comfortaa"/>
              <a:buAutoNum type="arabicPeriod"/>
            </a:pPr>
            <a:r>
              <a:rPr lang="en" sz="2200" b="1">
                <a:solidFill>
                  <a:srgbClr val="FFFF00"/>
                </a:solidFill>
                <a:latin typeface="Comfortaa"/>
                <a:ea typeface="Comfortaa"/>
                <a:cs typeface="Comfortaa"/>
                <a:sym typeface="Comfortaa"/>
              </a:rPr>
              <a:t>Protection and Security</a:t>
            </a:r>
            <a:endParaRPr sz="2200" b="1">
              <a:solidFill>
                <a:srgbClr val="FFFF00"/>
              </a:solidFill>
              <a:latin typeface="Comfortaa"/>
              <a:ea typeface="Comfortaa"/>
              <a:cs typeface="Comfortaa"/>
              <a:sym typeface="Comfortaa"/>
            </a:endParaRPr>
          </a:p>
        </p:txBody>
      </p:sp>
      <p:sp>
        <p:nvSpPr>
          <p:cNvPr id="549" name="Google Shape;549;p33"/>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4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34"/>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Operating System Operations</a:t>
            </a:r>
            <a:endParaRPr b="1">
              <a:solidFill>
                <a:srgbClr val="00FF00"/>
              </a:solidFill>
              <a:latin typeface="Comfortaa"/>
              <a:ea typeface="Comfortaa"/>
              <a:cs typeface="Comfortaa"/>
              <a:sym typeface="Comfortaa"/>
            </a:endParaRPr>
          </a:p>
        </p:txBody>
      </p:sp>
      <p:sp>
        <p:nvSpPr>
          <p:cNvPr id="555" name="Google Shape;555;p34"/>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457200" lvl="0" indent="-349250" algn="just" rtl="0">
              <a:lnSpc>
                <a:spcPct val="115000"/>
              </a:lnSpc>
              <a:spcBef>
                <a:spcPts val="0"/>
              </a:spcBef>
              <a:spcAft>
                <a:spcPts val="0"/>
              </a:spcAft>
              <a:buClr>
                <a:srgbClr val="00FF00"/>
              </a:buClr>
              <a:buSzPts val="1900"/>
              <a:buFont typeface="Comfortaa"/>
              <a:buAutoNum type="arabicPeriod"/>
            </a:pPr>
            <a:r>
              <a:rPr lang="en" sz="1900" b="1">
                <a:solidFill>
                  <a:srgbClr val="00FF00"/>
                </a:solidFill>
                <a:latin typeface="Comfortaa"/>
                <a:ea typeface="Comfortaa"/>
                <a:cs typeface="Comfortaa"/>
                <a:sym typeface="Comfortaa"/>
              </a:rPr>
              <a:t>Process Management</a:t>
            </a:r>
            <a:endParaRPr sz="1900" b="1">
              <a:solidFill>
                <a:srgbClr val="00FF00"/>
              </a:solidFill>
              <a:latin typeface="Comfortaa"/>
              <a:ea typeface="Comfortaa"/>
              <a:cs typeface="Comfortaa"/>
              <a:sym typeface="Comfortaa"/>
            </a:endParaRPr>
          </a:p>
          <a:p>
            <a:pPr marL="457200" lvl="0" indent="0" algn="just" rtl="0">
              <a:lnSpc>
                <a:spcPct val="115000"/>
              </a:lnSpc>
              <a:spcBef>
                <a:spcPts val="1200"/>
              </a:spcBef>
              <a:spcAft>
                <a:spcPts val="0"/>
              </a:spcAft>
              <a:buSzPts val="1800"/>
              <a:buNone/>
            </a:pPr>
            <a:r>
              <a:rPr lang="en" sz="1900" b="1">
                <a:solidFill>
                  <a:srgbClr val="FFFF00"/>
                </a:solidFill>
                <a:latin typeface="Comfortaa"/>
                <a:ea typeface="Comfortaa"/>
                <a:cs typeface="Comfortaa"/>
                <a:sym typeface="Comfortaa"/>
              </a:rPr>
              <a:t>A process is </a:t>
            </a:r>
            <a:r>
              <a:rPr lang="en" sz="1900" b="1">
                <a:solidFill>
                  <a:srgbClr val="00FF00"/>
                </a:solidFill>
                <a:latin typeface="Comfortaa"/>
                <a:ea typeface="Comfortaa"/>
                <a:cs typeface="Comfortaa"/>
                <a:sym typeface="Comfortaa"/>
              </a:rPr>
              <a:t>program under execution</a:t>
            </a:r>
            <a:r>
              <a:rPr lang="en" sz="1900" b="1">
                <a:solidFill>
                  <a:srgbClr val="FFFF00"/>
                </a:solidFill>
                <a:latin typeface="Comfortaa"/>
                <a:ea typeface="Comfortaa"/>
                <a:cs typeface="Comfortaa"/>
                <a:sym typeface="Comfortaa"/>
              </a:rPr>
              <a:t>. Program is a </a:t>
            </a:r>
            <a:r>
              <a:rPr lang="en" sz="1900" b="1">
                <a:solidFill>
                  <a:srgbClr val="00FF00"/>
                </a:solidFill>
                <a:latin typeface="Comfortaa"/>
                <a:ea typeface="Comfortaa"/>
                <a:cs typeface="Comfortaa"/>
                <a:sym typeface="Comfortaa"/>
              </a:rPr>
              <a:t>passive</a:t>
            </a:r>
            <a:r>
              <a:rPr lang="en" sz="1900" b="1">
                <a:solidFill>
                  <a:srgbClr val="FFFF00"/>
                </a:solidFill>
                <a:latin typeface="Comfortaa"/>
                <a:ea typeface="Comfortaa"/>
                <a:cs typeface="Comfortaa"/>
                <a:sym typeface="Comfortaa"/>
              </a:rPr>
              <a:t> entity and process is an </a:t>
            </a:r>
            <a:r>
              <a:rPr lang="en" sz="1900" b="1">
                <a:solidFill>
                  <a:srgbClr val="00FF00"/>
                </a:solidFill>
                <a:latin typeface="Comfortaa"/>
                <a:ea typeface="Comfortaa"/>
                <a:cs typeface="Comfortaa"/>
                <a:sym typeface="Comfortaa"/>
              </a:rPr>
              <a:t>active</a:t>
            </a:r>
            <a:r>
              <a:rPr lang="en" sz="1900" b="1">
                <a:solidFill>
                  <a:srgbClr val="FFFF00"/>
                </a:solidFill>
                <a:latin typeface="Comfortaa"/>
                <a:ea typeface="Comfortaa"/>
                <a:cs typeface="Comfortaa"/>
                <a:sym typeface="Comfortaa"/>
              </a:rPr>
              <a:t> entity.</a:t>
            </a:r>
            <a:endParaRPr sz="1900" b="1">
              <a:solidFill>
                <a:srgbClr val="FFFF00"/>
              </a:solidFill>
              <a:latin typeface="Comfortaa"/>
              <a:ea typeface="Comfortaa"/>
              <a:cs typeface="Comfortaa"/>
              <a:sym typeface="Comfortaa"/>
            </a:endParaRPr>
          </a:p>
          <a:p>
            <a:pPr marL="457200" lvl="0" indent="0" algn="just" rtl="0">
              <a:lnSpc>
                <a:spcPct val="115000"/>
              </a:lnSpc>
              <a:spcBef>
                <a:spcPts val="1200"/>
              </a:spcBef>
              <a:spcAft>
                <a:spcPts val="0"/>
              </a:spcAft>
              <a:buSzPts val="1800"/>
              <a:buNone/>
            </a:pPr>
            <a:r>
              <a:rPr lang="en" sz="1900" b="1">
                <a:solidFill>
                  <a:srgbClr val="FFFF00"/>
                </a:solidFill>
                <a:latin typeface="Comfortaa"/>
                <a:ea typeface="Comfortaa"/>
                <a:cs typeface="Comfortaa"/>
                <a:sym typeface="Comfortaa"/>
              </a:rPr>
              <a:t>Process needs resources such as CPU, memory, files, registers, i/o devices, etc. to accomplish a task</a:t>
            </a:r>
            <a:endParaRPr sz="1900" b="1">
              <a:solidFill>
                <a:srgbClr val="FFFF00"/>
              </a:solidFill>
              <a:latin typeface="Comfortaa"/>
              <a:ea typeface="Comfortaa"/>
              <a:cs typeface="Comfortaa"/>
              <a:sym typeface="Comfortaa"/>
            </a:endParaRPr>
          </a:p>
          <a:p>
            <a:pPr marL="457200" lvl="0" indent="0" algn="just" rtl="0">
              <a:lnSpc>
                <a:spcPct val="115000"/>
              </a:lnSpc>
              <a:spcBef>
                <a:spcPts val="1200"/>
              </a:spcBef>
              <a:spcAft>
                <a:spcPts val="1200"/>
              </a:spcAft>
              <a:buSzPts val="1800"/>
              <a:buNone/>
            </a:pPr>
            <a:r>
              <a:rPr lang="en" sz="1900" b="1">
                <a:solidFill>
                  <a:srgbClr val="FFFF00"/>
                </a:solidFill>
                <a:latin typeface="Comfortaa"/>
                <a:ea typeface="Comfortaa"/>
                <a:cs typeface="Comfortaa"/>
                <a:sym typeface="Comfortaa"/>
              </a:rPr>
              <a:t>Typically system has many processes some user and some operating system running concurrently on one or more CPUs</a:t>
            </a:r>
            <a:endParaRPr sz="1900" b="1">
              <a:solidFill>
                <a:srgbClr val="FFFF00"/>
              </a:solidFill>
              <a:latin typeface="Comfortaa"/>
              <a:ea typeface="Comfortaa"/>
              <a:cs typeface="Comfortaa"/>
              <a:sym typeface="Comfortaa"/>
            </a:endParaRPr>
          </a:p>
        </p:txBody>
      </p:sp>
      <p:sp>
        <p:nvSpPr>
          <p:cNvPr id="556" name="Google Shape;556;p34"/>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35"/>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Operating System Operations</a:t>
            </a:r>
            <a:endParaRPr b="1">
              <a:solidFill>
                <a:srgbClr val="00FF00"/>
              </a:solidFill>
              <a:latin typeface="Comfortaa"/>
              <a:ea typeface="Comfortaa"/>
              <a:cs typeface="Comfortaa"/>
              <a:sym typeface="Comfortaa"/>
            </a:endParaRPr>
          </a:p>
        </p:txBody>
      </p:sp>
      <p:sp>
        <p:nvSpPr>
          <p:cNvPr id="562" name="Google Shape;562;p35"/>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457200" lvl="0" indent="-368300" algn="just" rtl="0">
              <a:lnSpc>
                <a:spcPct val="115000"/>
              </a:lnSpc>
              <a:spcBef>
                <a:spcPts val="0"/>
              </a:spcBef>
              <a:spcAft>
                <a:spcPts val="0"/>
              </a:spcAft>
              <a:buClr>
                <a:srgbClr val="00FF00"/>
              </a:buClr>
              <a:buSzPts val="2200"/>
              <a:buFont typeface="Comfortaa"/>
              <a:buAutoNum type="arabicPeriod"/>
            </a:pPr>
            <a:r>
              <a:rPr lang="en" sz="2200" b="1">
                <a:solidFill>
                  <a:srgbClr val="00FF00"/>
                </a:solidFill>
                <a:latin typeface="Comfortaa"/>
                <a:ea typeface="Comfortaa"/>
                <a:cs typeface="Comfortaa"/>
                <a:sym typeface="Comfortaa"/>
              </a:rPr>
              <a:t>Process Management Activities</a:t>
            </a:r>
            <a:endParaRPr sz="2200" b="1">
              <a:solidFill>
                <a:srgbClr val="00FF00"/>
              </a:solidFill>
              <a:latin typeface="Comfortaa"/>
              <a:ea typeface="Comfortaa"/>
              <a:cs typeface="Comfortaa"/>
              <a:sym typeface="Comfortaa"/>
            </a:endParaRPr>
          </a:p>
          <a:p>
            <a:pPr marL="914400" lvl="0" indent="-368300" algn="just" rtl="0">
              <a:lnSpc>
                <a:spcPct val="115000"/>
              </a:lnSpc>
              <a:spcBef>
                <a:spcPts val="0"/>
              </a:spcBef>
              <a:spcAft>
                <a:spcPts val="0"/>
              </a:spcAft>
              <a:buClr>
                <a:srgbClr val="FFFF00"/>
              </a:buClr>
              <a:buSzPts val="2200"/>
              <a:buFont typeface="Comfortaa"/>
              <a:buChar char="●"/>
            </a:pPr>
            <a:r>
              <a:rPr lang="en" sz="2200" b="1">
                <a:solidFill>
                  <a:srgbClr val="FFFF00"/>
                </a:solidFill>
                <a:latin typeface="Comfortaa"/>
                <a:ea typeface="Comfortaa"/>
                <a:cs typeface="Comfortaa"/>
                <a:sym typeface="Comfortaa"/>
              </a:rPr>
              <a:t>Creating and deleting user and system processes</a:t>
            </a:r>
            <a:endParaRPr sz="2200" b="1">
              <a:solidFill>
                <a:srgbClr val="FFFF00"/>
              </a:solidFill>
              <a:latin typeface="Comfortaa"/>
              <a:ea typeface="Comfortaa"/>
              <a:cs typeface="Comfortaa"/>
              <a:sym typeface="Comfortaa"/>
            </a:endParaRPr>
          </a:p>
          <a:p>
            <a:pPr marL="914400" lvl="0" indent="-368300" algn="just" rtl="0">
              <a:lnSpc>
                <a:spcPct val="115000"/>
              </a:lnSpc>
              <a:spcBef>
                <a:spcPts val="0"/>
              </a:spcBef>
              <a:spcAft>
                <a:spcPts val="0"/>
              </a:spcAft>
              <a:buClr>
                <a:srgbClr val="FFFF00"/>
              </a:buClr>
              <a:buSzPts val="2200"/>
              <a:buFont typeface="Comfortaa"/>
              <a:buChar char="●"/>
            </a:pPr>
            <a:r>
              <a:rPr lang="en" sz="2200" b="1">
                <a:solidFill>
                  <a:srgbClr val="FFFF00"/>
                </a:solidFill>
                <a:latin typeface="Comfortaa"/>
                <a:ea typeface="Comfortaa"/>
                <a:cs typeface="Comfortaa"/>
                <a:sym typeface="Comfortaa"/>
              </a:rPr>
              <a:t>Suspending and resuming processes</a:t>
            </a:r>
            <a:endParaRPr sz="2200" b="1">
              <a:solidFill>
                <a:srgbClr val="FFFF00"/>
              </a:solidFill>
              <a:latin typeface="Comfortaa"/>
              <a:ea typeface="Comfortaa"/>
              <a:cs typeface="Comfortaa"/>
              <a:sym typeface="Comfortaa"/>
            </a:endParaRPr>
          </a:p>
          <a:p>
            <a:pPr marL="914400" lvl="0" indent="-368300" algn="just" rtl="0">
              <a:lnSpc>
                <a:spcPct val="115000"/>
              </a:lnSpc>
              <a:spcBef>
                <a:spcPts val="0"/>
              </a:spcBef>
              <a:spcAft>
                <a:spcPts val="0"/>
              </a:spcAft>
              <a:buClr>
                <a:srgbClr val="FFFF00"/>
              </a:buClr>
              <a:buSzPts val="2200"/>
              <a:buFont typeface="Comfortaa"/>
              <a:buChar char="●"/>
            </a:pPr>
            <a:r>
              <a:rPr lang="en" sz="2200" b="1">
                <a:solidFill>
                  <a:srgbClr val="FFFF00"/>
                </a:solidFill>
                <a:latin typeface="Comfortaa"/>
                <a:ea typeface="Comfortaa"/>
                <a:cs typeface="Comfortaa"/>
                <a:sym typeface="Comfortaa"/>
              </a:rPr>
              <a:t>Providing mechanism for process synchronization</a:t>
            </a:r>
            <a:endParaRPr sz="2200" b="1">
              <a:solidFill>
                <a:srgbClr val="FFFF00"/>
              </a:solidFill>
              <a:latin typeface="Comfortaa"/>
              <a:ea typeface="Comfortaa"/>
              <a:cs typeface="Comfortaa"/>
              <a:sym typeface="Comfortaa"/>
            </a:endParaRPr>
          </a:p>
          <a:p>
            <a:pPr marL="914400" lvl="0" indent="-368300" algn="just" rtl="0">
              <a:lnSpc>
                <a:spcPct val="115000"/>
              </a:lnSpc>
              <a:spcBef>
                <a:spcPts val="0"/>
              </a:spcBef>
              <a:spcAft>
                <a:spcPts val="0"/>
              </a:spcAft>
              <a:buClr>
                <a:srgbClr val="FFFF00"/>
              </a:buClr>
              <a:buSzPts val="2200"/>
              <a:buFont typeface="Comfortaa"/>
              <a:buChar char="●"/>
            </a:pPr>
            <a:r>
              <a:rPr lang="en" sz="2200" b="1">
                <a:solidFill>
                  <a:srgbClr val="FFFF00"/>
                </a:solidFill>
                <a:latin typeface="Comfortaa"/>
                <a:ea typeface="Comfortaa"/>
                <a:cs typeface="Comfortaa"/>
                <a:sym typeface="Comfortaa"/>
              </a:rPr>
              <a:t>Providing mechanism for process communication</a:t>
            </a:r>
            <a:endParaRPr sz="2200" b="1">
              <a:solidFill>
                <a:srgbClr val="FFFF00"/>
              </a:solidFill>
              <a:latin typeface="Comfortaa"/>
              <a:ea typeface="Comfortaa"/>
              <a:cs typeface="Comfortaa"/>
              <a:sym typeface="Comfortaa"/>
            </a:endParaRPr>
          </a:p>
          <a:p>
            <a:pPr marL="914400" lvl="0" indent="-368300" algn="just" rtl="0">
              <a:lnSpc>
                <a:spcPct val="115000"/>
              </a:lnSpc>
              <a:spcBef>
                <a:spcPts val="0"/>
              </a:spcBef>
              <a:spcAft>
                <a:spcPts val="0"/>
              </a:spcAft>
              <a:buClr>
                <a:srgbClr val="FFFF00"/>
              </a:buClr>
              <a:buSzPts val="2200"/>
              <a:buFont typeface="Comfortaa"/>
              <a:buChar char="●"/>
            </a:pPr>
            <a:r>
              <a:rPr lang="en" sz="2200" b="1">
                <a:solidFill>
                  <a:srgbClr val="FFFF00"/>
                </a:solidFill>
                <a:latin typeface="Comfortaa"/>
                <a:ea typeface="Comfortaa"/>
                <a:cs typeface="Comfortaa"/>
                <a:sym typeface="Comfortaa"/>
              </a:rPr>
              <a:t>Providing mechanism for deadlock handling</a:t>
            </a:r>
            <a:endParaRPr sz="2200" b="1">
              <a:solidFill>
                <a:srgbClr val="FFFF00"/>
              </a:solidFill>
              <a:latin typeface="Comfortaa"/>
              <a:ea typeface="Comfortaa"/>
              <a:cs typeface="Comfortaa"/>
              <a:sym typeface="Comfortaa"/>
            </a:endParaRPr>
          </a:p>
        </p:txBody>
      </p:sp>
      <p:sp>
        <p:nvSpPr>
          <p:cNvPr id="563" name="Google Shape;563;p35"/>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36"/>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Operating System Operations</a:t>
            </a:r>
            <a:endParaRPr b="1">
              <a:solidFill>
                <a:srgbClr val="00FF00"/>
              </a:solidFill>
              <a:latin typeface="Comfortaa"/>
              <a:ea typeface="Comfortaa"/>
              <a:cs typeface="Comfortaa"/>
              <a:sym typeface="Comfortaa"/>
            </a:endParaRPr>
          </a:p>
        </p:txBody>
      </p:sp>
      <p:sp>
        <p:nvSpPr>
          <p:cNvPr id="569" name="Google Shape;569;p36"/>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0"/>
              </a:spcBef>
              <a:spcAft>
                <a:spcPts val="0"/>
              </a:spcAft>
              <a:buSzPts val="1800"/>
              <a:buNone/>
            </a:pPr>
            <a:r>
              <a:rPr lang="en" sz="1900" b="1">
                <a:solidFill>
                  <a:srgbClr val="00FF00"/>
                </a:solidFill>
                <a:latin typeface="Comfortaa"/>
                <a:ea typeface="Comfortaa"/>
                <a:cs typeface="Comfortaa"/>
                <a:sym typeface="Comfortaa"/>
              </a:rPr>
              <a:t>2. Memory Management</a:t>
            </a:r>
            <a:endParaRPr sz="1900" b="1">
              <a:solidFill>
                <a:srgbClr val="00FF00"/>
              </a:solidFill>
              <a:latin typeface="Comfortaa"/>
              <a:ea typeface="Comfortaa"/>
              <a:cs typeface="Comfortaa"/>
              <a:sym typeface="Comfortaa"/>
            </a:endParaRPr>
          </a:p>
          <a:p>
            <a:pPr marL="457200" lvl="0" indent="-349250" algn="just" rtl="0">
              <a:lnSpc>
                <a:spcPct val="115000"/>
              </a:lnSpc>
              <a:spcBef>
                <a:spcPts val="1200"/>
              </a:spcBef>
              <a:spcAft>
                <a:spcPts val="0"/>
              </a:spcAft>
              <a:buClr>
                <a:srgbClr val="FFFF00"/>
              </a:buClr>
              <a:buSzPts val="1900"/>
              <a:buFont typeface="Comfortaa"/>
              <a:buChar char="●"/>
            </a:pPr>
            <a:r>
              <a:rPr lang="en" sz="1900" b="1">
                <a:solidFill>
                  <a:srgbClr val="FFFF00"/>
                </a:solidFill>
                <a:latin typeface="Comfortaa"/>
                <a:ea typeface="Comfortaa"/>
                <a:cs typeface="Comfortaa"/>
                <a:sym typeface="Comfortaa"/>
              </a:rPr>
              <a:t>To execute a program all (or part) of the instruction must be in main memory</a:t>
            </a:r>
            <a:endParaRPr sz="1900" b="1">
              <a:solidFill>
                <a:srgbClr val="FFFF00"/>
              </a:solidFill>
              <a:latin typeface="Comfortaa"/>
              <a:ea typeface="Comfortaa"/>
              <a:cs typeface="Comfortaa"/>
              <a:sym typeface="Comfortaa"/>
            </a:endParaRPr>
          </a:p>
          <a:p>
            <a:pPr marL="457200" lvl="0" indent="-349250" algn="just" rtl="0">
              <a:lnSpc>
                <a:spcPct val="115000"/>
              </a:lnSpc>
              <a:spcBef>
                <a:spcPts val="0"/>
              </a:spcBef>
              <a:spcAft>
                <a:spcPts val="0"/>
              </a:spcAft>
              <a:buClr>
                <a:srgbClr val="FFFF00"/>
              </a:buClr>
              <a:buSzPts val="1900"/>
              <a:buFont typeface="Comfortaa"/>
              <a:buChar char="●"/>
            </a:pPr>
            <a:r>
              <a:rPr lang="en" sz="1900" b="1">
                <a:solidFill>
                  <a:srgbClr val="FFFF00"/>
                </a:solidFill>
                <a:latin typeface="Comfortaa"/>
                <a:ea typeface="Comfortaa"/>
                <a:cs typeface="Comfortaa"/>
                <a:sym typeface="Comfortaa"/>
              </a:rPr>
              <a:t>All (or part) of the data that is needed by the program must be in memory</a:t>
            </a:r>
            <a:endParaRPr sz="1900" b="1">
              <a:solidFill>
                <a:srgbClr val="FFFF00"/>
              </a:solidFill>
              <a:latin typeface="Comfortaa"/>
              <a:ea typeface="Comfortaa"/>
              <a:cs typeface="Comfortaa"/>
              <a:sym typeface="Comfortaa"/>
            </a:endParaRPr>
          </a:p>
          <a:p>
            <a:pPr marL="457200" lvl="0" indent="-349250" algn="just" rtl="0">
              <a:lnSpc>
                <a:spcPct val="115000"/>
              </a:lnSpc>
              <a:spcBef>
                <a:spcPts val="0"/>
              </a:spcBef>
              <a:spcAft>
                <a:spcPts val="0"/>
              </a:spcAft>
              <a:buClr>
                <a:srgbClr val="FFFF00"/>
              </a:buClr>
              <a:buSzPts val="1900"/>
              <a:buFont typeface="Comfortaa"/>
              <a:buChar char="●"/>
            </a:pPr>
            <a:r>
              <a:rPr lang="en" sz="1900" b="1">
                <a:solidFill>
                  <a:srgbClr val="FFFF00"/>
                </a:solidFill>
                <a:latin typeface="Comfortaa"/>
                <a:ea typeface="Comfortaa"/>
                <a:cs typeface="Comfortaa"/>
                <a:sym typeface="Comfortaa"/>
              </a:rPr>
              <a:t>Memory management determines what is in the memory and when to optimize CPU utilization and computer response to user</a:t>
            </a:r>
            <a:endParaRPr sz="1900" b="1">
              <a:solidFill>
                <a:srgbClr val="FFFF00"/>
              </a:solidFill>
              <a:latin typeface="Comfortaa"/>
              <a:ea typeface="Comfortaa"/>
              <a:cs typeface="Comfortaa"/>
              <a:sym typeface="Comfortaa"/>
            </a:endParaRPr>
          </a:p>
          <a:p>
            <a:pPr marL="457200" lvl="0" indent="0" algn="just" rtl="0">
              <a:lnSpc>
                <a:spcPct val="115000"/>
              </a:lnSpc>
              <a:spcBef>
                <a:spcPts val="1200"/>
              </a:spcBef>
              <a:spcAft>
                <a:spcPts val="1200"/>
              </a:spcAft>
              <a:buSzPts val="1800"/>
              <a:buNone/>
            </a:pPr>
            <a:endParaRPr sz="1900" b="1">
              <a:solidFill>
                <a:srgbClr val="FFFF00"/>
              </a:solidFill>
              <a:latin typeface="Comfortaa"/>
              <a:ea typeface="Comfortaa"/>
              <a:cs typeface="Comfortaa"/>
              <a:sym typeface="Comfortaa"/>
            </a:endParaRPr>
          </a:p>
        </p:txBody>
      </p:sp>
      <p:sp>
        <p:nvSpPr>
          <p:cNvPr id="570" name="Google Shape;570;p36"/>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37"/>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Operating System Operations</a:t>
            </a:r>
            <a:endParaRPr b="1">
              <a:solidFill>
                <a:srgbClr val="00FF00"/>
              </a:solidFill>
              <a:latin typeface="Comfortaa"/>
              <a:ea typeface="Comfortaa"/>
              <a:cs typeface="Comfortaa"/>
              <a:sym typeface="Comfortaa"/>
            </a:endParaRPr>
          </a:p>
        </p:txBody>
      </p:sp>
      <p:sp>
        <p:nvSpPr>
          <p:cNvPr id="576" name="Google Shape;576;p37"/>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0"/>
              </a:spcBef>
              <a:spcAft>
                <a:spcPts val="0"/>
              </a:spcAft>
              <a:buSzPts val="1800"/>
              <a:buNone/>
            </a:pPr>
            <a:r>
              <a:rPr lang="en" sz="1900" b="1">
                <a:solidFill>
                  <a:srgbClr val="00FF00"/>
                </a:solidFill>
                <a:latin typeface="Comfortaa"/>
                <a:ea typeface="Comfortaa"/>
                <a:cs typeface="Comfortaa"/>
                <a:sym typeface="Comfortaa"/>
              </a:rPr>
              <a:t>2. Memory Management Activities</a:t>
            </a:r>
            <a:endParaRPr sz="1900" b="1">
              <a:solidFill>
                <a:srgbClr val="00FF00"/>
              </a:solidFill>
              <a:latin typeface="Comfortaa"/>
              <a:ea typeface="Comfortaa"/>
              <a:cs typeface="Comfortaa"/>
              <a:sym typeface="Comfortaa"/>
            </a:endParaRPr>
          </a:p>
          <a:p>
            <a:pPr marL="457200" lvl="0" indent="-349250" algn="just" rtl="0">
              <a:lnSpc>
                <a:spcPct val="115000"/>
              </a:lnSpc>
              <a:spcBef>
                <a:spcPts val="1200"/>
              </a:spcBef>
              <a:spcAft>
                <a:spcPts val="0"/>
              </a:spcAft>
              <a:buClr>
                <a:srgbClr val="FFFF00"/>
              </a:buClr>
              <a:buSzPts val="1900"/>
              <a:buFont typeface="Comfortaa"/>
              <a:buChar char="●"/>
            </a:pPr>
            <a:r>
              <a:rPr lang="en" sz="1900" b="1">
                <a:solidFill>
                  <a:srgbClr val="FFFF00"/>
                </a:solidFill>
                <a:latin typeface="Comfortaa"/>
                <a:ea typeface="Comfortaa"/>
                <a:cs typeface="Comfortaa"/>
                <a:sym typeface="Comfortaa"/>
              </a:rPr>
              <a:t>Keeping track of which parts of memory are currently being used and by whom</a:t>
            </a:r>
            <a:endParaRPr sz="1900" b="1">
              <a:solidFill>
                <a:srgbClr val="FFFF00"/>
              </a:solidFill>
              <a:latin typeface="Comfortaa"/>
              <a:ea typeface="Comfortaa"/>
              <a:cs typeface="Comfortaa"/>
              <a:sym typeface="Comfortaa"/>
            </a:endParaRPr>
          </a:p>
          <a:p>
            <a:pPr marL="457200" lvl="0" indent="-349250" algn="just" rtl="0">
              <a:lnSpc>
                <a:spcPct val="115000"/>
              </a:lnSpc>
              <a:spcBef>
                <a:spcPts val="0"/>
              </a:spcBef>
              <a:spcAft>
                <a:spcPts val="0"/>
              </a:spcAft>
              <a:buClr>
                <a:srgbClr val="FFFF00"/>
              </a:buClr>
              <a:buSzPts val="1900"/>
              <a:buFont typeface="Comfortaa"/>
              <a:buChar char="●"/>
            </a:pPr>
            <a:r>
              <a:rPr lang="en" sz="1900" b="1">
                <a:solidFill>
                  <a:srgbClr val="FFFF00"/>
                </a:solidFill>
                <a:latin typeface="Comfortaa"/>
                <a:ea typeface="Comfortaa"/>
                <a:cs typeface="Comfortaa"/>
                <a:sym typeface="Comfortaa"/>
              </a:rPr>
              <a:t>Deciding which processes (or parts thereof) and data to move into and out of memory</a:t>
            </a:r>
            <a:endParaRPr sz="1900" b="1">
              <a:solidFill>
                <a:srgbClr val="FFFF00"/>
              </a:solidFill>
              <a:latin typeface="Comfortaa"/>
              <a:ea typeface="Comfortaa"/>
              <a:cs typeface="Comfortaa"/>
              <a:sym typeface="Comfortaa"/>
            </a:endParaRPr>
          </a:p>
          <a:p>
            <a:pPr marL="457200" lvl="0" indent="-349250" algn="just" rtl="0">
              <a:lnSpc>
                <a:spcPct val="115000"/>
              </a:lnSpc>
              <a:spcBef>
                <a:spcPts val="0"/>
              </a:spcBef>
              <a:spcAft>
                <a:spcPts val="0"/>
              </a:spcAft>
              <a:buClr>
                <a:srgbClr val="FFFF00"/>
              </a:buClr>
              <a:buSzPts val="1900"/>
              <a:buFont typeface="Comfortaa"/>
              <a:buChar char="●"/>
            </a:pPr>
            <a:r>
              <a:rPr lang="en" sz="1900" b="1">
                <a:solidFill>
                  <a:srgbClr val="FFFF00"/>
                </a:solidFill>
                <a:latin typeface="Comfortaa"/>
                <a:ea typeface="Comfortaa"/>
                <a:cs typeface="Comfortaa"/>
                <a:sym typeface="Comfortaa"/>
              </a:rPr>
              <a:t>Allocating and deallocating memory space as needed</a:t>
            </a:r>
            <a:endParaRPr sz="1900" b="1">
              <a:solidFill>
                <a:srgbClr val="FFFF00"/>
              </a:solidFill>
              <a:latin typeface="Comfortaa"/>
              <a:ea typeface="Comfortaa"/>
              <a:cs typeface="Comfortaa"/>
              <a:sym typeface="Comfortaa"/>
            </a:endParaRPr>
          </a:p>
          <a:p>
            <a:pPr marL="457200" lvl="0" indent="0" algn="just" rtl="0">
              <a:lnSpc>
                <a:spcPct val="115000"/>
              </a:lnSpc>
              <a:spcBef>
                <a:spcPts val="1200"/>
              </a:spcBef>
              <a:spcAft>
                <a:spcPts val="1200"/>
              </a:spcAft>
              <a:buSzPts val="1800"/>
              <a:buNone/>
            </a:pPr>
            <a:endParaRPr sz="1900" b="1">
              <a:solidFill>
                <a:srgbClr val="FFFF00"/>
              </a:solidFill>
              <a:latin typeface="Comfortaa"/>
              <a:ea typeface="Comfortaa"/>
              <a:cs typeface="Comfortaa"/>
              <a:sym typeface="Comfortaa"/>
            </a:endParaRPr>
          </a:p>
        </p:txBody>
      </p:sp>
      <p:sp>
        <p:nvSpPr>
          <p:cNvPr id="577" name="Google Shape;577;p37"/>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38"/>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Operating System Operations</a:t>
            </a:r>
            <a:endParaRPr b="1">
              <a:solidFill>
                <a:srgbClr val="00FF00"/>
              </a:solidFill>
              <a:latin typeface="Comfortaa"/>
              <a:ea typeface="Comfortaa"/>
              <a:cs typeface="Comfortaa"/>
              <a:sym typeface="Comfortaa"/>
            </a:endParaRPr>
          </a:p>
        </p:txBody>
      </p:sp>
      <p:sp>
        <p:nvSpPr>
          <p:cNvPr id="583" name="Google Shape;583;p38"/>
          <p:cNvSpPr txBox="1">
            <a:spLocks noGrp="1"/>
          </p:cNvSpPr>
          <p:nvPr>
            <p:ph type="body" idx="1"/>
          </p:nvPr>
        </p:nvSpPr>
        <p:spPr>
          <a:prstGeom prst="rect">
            <a:avLst/>
          </a:prstGeom>
          <a:noFill/>
          <a:ln>
            <a:noFill/>
          </a:ln>
        </p:spPr>
        <p:txBody>
          <a:bodyPr spcFirstLastPara="1" wrap="square" lIns="91425" tIns="91425" rIns="91425" bIns="91425" anchor="t" anchorCtr="0">
            <a:normAutofit fontScale="92500" lnSpcReduction="10000"/>
          </a:bodyPr>
          <a:lstStyle/>
          <a:p>
            <a:pPr marL="0" lvl="0" indent="0" algn="just" rtl="0">
              <a:lnSpc>
                <a:spcPct val="115000"/>
              </a:lnSpc>
              <a:spcBef>
                <a:spcPts val="0"/>
              </a:spcBef>
              <a:spcAft>
                <a:spcPts val="0"/>
              </a:spcAft>
              <a:buSzPts val="1800"/>
              <a:buNone/>
            </a:pPr>
            <a:r>
              <a:rPr lang="en" sz="1900" b="1" dirty="0">
                <a:solidFill>
                  <a:srgbClr val="00FF00"/>
                </a:solidFill>
                <a:latin typeface="Comfortaa"/>
                <a:ea typeface="Comfortaa"/>
                <a:cs typeface="Comfortaa"/>
                <a:sym typeface="Comfortaa"/>
              </a:rPr>
              <a:t>3. Storage Management </a:t>
            </a:r>
            <a:endParaRPr sz="1900" b="1" dirty="0">
              <a:solidFill>
                <a:srgbClr val="00FF00"/>
              </a:solidFill>
              <a:latin typeface="Comfortaa"/>
              <a:ea typeface="Comfortaa"/>
              <a:cs typeface="Comfortaa"/>
              <a:sym typeface="Comfortaa"/>
            </a:endParaRPr>
          </a:p>
          <a:p>
            <a:pPr marL="457200" lvl="0" indent="-349250" algn="just" rtl="0">
              <a:lnSpc>
                <a:spcPct val="115000"/>
              </a:lnSpc>
              <a:spcBef>
                <a:spcPts val="1200"/>
              </a:spcBef>
              <a:spcAft>
                <a:spcPts val="0"/>
              </a:spcAft>
              <a:buClr>
                <a:srgbClr val="FFFF00"/>
              </a:buClr>
              <a:buSzPts val="1900"/>
              <a:buFont typeface="Comfortaa"/>
              <a:buChar char="●"/>
            </a:pPr>
            <a:r>
              <a:rPr lang="en" sz="1900" b="1" dirty="0">
                <a:solidFill>
                  <a:srgbClr val="FFFF00"/>
                </a:solidFill>
                <a:latin typeface="Comfortaa"/>
                <a:ea typeface="Comfortaa"/>
                <a:cs typeface="Comfortaa"/>
                <a:sym typeface="Comfortaa"/>
              </a:rPr>
              <a:t>OS provides uniform, logical view of information storage (Don't know whether program is on hdd, memory, register, etc.)</a:t>
            </a:r>
            <a:endParaRPr sz="1900" b="1" dirty="0">
              <a:solidFill>
                <a:srgbClr val="FFFF00"/>
              </a:solidFill>
              <a:latin typeface="Comfortaa"/>
              <a:ea typeface="Comfortaa"/>
              <a:cs typeface="Comfortaa"/>
              <a:sym typeface="Comfortaa"/>
            </a:endParaRPr>
          </a:p>
          <a:p>
            <a:pPr marL="457200" lvl="0" indent="-349250" algn="just" rtl="0">
              <a:lnSpc>
                <a:spcPct val="115000"/>
              </a:lnSpc>
              <a:spcBef>
                <a:spcPts val="0"/>
              </a:spcBef>
              <a:spcAft>
                <a:spcPts val="0"/>
              </a:spcAft>
              <a:buClr>
                <a:srgbClr val="FFFF00"/>
              </a:buClr>
              <a:buSzPts val="1900"/>
              <a:buFont typeface="Comfortaa"/>
              <a:buChar char="●"/>
            </a:pPr>
            <a:r>
              <a:rPr lang="en" sz="1900" b="1" dirty="0">
                <a:solidFill>
                  <a:srgbClr val="FFFF00"/>
                </a:solidFill>
                <a:latin typeface="Comfortaa"/>
                <a:ea typeface="Comfortaa"/>
                <a:cs typeface="Comfortaa"/>
                <a:sym typeface="Comfortaa"/>
              </a:rPr>
              <a:t>Abstracts physical properties to local storage unit - file</a:t>
            </a:r>
            <a:endParaRPr sz="1900" b="1" dirty="0">
              <a:solidFill>
                <a:srgbClr val="FFFF00"/>
              </a:solidFill>
              <a:latin typeface="Comfortaa"/>
              <a:ea typeface="Comfortaa"/>
              <a:cs typeface="Comfortaa"/>
              <a:sym typeface="Comfortaa"/>
            </a:endParaRPr>
          </a:p>
          <a:p>
            <a:pPr marL="457200" lvl="0" indent="-349250" algn="just" rtl="0">
              <a:lnSpc>
                <a:spcPct val="115000"/>
              </a:lnSpc>
              <a:spcBef>
                <a:spcPts val="0"/>
              </a:spcBef>
              <a:spcAft>
                <a:spcPts val="0"/>
              </a:spcAft>
              <a:buClr>
                <a:srgbClr val="FFFF00"/>
              </a:buClr>
              <a:buSzPts val="1900"/>
              <a:buFont typeface="Comfortaa"/>
              <a:buChar char="●"/>
            </a:pPr>
            <a:r>
              <a:rPr lang="en" sz="1900" b="1" dirty="0">
                <a:solidFill>
                  <a:srgbClr val="FFFF00"/>
                </a:solidFill>
                <a:latin typeface="Comfortaa"/>
                <a:ea typeface="Comfortaa"/>
                <a:cs typeface="Comfortaa"/>
                <a:sym typeface="Comfortaa"/>
              </a:rPr>
              <a:t>Files are stored into number of different storage medium - disk, flash memory, tape, etc.</a:t>
            </a:r>
            <a:endParaRPr sz="1900" b="1" dirty="0">
              <a:solidFill>
                <a:srgbClr val="FFFF00"/>
              </a:solidFill>
              <a:latin typeface="Comfortaa"/>
              <a:ea typeface="Comfortaa"/>
              <a:cs typeface="Comfortaa"/>
              <a:sym typeface="Comfortaa"/>
            </a:endParaRPr>
          </a:p>
          <a:p>
            <a:pPr marL="457200" lvl="0" indent="-349250" algn="just" rtl="0">
              <a:lnSpc>
                <a:spcPct val="115000"/>
              </a:lnSpc>
              <a:spcBef>
                <a:spcPts val="0"/>
              </a:spcBef>
              <a:spcAft>
                <a:spcPts val="0"/>
              </a:spcAft>
              <a:buClr>
                <a:srgbClr val="FFFF00"/>
              </a:buClr>
              <a:buSzPts val="1900"/>
              <a:buFont typeface="Comfortaa"/>
              <a:buChar char="●"/>
            </a:pPr>
            <a:r>
              <a:rPr lang="en" sz="1900" b="1" dirty="0">
                <a:solidFill>
                  <a:srgbClr val="FFFF00"/>
                </a:solidFill>
                <a:latin typeface="Comfortaa"/>
                <a:ea typeface="Comfortaa"/>
                <a:cs typeface="Comfortaa"/>
                <a:sym typeface="Comfortaa"/>
              </a:rPr>
              <a:t>Each medium controlled by device driver like usb drive, disk drive, tape drive etc.</a:t>
            </a:r>
            <a:endParaRPr sz="1900" b="1" dirty="0">
              <a:solidFill>
                <a:srgbClr val="FFFF00"/>
              </a:solidFill>
              <a:latin typeface="Comfortaa"/>
              <a:ea typeface="Comfortaa"/>
              <a:cs typeface="Comfortaa"/>
              <a:sym typeface="Comfortaa"/>
            </a:endParaRPr>
          </a:p>
          <a:p>
            <a:pPr marL="457200" lvl="0" indent="-349250" algn="just" rtl="0">
              <a:lnSpc>
                <a:spcPct val="115000"/>
              </a:lnSpc>
              <a:spcBef>
                <a:spcPts val="0"/>
              </a:spcBef>
              <a:spcAft>
                <a:spcPts val="0"/>
              </a:spcAft>
              <a:buClr>
                <a:srgbClr val="FFFF00"/>
              </a:buClr>
              <a:buSzPts val="1900"/>
              <a:buFont typeface="Comfortaa"/>
              <a:buChar char="●"/>
            </a:pPr>
            <a:r>
              <a:rPr lang="en" sz="1900" b="1" dirty="0">
                <a:solidFill>
                  <a:srgbClr val="FFFF00"/>
                </a:solidFill>
                <a:latin typeface="Comfortaa"/>
                <a:ea typeface="Comfortaa"/>
                <a:cs typeface="Comfortaa"/>
                <a:sym typeface="Comfortaa"/>
              </a:rPr>
              <a:t>Each device has varying properties like access speed, capacity, data transfer rate, access method (sequential or parallel)</a:t>
            </a:r>
            <a:endParaRPr sz="1900" b="1" dirty="0">
              <a:solidFill>
                <a:srgbClr val="FFFF00"/>
              </a:solidFill>
              <a:latin typeface="Comfortaa"/>
              <a:ea typeface="Comfortaa"/>
              <a:cs typeface="Comfortaa"/>
              <a:sym typeface="Comfortaa"/>
            </a:endParaRPr>
          </a:p>
        </p:txBody>
      </p:sp>
      <p:sp>
        <p:nvSpPr>
          <p:cNvPr id="584" name="Google Shape;584;p38"/>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39"/>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Operating System Operations</a:t>
            </a:r>
            <a:endParaRPr b="1">
              <a:solidFill>
                <a:srgbClr val="00FF00"/>
              </a:solidFill>
              <a:latin typeface="Comfortaa"/>
              <a:ea typeface="Comfortaa"/>
              <a:cs typeface="Comfortaa"/>
              <a:sym typeface="Comfortaa"/>
            </a:endParaRPr>
          </a:p>
        </p:txBody>
      </p:sp>
      <p:sp>
        <p:nvSpPr>
          <p:cNvPr id="590" name="Google Shape;590;p39"/>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0"/>
              </a:spcBef>
              <a:spcAft>
                <a:spcPts val="0"/>
              </a:spcAft>
              <a:buSzPts val="1800"/>
              <a:buNone/>
            </a:pPr>
            <a:r>
              <a:rPr lang="en" sz="1700" b="1">
                <a:solidFill>
                  <a:srgbClr val="00FF00"/>
                </a:solidFill>
                <a:latin typeface="Comfortaa"/>
                <a:ea typeface="Comfortaa"/>
                <a:cs typeface="Comfortaa"/>
                <a:sym typeface="Comfortaa"/>
              </a:rPr>
              <a:t>4. Secondary Storage Management </a:t>
            </a:r>
            <a:endParaRPr sz="1700" b="1">
              <a:solidFill>
                <a:srgbClr val="00FF00"/>
              </a:solidFill>
              <a:latin typeface="Comfortaa"/>
              <a:ea typeface="Comfortaa"/>
              <a:cs typeface="Comfortaa"/>
              <a:sym typeface="Comfortaa"/>
            </a:endParaRPr>
          </a:p>
          <a:p>
            <a:pPr marL="457200" lvl="0" indent="-336550" algn="just" rtl="0">
              <a:lnSpc>
                <a:spcPct val="100000"/>
              </a:lnSpc>
              <a:spcBef>
                <a:spcPts val="1200"/>
              </a:spcBef>
              <a:spcAft>
                <a:spcPts val="0"/>
              </a:spcAft>
              <a:buClr>
                <a:srgbClr val="FFFF00"/>
              </a:buClr>
              <a:buSzPts val="1700"/>
              <a:buFont typeface="Comfortaa"/>
              <a:buChar char="-"/>
            </a:pPr>
            <a:r>
              <a:rPr lang="en" sz="1700" b="1">
                <a:solidFill>
                  <a:srgbClr val="FFFF00"/>
                </a:solidFill>
                <a:latin typeface="Comfortaa"/>
                <a:ea typeface="Comfortaa"/>
                <a:cs typeface="Comfortaa"/>
                <a:sym typeface="Comfortaa"/>
              </a:rPr>
              <a:t>Usually disks used to store data that does not fit into main memory</a:t>
            </a:r>
            <a:endParaRPr sz="1700" b="1">
              <a:solidFill>
                <a:srgbClr val="FFFF00"/>
              </a:solidFill>
              <a:latin typeface="Comfortaa"/>
              <a:ea typeface="Comfortaa"/>
              <a:cs typeface="Comfortaa"/>
              <a:sym typeface="Comfortaa"/>
            </a:endParaRPr>
          </a:p>
          <a:p>
            <a:pPr marL="0" lvl="0" indent="0" algn="just" rtl="0">
              <a:lnSpc>
                <a:spcPct val="100000"/>
              </a:lnSpc>
              <a:spcBef>
                <a:spcPts val="1200"/>
              </a:spcBef>
              <a:spcAft>
                <a:spcPts val="0"/>
              </a:spcAft>
              <a:buSzPts val="1800"/>
              <a:buNone/>
            </a:pPr>
            <a:r>
              <a:rPr lang="en" sz="1700" b="1">
                <a:solidFill>
                  <a:srgbClr val="FFFF00"/>
                </a:solidFill>
                <a:latin typeface="Comfortaa"/>
                <a:ea typeface="Comfortaa"/>
                <a:cs typeface="Comfortaa"/>
                <a:sym typeface="Comfortaa"/>
              </a:rPr>
              <a:t>       Or the data that must be kept for long period of time.</a:t>
            </a:r>
            <a:endParaRPr sz="1700" b="1">
              <a:solidFill>
                <a:srgbClr val="FFFF00"/>
              </a:solidFill>
              <a:latin typeface="Comfortaa"/>
              <a:ea typeface="Comfortaa"/>
              <a:cs typeface="Comfortaa"/>
              <a:sym typeface="Comfortaa"/>
            </a:endParaRPr>
          </a:p>
          <a:p>
            <a:pPr marL="457200" lvl="0" indent="-336550" algn="just" rtl="0">
              <a:lnSpc>
                <a:spcPct val="100000"/>
              </a:lnSpc>
              <a:spcBef>
                <a:spcPts val="1200"/>
              </a:spcBef>
              <a:spcAft>
                <a:spcPts val="0"/>
              </a:spcAft>
              <a:buClr>
                <a:srgbClr val="FFFF00"/>
              </a:buClr>
              <a:buSzPts val="1700"/>
              <a:buFont typeface="Comfortaa"/>
              <a:buChar char="-"/>
            </a:pPr>
            <a:r>
              <a:rPr lang="en" sz="1700" b="1">
                <a:solidFill>
                  <a:srgbClr val="FFFF00"/>
                </a:solidFill>
                <a:latin typeface="Comfortaa"/>
                <a:ea typeface="Comfortaa"/>
                <a:cs typeface="Comfortaa"/>
                <a:sym typeface="Comfortaa"/>
              </a:rPr>
              <a:t>Entire speed of computer operation hinges on disk subsystem and its algorithms</a:t>
            </a:r>
            <a:endParaRPr sz="1700" b="1">
              <a:solidFill>
                <a:srgbClr val="FFFF00"/>
              </a:solidFill>
              <a:latin typeface="Comfortaa"/>
              <a:ea typeface="Comfortaa"/>
              <a:cs typeface="Comfortaa"/>
              <a:sym typeface="Comfortaa"/>
            </a:endParaRPr>
          </a:p>
          <a:p>
            <a:pPr marL="457200" lvl="0" indent="-336550" algn="just" rtl="0">
              <a:lnSpc>
                <a:spcPct val="115000"/>
              </a:lnSpc>
              <a:spcBef>
                <a:spcPts val="0"/>
              </a:spcBef>
              <a:spcAft>
                <a:spcPts val="0"/>
              </a:spcAft>
              <a:buSzPts val="1700"/>
              <a:buFont typeface="Comfortaa"/>
              <a:buChar char="●"/>
            </a:pPr>
            <a:r>
              <a:rPr lang="en" sz="1700" b="1">
                <a:solidFill>
                  <a:srgbClr val="00FF00"/>
                </a:solidFill>
                <a:latin typeface="Comfortaa"/>
                <a:ea typeface="Comfortaa"/>
                <a:cs typeface="Comfortaa"/>
                <a:sym typeface="Comfortaa"/>
              </a:rPr>
              <a:t>OS activities</a:t>
            </a:r>
            <a:r>
              <a:rPr lang="en" sz="1700" b="1">
                <a:solidFill>
                  <a:srgbClr val="FFFF00"/>
                </a:solidFill>
                <a:latin typeface="Comfortaa"/>
                <a:ea typeface="Comfortaa"/>
                <a:cs typeface="Comfortaa"/>
                <a:sym typeface="Comfortaa"/>
              </a:rPr>
              <a:t> </a:t>
            </a:r>
            <a:endParaRPr sz="1700" b="1">
              <a:solidFill>
                <a:srgbClr val="FFFF00"/>
              </a:solidFill>
              <a:latin typeface="Comfortaa"/>
              <a:ea typeface="Comfortaa"/>
              <a:cs typeface="Comfortaa"/>
              <a:sym typeface="Comfortaa"/>
            </a:endParaRPr>
          </a:p>
          <a:p>
            <a:pPr marL="457200" lvl="0" indent="-336550" algn="just" rtl="0">
              <a:lnSpc>
                <a:spcPct val="115000"/>
              </a:lnSpc>
              <a:spcBef>
                <a:spcPts val="0"/>
              </a:spcBef>
              <a:spcAft>
                <a:spcPts val="0"/>
              </a:spcAft>
              <a:buClr>
                <a:srgbClr val="FFFF00"/>
              </a:buClr>
              <a:buSzPts val="1700"/>
              <a:buFont typeface="Comfortaa"/>
              <a:buAutoNum type="arabicPeriod"/>
            </a:pPr>
            <a:r>
              <a:rPr lang="en" sz="1700" b="1">
                <a:solidFill>
                  <a:srgbClr val="FFFF00"/>
                </a:solidFill>
                <a:latin typeface="Comfortaa"/>
                <a:ea typeface="Comfortaa"/>
                <a:cs typeface="Comfortaa"/>
                <a:sym typeface="Comfortaa"/>
              </a:rPr>
              <a:t>Free space management</a:t>
            </a:r>
            <a:endParaRPr sz="1700" b="1">
              <a:solidFill>
                <a:srgbClr val="FFFF00"/>
              </a:solidFill>
              <a:latin typeface="Comfortaa"/>
              <a:ea typeface="Comfortaa"/>
              <a:cs typeface="Comfortaa"/>
              <a:sym typeface="Comfortaa"/>
            </a:endParaRPr>
          </a:p>
          <a:p>
            <a:pPr marL="457200" lvl="0" indent="-336550" algn="just" rtl="0">
              <a:lnSpc>
                <a:spcPct val="115000"/>
              </a:lnSpc>
              <a:spcBef>
                <a:spcPts val="0"/>
              </a:spcBef>
              <a:spcAft>
                <a:spcPts val="0"/>
              </a:spcAft>
              <a:buClr>
                <a:srgbClr val="FFFF00"/>
              </a:buClr>
              <a:buSzPts val="1700"/>
              <a:buFont typeface="Comfortaa"/>
              <a:buAutoNum type="arabicPeriod"/>
            </a:pPr>
            <a:r>
              <a:rPr lang="en" sz="1700" b="1">
                <a:solidFill>
                  <a:srgbClr val="FFFF00"/>
                </a:solidFill>
                <a:latin typeface="Comfortaa"/>
                <a:ea typeface="Comfortaa"/>
                <a:cs typeface="Comfortaa"/>
                <a:sym typeface="Comfortaa"/>
              </a:rPr>
              <a:t>Storage allocation</a:t>
            </a:r>
            <a:endParaRPr sz="1700" b="1">
              <a:solidFill>
                <a:srgbClr val="FFFF00"/>
              </a:solidFill>
              <a:latin typeface="Comfortaa"/>
              <a:ea typeface="Comfortaa"/>
              <a:cs typeface="Comfortaa"/>
              <a:sym typeface="Comfortaa"/>
            </a:endParaRPr>
          </a:p>
          <a:p>
            <a:pPr marL="457200" lvl="0" indent="-336550" algn="just" rtl="0">
              <a:lnSpc>
                <a:spcPct val="115000"/>
              </a:lnSpc>
              <a:spcBef>
                <a:spcPts val="0"/>
              </a:spcBef>
              <a:spcAft>
                <a:spcPts val="0"/>
              </a:spcAft>
              <a:buClr>
                <a:srgbClr val="FFFF00"/>
              </a:buClr>
              <a:buSzPts val="1700"/>
              <a:buFont typeface="Comfortaa"/>
              <a:buAutoNum type="arabicPeriod"/>
            </a:pPr>
            <a:r>
              <a:rPr lang="en" sz="1700" b="1">
                <a:solidFill>
                  <a:srgbClr val="FFFF00"/>
                </a:solidFill>
                <a:latin typeface="Comfortaa"/>
                <a:ea typeface="Comfortaa"/>
                <a:cs typeface="Comfortaa"/>
                <a:sym typeface="Comfortaa"/>
              </a:rPr>
              <a:t>Disk Scheduling</a:t>
            </a:r>
            <a:endParaRPr sz="1700" b="1">
              <a:solidFill>
                <a:srgbClr val="FFFF00"/>
              </a:solidFill>
              <a:latin typeface="Comfortaa"/>
              <a:ea typeface="Comfortaa"/>
              <a:cs typeface="Comfortaa"/>
              <a:sym typeface="Comfortaa"/>
            </a:endParaRPr>
          </a:p>
        </p:txBody>
      </p:sp>
      <p:sp>
        <p:nvSpPr>
          <p:cNvPr id="591" name="Google Shape;591;p39"/>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40"/>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Operating System Operations</a:t>
            </a:r>
            <a:endParaRPr b="1">
              <a:solidFill>
                <a:srgbClr val="00FF00"/>
              </a:solidFill>
              <a:latin typeface="Comfortaa"/>
              <a:ea typeface="Comfortaa"/>
              <a:cs typeface="Comfortaa"/>
              <a:sym typeface="Comfortaa"/>
            </a:endParaRPr>
          </a:p>
        </p:txBody>
      </p:sp>
      <p:sp>
        <p:nvSpPr>
          <p:cNvPr id="597" name="Google Shape;597;p40"/>
          <p:cNvSpPr txBox="1">
            <a:spLocks noGrp="1"/>
          </p:cNvSpPr>
          <p:nvPr>
            <p:ph type="body" idx="1"/>
          </p:nvPr>
        </p:nvSpPr>
        <p:spPr>
          <a:prstGeom prst="rect">
            <a:avLst/>
          </a:prstGeom>
          <a:noFill/>
          <a:ln>
            <a:noFill/>
          </a:ln>
        </p:spPr>
        <p:txBody>
          <a:bodyPr spcFirstLastPara="1" wrap="square" lIns="91425" tIns="91425" rIns="91425" bIns="91425" anchor="t" anchorCtr="0">
            <a:normAutofit lnSpcReduction="10000"/>
          </a:bodyPr>
          <a:lstStyle/>
          <a:p>
            <a:pPr marL="0" lvl="0" indent="0" algn="just" rtl="0">
              <a:lnSpc>
                <a:spcPct val="115000"/>
              </a:lnSpc>
              <a:spcBef>
                <a:spcPts val="0"/>
              </a:spcBef>
              <a:spcAft>
                <a:spcPts val="0"/>
              </a:spcAft>
              <a:buSzPts val="1800"/>
              <a:buNone/>
            </a:pPr>
            <a:r>
              <a:rPr lang="en" sz="1900" b="1">
                <a:solidFill>
                  <a:srgbClr val="00FF00"/>
                </a:solidFill>
                <a:latin typeface="Comfortaa"/>
                <a:ea typeface="Comfortaa"/>
                <a:cs typeface="Comfortaa"/>
                <a:sym typeface="Comfortaa"/>
              </a:rPr>
              <a:t>5. File System Management </a:t>
            </a:r>
            <a:endParaRPr sz="1900" b="1">
              <a:solidFill>
                <a:srgbClr val="00FF00"/>
              </a:solidFill>
              <a:latin typeface="Comfortaa"/>
              <a:ea typeface="Comfortaa"/>
              <a:cs typeface="Comfortaa"/>
              <a:sym typeface="Comfortaa"/>
            </a:endParaRPr>
          </a:p>
          <a:p>
            <a:pPr marL="457200" lvl="0" indent="-349250" algn="just" rtl="0">
              <a:lnSpc>
                <a:spcPct val="115000"/>
              </a:lnSpc>
              <a:spcBef>
                <a:spcPts val="1200"/>
              </a:spcBef>
              <a:spcAft>
                <a:spcPts val="0"/>
              </a:spcAft>
              <a:buClr>
                <a:srgbClr val="FFFF00"/>
              </a:buClr>
              <a:buSzPts val="1900"/>
              <a:buFont typeface="Comfortaa"/>
              <a:buChar char="●"/>
            </a:pPr>
            <a:r>
              <a:rPr lang="en" sz="1900" b="1">
                <a:solidFill>
                  <a:srgbClr val="FFFF00"/>
                </a:solidFill>
                <a:latin typeface="Comfortaa"/>
                <a:ea typeface="Comfortaa"/>
                <a:cs typeface="Comfortaa"/>
                <a:sym typeface="Comfortaa"/>
              </a:rPr>
              <a:t>Files usually organized into directories.</a:t>
            </a:r>
            <a:endParaRPr sz="1900" b="1">
              <a:solidFill>
                <a:srgbClr val="FFFF00"/>
              </a:solidFill>
              <a:latin typeface="Comfortaa"/>
              <a:ea typeface="Comfortaa"/>
              <a:cs typeface="Comfortaa"/>
              <a:sym typeface="Comfortaa"/>
            </a:endParaRPr>
          </a:p>
          <a:p>
            <a:pPr marL="457200" lvl="0" indent="-349250" algn="just" rtl="0">
              <a:lnSpc>
                <a:spcPct val="115000"/>
              </a:lnSpc>
              <a:spcBef>
                <a:spcPts val="0"/>
              </a:spcBef>
              <a:spcAft>
                <a:spcPts val="0"/>
              </a:spcAft>
              <a:buClr>
                <a:srgbClr val="FFFF00"/>
              </a:buClr>
              <a:buSzPts val="1900"/>
              <a:buFont typeface="Comfortaa"/>
              <a:buChar char="●"/>
            </a:pPr>
            <a:r>
              <a:rPr lang="en" sz="1900" b="1">
                <a:solidFill>
                  <a:srgbClr val="FFFF00"/>
                </a:solidFill>
                <a:latin typeface="Comfortaa"/>
                <a:ea typeface="Comfortaa"/>
                <a:cs typeface="Comfortaa"/>
                <a:sym typeface="Comfortaa"/>
              </a:rPr>
              <a:t>Access control on most systems to determine who can access what</a:t>
            </a:r>
            <a:endParaRPr sz="1900" b="1">
              <a:solidFill>
                <a:srgbClr val="FFFF00"/>
              </a:solidFill>
              <a:latin typeface="Comfortaa"/>
              <a:ea typeface="Comfortaa"/>
              <a:cs typeface="Comfortaa"/>
              <a:sym typeface="Comfortaa"/>
            </a:endParaRPr>
          </a:p>
          <a:p>
            <a:pPr marL="457200" lvl="0" indent="0" algn="just" rtl="0">
              <a:lnSpc>
                <a:spcPct val="115000"/>
              </a:lnSpc>
              <a:spcBef>
                <a:spcPts val="1200"/>
              </a:spcBef>
              <a:spcAft>
                <a:spcPts val="0"/>
              </a:spcAft>
              <a:buSzPts val="1800"/>
              <a:buNone/>
            </a:pPr>
            <a:r>
              <a:rPr lang="en" sz="1900" b="1">
                <a:solidFill>
                  <a:srgbClr val="00FF00"/>
                </a:solidFill>
                <a:latin typeface="Comfortaa"/>
                <a:ea typeface="Comfortaa"/>
                <a:cs typeface="Comfortaa"/>
                <a:sym typeface="Comfortaa"/>
              </a:rPr>
              <a:t>OS activities include</a:t>
            </a:r>
            <a:endParaRPr sz="1900" b="1">
              <a:solidFill>
                <a:srgbClr val="00FF00"/>
              </a:solidFill>
              <a:latin typeface="Comfortaa"/>
              <a:ea typeface="Comfortaa"/>
              <a:cs typeface="Comfortaa"/>
              <a:sym typeface="Comfortaa"/>
            </a:endParaRPr>
          </a:p>
          <a:p>
            <a:pPr marL="457200" lvl="0" indent="-349250" algn="just" rtl="0">
              <a:lnSpc>
                <a:spcPct val="115000"/>
              </a:lnSpc>
              <a:spcBef>
                <a:spcPts val="1200"/>
              </a:spcBef>
              <a:spcAft>
                <a:spcPts val="0"/>
              </a:spcAft>
              <a:buClr>
                <a:srgbClr val="FFFF00"/>
              </a:buClr>
              <a:buSzPts val="1900"/>
              <a:buFont typeface="Comfortaa"/>
              <a:buAutoNum type="arabicPeriod"/>
            </a:pPr>
            <a:r>
              <a:rPr lang="en" sz="1900" b="1">
                <a:solidFill>
                  <a:srgbClr val="FFFF00"/>
                </a:solidFill>
                <a:latin typeface="Comfortaa"/>
                <a:ea typeface="Comfortaa"/>
                <a:cs typeface="Comfortaa"/>
                <a:sym typeface="Comfortaa"/>
              </a:rPr>
              <a:t>Creating and deleting file and directories</a:t>
            </a:r>
            <a:endParaRPr sz="1900" b="1">
              <a:solidFill>
                <a:srgbClr val="FFFF00"/>
              </a:solidFill>
              <a:latin typeface="Comfortaa"/>
              <a:ea typeface="Comfortaa"/>
              <a:cs typeface="Comfortaa"/>
              <a:sym typeface="Comfortaa"/>
            </a:endParaRPr>
          </a:p>
          <a:p>
            <a:pPr marL="457200" lvl="0" indent="-349250" algn="just" rtl="0">
              <a:lnSpc>
                <a:spcPct val="115000"/>
              </a:lnSpc>
              <a:spcBef>
                <a:spcPts val="0"/>
              </a:spcBef>
              <a:spcAft>
                <a:spcPts val="0"/>
              </a:spcAft>
              <a:buClr>
                <a:srgbClr val="FFFF00"/>
              </a:buClr>
              <a:buSzPts val="1900"/>
              <a:buFont typeface="Comfortaa"/>
              <a:buAutoNum type="arabicPeriod"/>
            </a:pPr>
            <a:r>
              <a:rPr lang="en" sz="1900" b="1">
                <a:solidFill>
                  <a:srgbClr val="FFFF00"/>
                </a:solidFill>
                <a:latin typeface="Comfortaa"/>
                <a:ea typeface="Comfortaa"/>
                <a:cs typeface="Comfortaa"/>
                <a:sym typeface="Comfortaa"/>
              </a:rPr>
              <a:t>Primitives to manipulate files and directories</a:t>
            </a:r>
            <a:endParaRPr sz="1900" b="1">
              <a:solidFill>
                <a:srgbClr val="FFFF00"/>
              </a:solidFill>
              <a:latin typeface="Comfortaa"/>
              <a:ea typeface="Comfortaa"/>
              <a:cs typeface="Comfortaa"/>
              <a:sym typeface="Comfortaa"/>
            </a:endParaRPr>
          </a:p>
          <a:p>
            <a:pPr marL="457200" lvl="0" indent="-349250" algn="just" rtl="0">
              <a:lnSpc>
                <a:spcPct val="115000"/>
              </a:lnSpc>
              <a:spcBef>
                <a:spcPts val="0"/>
              </a:spcBef>
              <a:spcAft>
                <a:spcPts val="0"/>
              </a:spcAft>
              <a:buClr>
                <a:srgbClr val="FFFF00"/>
              </a:buClr>
              <a:buSzPts val="1900"/>
              <a:buFont typeface="Comfortaa"/>
              <a:buAutoNum type="arabicPeriod"/>
            </a:pPr>
            <a:r>
              <a:rPr lang="en" sz="1900" b="1">
                <a:solidFill>
                  <a:srgbClr val="FFFF00"/>
                </a:solidFill>
                <a:latin typeface="Comfortaa"/>
                <a:ea typeface="Comfortaa"/>
                <a:cs typeface="Comfortaa"/>
                <a:sym typeface="Comfortaa"/>
              </a:rPr>
              <a:t>Mapping files onto secondary storage</a:t>
            </a:r>
            <a:endParaRPr sz="1900" b="1">
              <a:solidFill>
                <a:srgbClr val="FFFF00"/>
              </a:solidFill>
              <a:latin typeface="Comfortaa"/>
              <a:ea typeface="Comfortaa"/>
              <a:cs typeface="Comfortaa"/>
              <a:sym typeface="Comfortaa"/>
            </a:endParaRPr>
          </a:p>
          <a:p>
            <a:pPr marL="457200" lvl="0" indent="-349250" algn="just" rtl="0">
              <a:lnSpc>
                <a:spcPct val="115000"/>
              </a:lnSpc>
              <a:spcBef>
                <a:spcPts val="0"/>
              </a:spcBef>
              <a:spcAft>
                <a:spcPts val="0"/>
              </a:spcAft>
              <a:buClr>
                <a:srgbClr val="FFFF00"/>
              </a:buClr>
              <a:buSzPts val="1900"/>
              <a:buFont typeface="Comfortaa"/>
              <a:buAutoNum type="arabicPeriod"/>
            </a:pPr>
            <a:r>
              <a:rPr lang="en" sz="1900" b="1">
                <a:solidFill>
                  <a:srgbClr val="FFFF00"/>
                </a:solidFill>
                <a:latin typeface="Comfortaa"/>
                <a:ea typeface="Comfortaa"/>
                <a:cs typeface="Comfortaa"/>
                <a:sym typeface="Comfortaa"/>
              </a:rPr>
              <a:t>Backup files onto stable (non-volatile) storage media</a:t>
            </a:r>
            <a:endParaRPr sz="1900" b="1">
              <a:solidFill>
                <a:srgbClr val="FFFF00"/>
              </a:solidFill>
              <a:latin typeface="Comfortaa"/>
              <a:ea typeface="Comfortaa"/>
              <a:cs typeface="Comfortaa"/>
              <a:sym typeface="Comfortaa"/>
            </a:endParaRPr>
          </a:p>
        </p:txBody>
      </p:sp>
      <p:sp>
        <p:nvSpPr>
          <p:cNvPr id="598" name="Google Shape;598;p40"/>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41"/>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Operating System Operations</a:t>
            </a:r>
            <a:endParaRPr b="1">
              <a:solidFill>
                <a:srgbClr val="00FF00"/>
              </a:solidFill>
              <a:latin typeface="Comfortaa"/>
              <a:ea typeface="Comfortaa"/>
              <a:cs typeface="Comfortaa"/>
              <a:sym typeface="Comfortaa"/>
            </a:endParaRPr>
          </a:p>
        </p:txBody>
      </p:sp>
      <p:sp>
        <p:nvSpPr>
          <p:cNvPr id="604" name="Google Shape;604;p41"/>
          <p:cNvSpPr txBox="1">
            <a:spLocks noGrp="1"/>
          </p:cNvSpPr>
          <p:nvPr>
            <p:ph type="body" idx="1"/>
          </p:nvPr>
        </p:nvSpPr>
        <p:spPr>
          <a:prstGeom prst="rect">
            <a:avLst/>
          </a:prstGeom>
          <a:noFill/>
          <a:ln>
            <a:noFill/>
          </a:ln>
        </p:spPr>
        <p:txBody>
          <a:bodyPr spcFirstLastPara="1" wrap="square" lIns="91425" tIns="91425" rIns="91425" bIns="91425" anchor="t" anchorCtr="0">
            <a:normAutofit fontScale="70000" lnSpcReduction="20000"/>
          </a:bodyPr>
          <a:lstStyle/>
          <a:p>
            <a:pPr marL="0" lvl="0" indent="0" algn="just" rtl="0">
              <a:lnSpc>
                <a:spcPct val="115000"/>
              </a:lnSpc>
              <a:spcBef>
                <a:spcPts val="0"/>
              </a:spcBef>
              <a:spcAft>
                <a:spcPts val="0"/>
              </a:spcAft>
              <a:buSzPct val="122241"/>
              <a:buNone/>
            </a:pPr>
            <a:r>
              <a:rPr lang="en" sz="1900" b="1">
                <a:solidFill>
                  <a:srgbClr val="00FF00"/>
                </a:solidFill>
                <a:latin typeface="Comfortaa"/>
                <a:ea typeface="Comfortaa"/>
                <a:cs typeface="Comfortaa"/>
                <a:sym typeface="Comfortaa"/>
              </a:rPr>
              <a:t>6. Protection and Security</a:t>
            </a:r>
            <a:endParaRPr sz="1900" b="1">
              <a:solidFill>
                <a:srgbClr val="00FF00"/>
              </a:solidFill>
              <a:latin typeface="Comfortaa"/>
              <a:ea typeface="Comfortaa"/>
              <a:cs typeface="Comfortaa"/>
              <a:sym typeface="Comfortaa"/>
            </a:endParaRPr>
          </a:p>
          <a:p>
            <a:pPr marL="0" lvl="0" indent="0" algn="just" rtl="0">
              <a:lnSpc>
                <a:spcPct val="115000"/>
              </a:lnSpc>
              <a:spcBef>
                <a:spcPts val="1200"/>
              </a:spcBef>
              <a:spcAft>
                <a:spcPts val="0"/>
              </a:spcAft>
              <a:buSzPct val="122241"/>
              <a:buNone/>
            </a:pPr>
            <a:r>
              <a:rPr lang="en" sz="1900" b="1">
                <a:solidFill>
                  <a:srgbClr val="00FF00"/>
                </a:solidFill>
                <a:latin typeface="Comfortaa"/>
                <a:ea typeface="Comfortaa"/>
                <a:cs typeface="Comfortaa"/>
                <a:sym typeface="Comfortaa"/>
              </a:rPr>
              <a:t>Protection - </a:t>
            </a:r>
            <a:r>
              <a:rPr lang="en" sz="1900" b="1">
                <a:solidFill>
                  <a:srgbClr val="FFFF00"/>
                </a:solidFill>
                <a:latin typeface="Comfortaa"/>
                <a:ea typeface="Comfortaa"/>
                <a:cs typeface="Comfortaa"/>
                <a:sym typeface="Comfortaa"/>
              </a:rPr>
              <a:t>A mechanism for controlling access of processes (or resources) defined by OS.</a:t>
            </a:r>
            <a:endParaRPr sz="1900" b="1">
              <a:solidFill>
                <a:srgbClr val="FFFF00"/>
              </a:solidFill>
              <a:latin typeface="Comfortaa"/>
              <a:ea typeface="Comfortaa"/>
              <a:cs typeface="Comfortaa"/>
              <a:sym typeface="Comfortaa"/>
            </a:endParaRPr>
          </a:p>
          <a:p>
            <a:pPr marL="0" lvl="0" indent="0" algn="just" rtl="0">
              <a:lnSpc>
                <a:spcPct val="115000"/>
              </a:lnSpc>
              <a:spcBef>
                <a:spcPts val="1200"/>
              </a:spcBef>
              <a:spcAft>
                <a:spcPts val="0"/>
              </a:spcAft>
              <a:buSzPct val="122241"/>
              <a:buNone/>
            </a:pPr>
            <a:r>
              <a:rPr lang="en" sz="1900" b="1">
                <a:solidFill>
                  <a:srgbClr val="00FF00"/>
                </a:solidFill>
                <a:latin typeface="Comfortaa"/>
                <a:ea typeface="Comfortaa"/>
                <a:cs typeface="Comfortaa"/>
                <a:sym typeface="Comfortaa"/>
              </a:rPr>
              <a:t>Security - </a:t>
            </a:r>
            <a:r>
              <a:rPr lang="en" sz="1900" b="1">
                <a:solidFill>
                  <a:srgbClr val="FFFF00"/>
                </a:solidFill>
                <a:latin typeface="Comfortaa"/>
                <a:ea typeface="Comfortaa"/>
                <a:cs typeface="Comfortaa"/>
                <a:sym typeface="Comfortaa"/>
              </a:rPr>
              <a:t>Defense of the system against internal or external attacks</a:t>
            </a:r>
            <a:endParaRPr sz="1900" b="1">
              <a:solidFill>
                <a:srgbClr val="FFFF00"/>
              </a:solidFill>
              <a:latin typeface="Comfortaa"/>
              <a:ea typeface="Comfortaa"/>
              <a:cs typeface="Comfortaa"/>
              <a:sym typeface="Comfortaa"/>
            </a:endParaRPr>
          </a:p>
          <a:p>
            <a:pPr marL="0" lvl="0" indent="0" algn="just" rtl="0">
              <a:lnSpc>
                <a:spcPct val="115000"/>
              </a:lnSpc>
              <a:spcBef>
                <a:spcPts val="1200"/>
              </a:spcBef>
              <a:spcAft>
                <a:spcPts val="0"/>
              </a:spcAft>
              <a:buSzPct val="122241"/>
              <a:buNone/>
            </a:pPr>
            <a:r>
              <a:rPr lang="en" sz="1900" b="1">
                <a:solidFill>
                  <a:srgbClr val="FFFF00"/>
                </a:solidFill>
                <a:latin typeface="Comfortaa"/>
                <a:ea typeface="Comfortaa"/>
                <a:cs typeface="Comfortaa"/>
                <a:sym typeface="Comfortaa"/>
              </a:rPr>
              <a:t>Systems generally first distinguish among users, to determine who can do what</a:t>
            </a:r>
            <a:endParaRPr sz="1900" b="1">
              <a:solidFill>
                <a:srgbClr val="FFFF00"/>
              </a:solidFill>
              <a:latin typeface="Comfortaa"/>
              <a:ea typeface="Comfortaa"/>
              <a:cs typeface="Comfortaa"/>
              <a:sym typeface="Comfortaa"/>
            </a:endParaRPr>
          </a:p>
          <a:p>
            <a:pPr marL="0" lvl="0" indent="0" algn="just" rtl="0">
              <a:lnSpc>
                <a:spcPct val="115000"/>
              </a:lnSpc>
              <a:spcBef>
                <a:spcPts val="1200"/>
              </a:spcBef>
              <a:spcAft>
                <a:spcPts val="0"/>
              </a:spcAft>
              <a:buSzPct val="122241"/>
              <a:buNone/>
            </a:pPr>
            <a:r>
              <a:rPr lang="en" sz="1900" b="1">
                <a:solidFill>
                  <a:srgbClr val="00FF00"/>
                </a:solidFill>
                <a:latin typeface="Comfortaa"/>
                <a:ea typeface="Comfortaa"/>
                <a:cs typeface="Comfortaa"/>
                <a:sym typeface="Comfortaa"/>
              </a:rPr>
              <a:t>User ID - </a:t>
            </a:r>
            <a:r>
              <a:rPr lang="en" sz="1900" b="1">
                <a:solidFill>
                  <a:srgbClr val="FFFF00"/>
                </a:solidFill>
                <a:latin typeface="Comfortaa"/>
                <a:ea typeface="Comfortaa"/>
                <a:cs typeface="Comfortaa"/>
                <a:sym typeface="Comfortaa"/>
              </a:rPr>
              <a:t>Number/Name,  unique,  one per user</a:t>
            </a:r>
            <a:endParaRPr sz="1900" b="1">
              <a:solidFill>
                <a:srgbClr val="FFFF00"/>
              </a:solidFill>
              <a:latin typeface="Comfortaa"/>
              <a:ea typeface="Comfortaa"/>
              <a:cs typeface="Comfortaa"/>
              <a:sym typeface="Comfortaa"/>
            </a:endParaRPr>
          </a:p>
          <a:p>
            <a:pPr marL="0" lvl="0" indent="0" algn="just" rtl="0">
              <a:lnSpc>
                <a:spcPct val="115000"/>
              </a:lnSpc>
              <a:spcBef>
                <a:spcPts val="1200"/>
              </a:spcBef>
              <a:spcAft>
                <a:spcPts val="0"/>
              </a:spcAft>
              <a:buSzPct val="122241"/>
              <a:buNone/>
            </a:pPr>
            <a:r>
              <a:rPr lang="en" sz="1900" b="1">
                <a:solidFill>
                  <a:srgbClr val="FFFF00"/>
                </a:solidFill>
                <a:latin typeface="Comfortaa"/>
                <a:ea typeface="Comfortaa"/>
                <a:cs typeface="Comfortaa"/>
                <a:sym typeface="Comfortaa"/>
              </a:rPr>
              <a:t>User ID associated with files, processes and folders of that user to determine access</a:t>
            </a:r>
            <a:endParaRPr sz="1900" b="1">
              <a:solidFill>
                <a:srgbClr val="FFFF00"/>
              </a:solidFill>
              <a:latin typeface="Comfortaa"/>
              <a:ea typeface="Comfortaa"/>
              <a:cs typeface="Comfortaa"/>
              <a:sym typeface="Comfortaa"/>
            </a:endParaRPr>
          </a:p>
          <a:p>
            <a:pPr marL="0" lvl="0" indent="0" algn="just" rtl="0">
              <a:lnSpc>
                <a:spcPct val="115000"/>
              </a:lnSpc>
              <a:spcBef>
                <a:spcPts val="1200"/>
              </a:spcBef>
              <a:spcAft>
                <a:spcPts val="1200"/>
              </a:spcAft>
              <a:buSzPct val="122241"/>
              <a:buNone/>
            </a:pPr>
            <a:r>
              <a:rPr lang="en" sz="1900" b="1">
                <a:solidFill>
                  <a:srgbClr val="00FF00"/>
                </a:solidFill>
                <a:latin typeface="Comfortaa"/>
                <a:ea typeface="Comfortaa"/>
                <a:cs typeface="Comfortaa"/>
                <a:sym typeface="Comfortaa"/>
              </a:rPr>
              <a:t>Group ID - </a:t>
            </a:r>
            <a:r>
              <a:rPr lang="en" sz="1900" b="1">
                <a:solidFill>
                  <a:srgbClr val="FFFF00"/>
                </a:solidFill>
                <a:latin typeface="Comfortaa"/>
                <a:ea typeface="Comfortaa"/>
                <a:cs typeface="Comfortaa"/>
                <a:sym typeface="Comfortaa"/>
              </a:rPr>
              <a:t>Allows set of users to be defined and controls managed then also associated with each process, file</a:t>
            </a:r>
            <a:endParaRPr sz="1900" b="1">
              <a:solidFill>
                <a:srgbClr val="FFFF00"/>
              </a:solidFill>
              <a:latin typeface="Comfortaa"/>
              <a:ea typeface="Comfortaa"/>
              <a:cs typeface="Comfortaa"/>
              <a:sym typeface="Comfortaa"/>
            </a:endParaRPr>
          </a:p>
        </p:txBody>
      </p:sp>
      <p:sp>
        <p:nvSpPr>
          <p:cNvPr id="605" name="Google Shape;605;p41"/>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42"/>
          <p:cNvSpPr/>
          <p:nvPr/>
        </p:nvSpPr>
        <p:spPr>
          <a:xfrm>
            <a:off x="615775" y="1388500"/>
            <a:ext cx="2414700" cy="3066900"/>
          </a:xfrm>
          <a:prstGeom prst="round1Rect">
            <a:avLst>
              <a:gd name="adj" fmla="val 16667"/>
            </a:avLst>
          </a:prstGeom>
          <a:gradFill>
            <a:gsLst>
              <a:gs pos="0">
                <a:srgbClr val="F5D0D0"/>
              </a:gs>
              <a:gs pos="100000">
                <a:srgbClr val="D96868"/>
              </a:gs>
            </a:gsLst>
            <a:path path="circle">
              <a:fillToRect l="50000" t="50000" r="50000" b="50000"/>
            </a:path>
            <a:tileRect/>
          </a:gradFill>
          <a:ln w="28575" cap="flat" cmpd="sng">
            <a:solidFill>
              <a:schemeClr val="dk2"/>
            </a:solidFill>
            <a:prstDash val="solid"/>
            <a:round/>
            <a:headEnd type="none" w="sm" len="sm"/>
            <a:tailEnd type="none" w="sm" len="sm"/>
          </a:ln>
          <a:effectLst>
            <a:outerShdw blurRad="57150" dist="95250" dir="8100000" algn="bl" rotWithShape="0">
              <a:srgbClr val="FFFFFF">
                <a:alpha val="49803"/>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Batch </a:t>
            </a: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Operating System</a:t>
            </a:r>
            <a:endParaRPr sz="1700" b="1" i="0" u="none" strike="noStrike" cap="none">
              <a:solidFill>
                <a:srgbClr val="000000"/>
              </a:solidFill>
              <a:latin typeface="Comfortaa"/>
              <a:ea typeface="Comfortaa"/>
              <a:cs typeface="Comfortaa"/>
              <a:sym typeface="Comfortaa"/>
            </a:endParaRPr>
          </a:p>
        </p:txBody>
      </p:sp>
      <p:sp>
        <p:nvSpPr>
          <p:cNvPr id="611" name="Google Shape;611;p42"/>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Types of Operating System</a:t>
            </a:r>
            <a:endParaRPr b="1">
              <a:solidFill>
                <a:srgbClr val="00FF00"/>
              </a:solidFill>
              <a:latin typeface="Comfortaa"/>
              <a:ea typeface="Comfortaa"/>
              <a:cs typeface="Comfortaa"/>
              <a:sym typeface="Comfortaa"/>
            </a:endParaRPr>
          </a:p>
        </p:txBody>
      </p:sp>
      <p:sp>
        <p:nvSpPr>
          <p:cNvPr id="612" name="Google Shape;612;p42"/>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33</a:t>
            </a:fld>
            <a:endParaRPr/>
          </a:p>
        </p:txBody>
      </p:sp>
      <p:sp>
        <p:nvSpPr>
          <p:cNvPr id="613" name="Google Shape;613;p42"/>
          <p:cNvSpPr txBox="1"/>
          <p:nvPr/>
        </p:nvSpPr>
        <p:spPr>
          <a:xfrm>
            <a:off x="3390625" y="1967650"/>
            <a:ext cx="5010600" cy="1908600"/>
          </a:xfrm>
          <a:prstGeom prst="rect">
            <a:avLst/>
          </a:prstGeom>
          <a:noFill/>
          <a:ln>
            <a:noFill/>
          </a:ln>
        </p:spPr>
        <p:txBody>
          <a:bodyPr spcFirstLastPara="1" wrap="square" lIns="91425" tIns="91425" rIns="91425" bIns="91425" anchor="t" anchorCtr="0">
            <a:spAutoFit/>
          </a:bodyPr>
          <a:lstStyle/>
          <a:p>
            <a:pPr marL="457200" marR="0" lvl="0" indent="-330200" algn="l" rtl="0">
              <a:lnSpc>
                <a:spcPct val="100000"/>
              </a:lnSpc>
              <a:spcBef>
                <a:spcPts val="0"/>
              </a:spcBef>
              <a:spcAft>
                <a:spcPts val="0"/>
              </a:spcAft>
              <a:buClr>
                <a:srgbClr val="FFFF00"/>
              </a:buClr>
              <a:buSzPts val="1600"/>
              <a:buFont typeface="Comfortaa"/>
              <a:buChar char="●"/>
            </a:pPr>
            <a:r>
              <a:rPr lang="en" sz="1600" b="0" i="0" u="none" strike="noStrike" cap="none">
                <a:solidFill>
                  <a:srgbClr val="FFFF00"/>
                </a:solidFill>
                <a:latin typeface="Comfortaa"/>
                <a:ea typeface="Comfortaa"/>
                <a:cs typeface="Comfortaa"/>
                <a:sym typeface="Comfortaa"/>
              </a:rPr>
              <a:t>This type of operating system does not interact with the computer directly. </a:t>
            </a:r>
            <a:endParaRPr sz="1600" b="0" i="0" u="none" strike="noStrike" cap="none">
              <a:solidFill>
                <a:srgbClr val="FFFF00"/>
              </a:solidFill>
              <a:latin typeface="Comfortaa"/>
              <a:ea typeface="Comfortaa"/>
              <a:cs typeface="Comfortaa"/>
              <a:sym typeface="Comfortaa"/>
            </a:endParaRPr>
          </a:p>
          <a:p>
            <a:pPr marL="457200" marR="0" lvl="0" indent="-330200" algn="l" rtl="0">
              <a:lnSpc>
                <a:spcPct val="100000"/>
              </a:lnSpc>
              <a:spcBef>
                <a:spcPts val="0"/>
              </a:spcBef>
              <a:spcAft>
                <a:spcPts val="0"/>
              </a:spcAft>
              <a:buClr>
                <a:srgbClr val="FFFF00"/>
              </a:buClr>
              <a:buSzPts val="1600"/>
              <a:buFont typeface="Comfortaa"/>
              <a:buChar char="●"/>
            </a:pPr>
            <a:r>
              <a:rPr lang="en" sz="1600" b="0" i="0" u="none" strike="noStrike" cap="none">
                <a:solidFill>
                  <a:srgbClr val="FFFF00"/>
                </a:solidFill>
                <a:latin typeface="Comfortaa"/>
                <a:ea typeface="Comfortaa"/>
                <a:cs typeface="Comfortaa"/>
                <a:sym typeface="Comfortaa"/>
              </a:rPr>
              <a:t>There is an operator which takes similar jobs having the same requirement and group them into batches. </a:t>
            </a:r>
            <a:endParaRPr sz="1600" b="0" i="0" u="none" strike="noStrike" cap="none">
              <a:solidFill>
                <a:srgbClr val="FFFF00"/>
              </a:solidFill>
              <a:latin typeface="Comfortaa"/>
              <a:ea typeface="Comfortaa"/>
              <a:cs typeface="Comfortaa"/>
              <a:sym typeface="Comfortaa"/>
            </a:endParaRPr>
          </a:p>
          <a:p>
            <a:pPr marL="457200" marR="0" lvl="0" indent="-317500" algn="l" rtl="0">
              <a:lnSpc>
                <a:spcPct val="100000"/>
              </a:lnSpc>
              <a:spcBef>
                <a:spcPts val="0"/>
              </a:spcBef>
              <a:spcAft>
                <a:spcPts val="0"/>
              </a:spcAft>
              <a:buClr>
                <a:srgbClr val="FFFF00"/>
              </a:buClr>
              <a:buSzPts val="1400"/>
              <a:buFont typeface="Arial"/>
              <a:buChar char="●"/>
            </a:pPr>
            <a:r>
              <a:rPr lang="en" sz="1600" b="0" i="0" u="none" strike="noStrike" cap="none">
                <a:solidFill>
                  <a:srgbClr val="FFFF00"/>
                </a:solidFill>
                <a:latin typeface="Comfortaa"/>
                <a:ea typeface="Comfortaa"/>
                <a:cs typeface="Comfortaa"/>
                <a:sym typeface="Comfortaa"/>
              </a:rPr>
              <a:t>It is the responsibility of the operator to sort jobs with similar needs.</a:t>
            </a:r>
            <a:endParaRPr sz="1600" b="0" i="0" u="none" strike="noStrike" cap="none">
              <a:solidFill>
                <a:srgbClr val="FFFF00"/>
              </a:solidFill>
              <a:latin typeface="Comfortaa"/>
              <a:ea typeface="Comfortaa"/>
              <a:cs typeface="Comfortaa"/>
              <a:sym typeface="Comforta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10"/>
                                        </p:tgtEl>
                                        <p:attrNameLst>
                                          <p:attrName>style.visibility</p:attrName>
                                        </p:attrNameLst>
                                      </p:cBhvr>
                                      <p:to>
                                        <p:strVal val="visible"/>
                                      </p:to>
                                    </p:set>
                                    <p:anim calcmode="lin" valueType="num">
                                      <p:cBhvr additive="base">
                                        <p:cTn id="7" dur="1000"/>
                                        <p:tgtEl>
                                          <p:spTgt spid="610"/>
                                        </p:tgtEl>
                                        <p:attrNameLst>
                                          <p:attrName>ppt_x</p:attrName>
                                        </p:attrNameLst>
                                      </p:cBhvr>
                                      <p:tavLst>
                                        <p:tav tm="0">
                                          <p:val>
                                            <p:strVal val="#ppt_x-1"/>
                                          </p:val>
                                        </p:tav>
                                        <p:tav tm="100000">
                                          <p:val>
                                            <p:strVal val="#ppt_x"/>
                                          </p:val>
                                        </p:tav>
                                      </p:tavLst>
                                    </p:anim>
                                  </p:childTnLst>
                                </p:cTn>
                              </p:par>
                              <p:par>
                                <p:cTn id="8" presetID="10" presetClass="entr" presetSubtype="0" fill="hold" nodeType="withEffect">
                                  <p:stCondLst>
                                    <p:cond delay="0"/>
                                  </p:stCondLst>
                                  <p:childTnLst>
                                    <p:set>
                                      <p:cBhvr>
                                        <p:cTn id="9" dur="1" fill="hold">
                                          <p:stCondLst>
                                            <p:cond delay="0"/>
                                          </p:stCondLst>
                                        </p:cTn>
                                        <p:tgtEl>
                                          <p:spTgt spid="613"/>
                                        </p:tgtEl>
                                        <p:attrNameLst>
                                          <p:attrName>style.visibility</p:attrName>
                                        </p:attrNameLst>
                                      </p:cBhvr>
                                      <p:to>
                                        <p:strVal val="visible"/>
                                      </p:to>
                                    </p:set>
                                    <p:animEffect transition="in" filter="fade">
                                      <p:cBhvr>
                                        <p:cTn id="10" dur="1000"/>
                                        <p:tgtEl>
                                          <p:spTgt spid="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43"/>
          <p:cNvSpPr/>
          <p:nvPr/>
        </p:nvSpPr>
        <p:spPr>
          <a:xfrm>
            <a:off x="615775" y="1388500"/>
            <a:ext cx="2414700" cy="3066900"/>
          </a:xfrm>
          <a:prstGeom prst="round1Rect">
            <a:avLst>
              <a:gd name="adj" fmla="val 16667"/>
            </a:avLst>
          </a:prstGeom>
          <a:gradFill>
            <a:gsLst>
              <a:gs pos="0">
                <a:srgbClr val="F5D0D0"/>
              </a:gs>
              <a:gs pos="100000">
                <a:srgbClr val="D96868"/>
              </a:gs>
            </a:gsLst>
            <a:path path="circle">
              <a:fillToRect l="50000" t="50000" r="50000" b="50000"/>
            </a:path>
            <a:tileRect/>
          </a:gradFill>
          <a:ln w="28575" cap="flat" cmpd="sng">
            <a:solidFill>
              <a:schemeClr val="dk2"/>
            </a:solidFill>
            <a:prstDash val="solid"/>
            <a:round/>
            <a:headEnd type="none" w="sm" len="sm"/>
            <a:tailEnd type="none" w="sm" len="sm"/>
          </a:ln>
          <a:effectLst>
            <a:outerShdw blurRad="57150" dist="95250" dir="8100000" algn="bl" rotWithShape="0">
              <a:srgbClr val="FFFFFF">
                <a:alpha val="49803"/>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Batch </a:t>
            </a: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Operating System</a:t>
            </a:r>
            <a:endParaRPr sz="1700" b="1" i="0" u="none" strike="noStrike" cap="none">
              <a:solidFill>
                <a:srgbClr val="000000"/>
              </a:solidFill>
              <a:latin typeface="Comfortaa"/>
              <a:ea typeface="Comfortaa"/>
              <a:cs typeface="Comfortaa"/>
              <a:sym typeface="Comfortaa"/>
            </a:endParaRPr>
          </a:p>
        </p:txBody>
      </p:sp>
      <p:sp>
        <p:nvSpPr>
          <p:cNvPr id="619" name="Google Shape;619;p43"/>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Types of Operating System</a:t>
            </a:r>
            <a:endParaRPr b="1">
              <a:solidFill>
                <a:srgbClr val="00FF00"/>
              </a:solidFill>
              <a:latin typeface="Comfortaa"/>
              <a:ea typeface="Comfortaa"/>
              <a:cs typeface="Comfortaa"/>
              <a:sym typeface="Comfortaa"/>
            </a:endParaRPr>
          </a:p>
        </p:txBody>
      </p:sp>
      <p:sp>
        <p:nvSpPr>
          <p:cNvPr id="620" name="Google Shape;620;p43"/>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34</a:t>
            </a:fld>
            <a:endParaRPr/>
          </a:p>
        </p:txBody>
      </p:sp>
      <p:sp>
        <p:nvSpPr>
          <p:cNvPr id="621" name="Google Shape;621;p43"/>
          <p:cNvSpPr txBox="1"/>
          <p:nvPr/>
        </p:nvSpPr>
        <p:spPr>
          <a:xfrm>
            <a:off x="3414775" y="1545475"/>
            <a:ext cx="5242200" cy="2002500"/>
          </a:xfrm>
          <a:prstGeom prst="rect">
            <a:avLst/>
          </a:prstGeom>
          <a:noFill/>
          <a:ln>
            <a:noFill/>
          </a:ln>
        </p:spPr>
        <p:txBody>
          <a:bodyPr spcFirstLastPara="1" wrap="square" lIns="91425" tIns="91425" rIns="91425" bIns="91425" anchor="t" anchorCtr="0">
            <a:spAutoFit/>
          </a:bodyPr>
          <a:lstStyle/>
          <a:p>
            <a:pPr marL="457200" marR="0" lvl="0" indent="-317500" algn="l" rtl="0">
              <a:lnSpc>
                <a:spcPct val="100000"/>
              </a:lnSpc>
              <a:spcBef>
                <a:spcPts val="0"/>
              </a:spcBef>
              <a:spcAft>
                <a:spcPts val="0"/>
              </a:spcAft>
              <a:buClr>
                <a:srgbClr val="00FF00"/>
              </a:buClr>
              <a:buSzPts val="1400"/>
              <a:buFont typeface="Arial"/>
              <a:buChar char="●"/>
            </a:pPr>
            <a:r>
              <a:rPr lang="en" sz="1600" b="1" i="0" u="none" strike="noStrike" cap="none">
                <a:solidFill>
                  <a:srgbClr val="00FF00"/>
                </a:solidFill>
                <a:latin typeface="Comfortaa"/>
                <a:ea typeface="Comfortaa"/>
                <a:cs typeface="Comfortaa"/>
                <a:sym typeface="Comfortaa"/>
              </a:rPr>
              <a:t>Advantages</a:t>
            </a:r>
            <a:endParaRPr sz="1600" b="1" i="0" u="none" strike="noStrike" cap="none">
              <a:solidFill>
                <a:srgbClr val="00FF00"/>
              </a:solidFill>
              <a:latin typeface="Comfortaa"/>
              <a:ea typeface="Comfortaa"/>
              <a:cs typeface="Comfortaa"/>
              <a:sym typeface="Comfortaa"/>
            </a:endParaRPr>
          </a:p>
          <a:p>
            <a:pPr marL="45720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00FF00"/>
              </a:solidFill>
              <a:latin typeface="Comfortaa"/>
              <a:ea typeface="Comfortaa"/>
              <a:cs typeface="Comfortaa"/>
              <a:sym typeface="Comfortaa"/>
            </a:endParaRPr>
          </a:p>
          <a:p>
            <a:pPr marL="457200" marR="0" lvl="0" indent="-323850" algn="l" rtl="0">
              <a:lnSpc>
                <a:spcPct val="158000"/>
              </a:lnSpc>
              <a:spcBef>
                <a:spcPts val="0"/>
              </a:spcBef>
              <a:spcAft>
                <a:spcPts val="0"/>
              </a:spcAft>
              <a:buClr>
                <a:srgbClr val="FFFF00"/>
              </a:buClr>
              <a:buSzPts val="1500"/>
              <a:buFont typeface="Comfortaa"/>
              <a:buAutoNum type="arabicPeriod"/>
            </a:pPr>
            <a:r>
              <a:rPr lang="en" sz="1500" b="1" i="0" u="none" strike="noStrike" cap="none">
                <a:solidFill>
                  <a:srgbClr val="FFFF00"/>
                </a:solidFill>
                <a:latin typeface="Comfortaa"/>
                <a:ea typeface="Comfortaa"/>
                <a:cs typeface="Comfortaa"/>
                <a:sym typeface="Comfortaa"/>
              </a:rPr>
              <a:t>Multiple users can share the batch system</a:t>
            </a:r>
            <a:endParaRPr sz="1500" b="1" i="0" u="none" strike="noStrike" cap="none">
              <a:solidFill>
                <a:srgbClr val="FFFF00"/>
              </a:solidFill>
              <a:latin typeface="Comfortaa"/>
              <a:ea typeface="Comfortaa"/>
              <a:cs typeface="Comfortaa"/>
              <a:sym typeface="Comfortaa"/>
            </a:endParaRPr>
          </a:p>
          <a:p>
            <a:pPr marL="457200" marR="0" lvl="0" indent="-323850" algn="l" rtl="0">
              <a:lnSpc>
                <a:spcPct val="158000"/>
              </a:lnSpc>
              <a:spcBef>
                <a:spcPts val="0"/>
              </a:spcBef>
              <a:spcAft>
                <a:spcPts val="0"/>
              </a:spcAft>
              <a:buClr>
                <a:srgbClr val="FFFF00"/>
              </a:buClr>
              <a:buSzPts val="1500"/>
              <a:buFont typeface="Comfortaa"/>
              <a:buAutoNum type="arabicPeriod"/>
            </a:pPr>
            <a:r>
              <a:rPr lang="en" sz="1500" b="1" i="0" u="none" strike="noStrike" cap="none">
                <a:solidFill>
                  <a:srgbClr val="FFFF00"/>
                </a:solidFill>
                <a:latin typeface="Comfortaa"/>
                <a:ea typeface="Comfortaa"/>
                <a:cs typeface="Comfortaa"/>
                <a:sym typeface="Comfortaa"/>
              </a:rPr>
              <a:t>The idle time for the batch system is very less</a:t>
            </a:r>
            <a:endParaRPr sz="1500" b="1" i="0" u="none" strike="noStrike" cap="none">
              <a:solidFill>
                <a:srgbClr val="FFFF00"/>
              </a:solidFill>
              <a:latin typeface="Comfortaa"/>
              <a:ea typeface="Comfortaa"/>
              <a:cs typeface="Comfortaa"/>
              <a:sym typeface="Comfortaa"/>
            </a:endParaRPr>
          </a:p>
          <a:p>
            <a:pPr marL="457200" marR="0" lvl="0" indent="-323850" algn="l" rtl="0">
              <a:lnSpc>
                <a:spcPct val="158000"/>
              </a:lnSpc>
              <a:spcBef>
                <a:spcPts val="0"/>
              </a:spcBef>
              <a:spcAft>
                <a:spcPts val="0"/>
              </a:spcAft>
              <a:buClr>
                <a:srgbClr val="FFFF00"/>
              </a:buClr>
              <a:buSzPts val="1500"/>
              <a:buFont typeface="Comfortaa"/>
              <a:buAutoNum type="arabicPeriod"/>
            </a:pPr>
            <a:r>
              <a:rPr lang="en" sz="1500" b="1" i="0" u="none" strike="noStrike" cap="none">
                <a:solidFill>
                  <a:srgbClr val="FFFF00"/>
                </a:solidFill>
                <a:latin typeface="Comfortaa"/>
                <a:ea typeface="Comfortaa"/>
                <a:cs typeface="Comfortaa"/>
                <a:sym typeface="Comfortaa"/>
              </a:rPr>
              <a:t>It is easy to manage large work repeatedly in batch systems</a:t>
            </a:r>
            <a:endParaRPr sz="1600" b="1" i="0" u="none" strike="noStrike" cap="none">
              <a:solidFill>
                <a:srgbClr val="00FF00"/>
              </a:solidFill>
              <a:latin typeface="Comfortaa"/>
              <a:ea typeface="Comfortaa"/>
              <a:cs typeface="Comfortaa"/>
              <a:sym typeface="Comforta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44"/>
          <p:cNvSpPr/>
          <p:nvPr/>
        </p:nvSpPr>
        <p:spPr>
          <a:xfrm>
            <a:off x="615775" y="1388500"/>
            <a:ext cx="2414700" cy="3066900"/>
          </a:xfrm>
          <a:prstGeom prst="round1Rect">
            <a:avLst>
              <a:gd name="adj" fmla="val 16667"/>
            </a:avLst>
          </a:prstGeom>
          <a:gradFill>
            <a:gsLst>
              <a:gs pos="0">
                <a:srgbClr val="F5D0D0"/>
              </a:gs>
              <a:gs pos="100000">
                <a:srgbClr val="D96868"/>
              </a:gs>
            </a:gsLst>
            <a:path path="circle">
              <a:fillToRect l="50000" t="50000" r="50000" b="50000"/>
            </a:path>
            <a:tileRect/>
          </a:gradFill>
          <a:ln w="28575" cap="flat" cmpd="sng">
            <a:solidFill>
              <a:schemeClr val="dk2"/>
            </a:solidFill>
            <a:prstDash val="solid"/>
            <a:round/>
            <a:headEnd type="none" w="sm" len="sm"/>
            <a:tailEnd type="none" w="sm" len="sm"/>
          </a:ln>
          <a:effectLst>
            <a:outerShdw blurRad="57150" dist="95250" dir="8100000" algn="bl" rotWithShape="0">
              <a:srgbClr val="FFFFFF">
                <a:alpha val="49803"/>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Batch </a:t>
            </a: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Operating System</a:t>
            </a:r>
            <a:endParaRPr sz="1700" b="1" i="0" u="none" strike="noStrike" cap="none">
              <a:solidFill>
                <a:srgbClr val="000000"/>
              </a:solidFill>
              <a:latin typeface="Comfortaa"/>
              <a:ea typeface="Comfortaa"/>
              <a:cs typeface="Comfortaa"/>
              <a:sym typeface="Comfortaa"/>
            </a:endParaRPr>
          </a:p>
        </p:txBody>
      </p:sp>
      <p:sp>
        <p:nvSpPr>
          <p:cNvPr id="627" name="Google Shape;627;p44"/>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Types of Operating System</a:t>
            </a:r>
            <a:endParaRPr b="1">
              <a:solidFill>
                <a:srgbClr val="00FF00"/>
              </a:solidFill>
              <a:latin typeface="Comfortaa"/>
              <a:ea typeface="Comfortaa"/>
              <a:cs typeface="Comfortaa"/>
              <a:sym typeface="Comfortaa"/>
            </a:endParaRPr>
          </a:p>
        </p:txBody>
      </p:sp>
      <p:sp>
        <p:nvSpPr>
          <p:cNvPr id="628" name="Google Shape;628;p44"/>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35</a:t>
            </a:fld>
            <a:endParaRPr/>
          </a:p>
        </p:txBody>
      </p:sp>
      <p:sp>
        <p:nvSpPr>
          <p:cNvPr id="629" name="Google Shape;629;p44"/>
          <p:cNvSpPr txBox="1"/>
          <p:nvPr/>
        </p:nvSpPr>
        <p:spPr>
          <a:xfrm>
            <a:off x="3414775" y="1545475"/>
            <a:ext cx="5242200" cy="2732100"/>
          </a:xfrm>
          <a:prstGeom prst="rect">
            <a:avLst/>
          </a:prstGeom>
          <a:noFill/>
          <a:ln>
            <a:noFill/>
          </a:ln>
        </p:spPr>
        <p:txBody>
          <a:bodyPr spcFirstLastPara="1" wrap="square" lIns="91425" tIns="91425" rIns="91425" bIns="91425" anchor="t" anchorCtr="0">
            <a:spAutoFit/>
          </a:bodyPr>
          <a:lstStyle/>
          <a:p>
            <a:pPr marL="457200" marR="0" lvl="0" indent="-317500" algn="l" rtl="0">
              <a:lnSpc>
                <a:spcPct val="100000"/>
              </a:lnSpc>
              <a:spcBef>
                <a:spcPts val="0"/>
              </a:spcBef>
              <a:spcAft>
                <a:spcPts val="0"/>
              </a:spcAft>
              <a:buClr>
                <a:srgbClr val="00FF00"/>
              </a:buClr>
              <a:buSzPts val="1400"/>
              <a:buFont typeface="Arial"/>
              <a:buChar char="●"/>
            </a:pPr>
            <a:r>
              <a:rPr lang="en" sz="1600" b="1" i="0" u="none" strike="noStrike" cap="none">
                <a:solidFill>
                  <a:srgbClr val="00FF00"/>
                </a:solidFill>
                <a:latin typeface="Comfortaa"/>
                <a:ea typeface="Comfortaa"/>
                <a:cs typeface="Comfortaa"/>
                <a:sym typeface="Comfortaa"/>
              </a:rPr>
              <a:t>Disadvantages</a:t>
            </a:r>
            <a:endParaRPr sz="1600" b="1" i="0" u="none" strike="noStrike" cap="none">
              <a:solidFill>
                <a:srgbClr val="00FF00"/>
              </a:solidFill>
              <a:latin typeface="Comfortaa"/>
              <a:ea typeface="Comfortaa"/>
              <a:cs typeface="Comfortaa"/>
              <a:sym typeface="Comfortaa"/>
            </a:endParaRPr>
          </a:p>
          <a:p>
            <a:pPr marL="45720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00FF00"/>
              </a:solidFill>
              <a:latin typeface="Comfortaa"/>
              <a:ea typeface="Comfortaa"/>
              <a:cs typeface="Comfortaa"/>
              <a:sym typeface="Comfortaa"/>
            </a:endParaRPr>
          </a:p>
          <a:p>
            <a:pPr marL="457200" marR="0" lvl="0" indent="-323850" algn="l" rtl="0">
              <a:lnSpc>
                <a:spcPct val="158000"/>
              </a:lnSpc>
              <a:spcBef>
                <a:spcPts val="0"/>
              </a:spcBef>
              <a:spcAft>
                <a:spcPts val="0"/>
              </a:spcAft>
              <a:buClr>
                <a:srgbClr val="FFFF00"/>
              </a:buClr>
              <a:buSzPts val="1500"/>
              <a:buFont typeface="Comfortaa"/>
              <a:buAutoNum type="arabicPeriod"/>
            </a:pPr>
            <a:r>
              <a:rPr lang="en" sz="1500" b="1" i="0" u="none" strike="noStrike" cap="none">
                <a:solidFill>
                  <a:srgbClr val="FFFF00"/>
                </a:solidFill>
                <a:latin typeface="Comfortaa"/>
                <a:ea typeface="Comfortaa"/>
                <a:cs typeface="Comfortaa"/>
                <a:sym typeface="Comfortaa"/>
              </a:rPr>
              <a:t>The computer operators should be well known with batch systems</a:t>
            </a:r>
            <a:endParaRPr sz="1500" b="1" i="0" u="none" strike="noStrike" cap="none">
              <a:solidFill>
                <a:srgbClr val="FFFF00"/>
              </a:solidFill>
              <a:latin typeface="Comfortaa"/>
              <a:ea typeface="Comfortaa"/>
              <a:cs typeface="Comfortaa"/>
              <a:sym typeface="Comfortaa"/>
            </a:endParaRPr>
          </a:p>
          <a:p>
            <a:pPr marL="457200" marR="0" lvl="0" indent="-323850" algn="l" rtl="0">
              <a:lnSpc>
                <a:spcPct val="158000"/>
              </a:lnSpc>
              <a:spcBef>
                <a:spcPts val="0"/>
              </a:spcBef>
              <a:spcAft>
                <a:spcPts val="0"/>
              </a:spcAft>
              <a:buClr>
                <a:srgbClr val="FFFF00"/>
              </a:buClr>
              <a:buSzPts val="1500"/>
              <a:buFont typeface="Comfortaa"/>
              <a:buAutoNum type="arabicPeriod"/>
            </a:pPr>
            <a:r>
              <a:rPr lang="en" sz="1500" b="1" i="0" u="none" strike="noStrike" cap="none">
                <a:solidFill>
                  <a:srgbClr val="FFFF00"/>
                </a:solidFill>
                <a:latin typeface="Comfortaa"/>
                <a:ea typeface="Comfortaa"/>
                <a:cs typeface="Comfortaa"/>
                <a:sym typeface="Comfortaa"/>
              </a:rPr>
              <a:t>Batch systems are hard to debug</a:t>
            </a:r>
            <a:endParaRPr sz="1500" b="1" i="0" u="none" strike="noStrike" cap="none">
              <a:solidFill>
                <a:srgbClr val="FFFF00"/>
              </a:solidFill>
              <a:latin typeface="Comfortaa"/>
              <a:ea typeface="Comfortaa"/>
              <a:cs typeface="Comfortaa"/>
              <a:sym typeface="Comfortaa"/>
            </a:endParaRPr>
          </a:p>
          <a:p>
            <a:pPr marL="457200" marR="0" lvl="0" indent="-323850" algn="l" rtl="0">
              <a:lnSpc>
                <a:spcPct val="158000"/>
              </a:lnSpc>
              <a:spcBef>
                <a:spcPts val="0"/>
              </a:spcBef>
              <a:spcAft>
                <a:spcPts val="0"/>
              </a:spcAft>
              <a:buClr>
                <a:srgbClr val="FFFF00"/>
              </a:buClr>
              <a:buSzPts val="1500"/>
              <a:buFont typeface="Comfortaa"/>
              <a:buAutoNum type="arabicPeriod"/>
            </a:pPr>
            <a:r>
              <a:rPr lang="en" sz="1500" b="1" i="0" u="none" strike="noStrike" cap="none">
                <a:solidFill>
                  <a:srgbClr val="FFFF00"/>
                </a:solidFill>
                <a:latin typeface="Comfortaa"/>
                <a:ea typeface="Comfortaa"/>
                <a:cs typeface="Comfortaa"/>
                <a:sym typeface="Comfortaa"/>
              </a:rPr>
              <a:t>It is sometimes costly</a:t>
            </a:r>
            <a:endParaRPr sz="1500" b="1" i="0" u="none" strike="noStrike" cap="none">
              <a:solidFill>
                <a:srgbClr val="FFFF00"/>
              </a:solidFill>
              <a:latin typeface="Comfortaa"/>
              <a:ea typeface="Comfortaa"/>
              <a:cs typeface="Comfortaa"/>
              <a:sym typeface="Comfortaa"/>
            </a:endParaRPr>
          </a:p>
          <a:p>
            <a:pPr marL="457200" marR="0" lvl="0" indent="-323850" algn="l" rtl="0">
              <a:lnSpc>
                <a:spcPct val="158000"/>
              </a:lnSpc>
              <a:spcBef>
                <a:spcPts val="0"/>
              </a:spcBef>
              <a:spcAft>
                <a:spcPts val="0"/>
              </a:spcAft>
              <a:buClr>
                <a:srgbClr val="FFFF00"/>
              </a:buClr>
              <a:buSzPts val="1500"/>
              <a:buFont typeface="Comfortaa"/>
              <a:buAutoNum type="arabicPeriod"/>
            </a:pPr>
            <a:r>
              <a:rPr lang="en" sz="1500" b="1" i="0" u="none" strike="noStrike" cap="none">
                <a:solidFill>
                  <a:srgbClr val="FFFF00"/>
                </a:solidFill>
                <a:latin typeface="Comfortaa"/>
                <a:ea typeface="Comfortaa"/>
                <a:cs typeface="Comfortaa"/>
                <a:sym typeface="Comfortaa"/>
              </a:rPr>
              <a:t>The other jobs will have to wait for an unknown time if any job fails</a:t>
            </a:r>
            <a:endParaRPr sz="1500" b="1" i="0" u="none" strike="noStrike" cap="none">
              <a:solidFill>
                <a:srgbClr val="FFFF00"/>
              </a:solidFill>
              <a:latin typeface="Comfortaa"/>
              <a:ea typeface="Comfortaa"/>
              <a:cs typeface="Comfortaa"/>
              <a:sym typeface="Comforta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45"/>
          <p:cNvSpPr/>
          <p:nvPr/>
        </p:nvSpPr>
        <p:spPr>
          <a:xfrm>
            <a:off x="615775" y="1388500"/>
            <a:ext cx="2414700" cy="3066900"/>
          </a:xfrm>
          <a:prstGeom prst="round1Rect">
            <a:avLst>
              <a:gd name="adj" fmla="val 16667"/>
            </a:avLst>
          </a:prstGeom>
          <a:gradFill>
            <a:gsLst>
              <a:gs pos="0">
                <a:srgbClr val="FDECDB"/>
              </a:gs>
              <a:gs pos="100000">
                <a:srgbClr val="F0A963"/>
              </a:gs>
            </a:gsLst>
            <a:path path="circle">
              <a:fillToRect l="50000" t="50000" r="50000" b="50000"/>
            </a:path>
            <a:tileRect/>
          </a:gradFill>
          <a:ln w="28575" cap="flat" cmpd="sng">
            <a:solidFill>
              <a:schemeClr val="dk2"/>
            </a:solidFill>
            <a:prstDash val="solid"/>
            <a:round/>
            <a:headEnd type="none" w="sm" len="sm"/>
            <a:tailEnd type="none" w="sm" len="sm"/>
          </a:ln>
          <a:effectLst>
            <a:outerShdw blurRad="57150" dist="95250" dir="8100000" algn="bl" rotWithShape="0">
              <a:srgbClr val="FFFFFF">
                <a:alpha val="49803"/>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Time-sharing </a:t>
            </a: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Operating System</a:t>
            </a:r>
            <a:endParaRPr sz="1700" b="1" i="0" u="none" strike="noStrike" cap="none">
              <a:solidFill>
                <a:srgbClr val="000000"/>
              </a:solidFill>
              <a:latin typeface="Comfortaa"/>
              <a:ea typeface="Comfortaa"/>
              <a:cs typeface="Comfortaa"/>
              <a:sym typeface="Comfortaa"/>
            </a:endParaRPr>
          </a:p>
        </p:txBody>
      </p:sp>
      <p:sp>
        <p:nvSpPr>
          <p:cNvPr id="635" name="Google Shape;635;p45"/>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Types of Operating System</a:t>
            </a:r>
            <a:endParaRPr b="1">
              <a:solidFill>
                <a:srgbClr val="00FF00"/>
              </a:solidFill>
              <a:latin typeface="Comfortaa"/>
              <a:ea typeface="Comfortaa"/>
              <a:cs typeface="Comfortaa"/>
              <a:sym typeface="Comfortaa"/>
            </a:endParaRPr>
          </a:p>
        </p:txBody>
      </p:sp>
      <p:sp>
        <p:nvSpPr>
          <p:cNvPr id="636" name="Google Shape;636;p45"/>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36</a:t>
            </a:fld>
            <a:endParaRPr/>
          </a:p>
        </p:txBody>
      </p:sp>
      <p:sp>
        <p:nvSpPr>
          <p:cNvPr id="637" name="Google Shape;637;p45"/>
          <p:cNvSpPr txBox="1"/>
          <p:nvPr/>
        </p:nvSpPr>
        <p:spPr>
          <a:xfrm>
            <a:off x="3414775" y="1559800"/>
            <a:ext cx="5242200" cy="2724300"/>
          </a:xfrm>
          <a:prstGeom prst="rect">
            <a:avLst/>
          </a:prstGeom>
          <a:noFill/>
          <a:ln>
            <a:noFill/>
          </a:ln>
        </p:spPr>
        <p:txBody>
          <a:bodyPr spcFirstLastPara="1" wrap="square" lIns="91425" tIns="91425" rIns="91425" bIns="91425" anchor="t" anchorCtr="0">
            <a:spAutoFit/>
          </a:bodyPr>
          <a:lstStyle/>
          <a:p>
            <a:pPr marL="457200" marR="0" lvl="0" indent="-323850" algn="l" rtl="0">
              <a:lnSpc>
                <a:spcPct val="100000"/>
              </a:lnSpc>
              <a:spcBef>
                <a:spcPts val="0"/>
              </a:spcBef>
              <a:spcAft>
                <a:spcPts val="0"/>
              </a:spcAft>
              <a:buClr>
                <a:srgbClr val="FFFF00"/>
              </a:buClr>
              <a:buSzPts val="1500"/>
              <a:buFont typeface="Comfortaa"/>
              <a:buChar char="●"/>
            </a:pPr>
            <a:r>
              <a:rPr lang="en" sz="1500" b="1" i="0" u="none" strike="noStrike" cap="none">
                <a:solidFill>
                  <a:srgbClr val="FFFF00"/>
                </a:solidFill>
                <a:latin typeface="Comfortaa"/>
                <a:ea typeface="Comfortaa"/>
                <a:cs typeface="Comfortaa"/>
                <a:sym typeface="Comfortaa"/>
              </a:rPr>
              <a:t>Each task is given some time to execute so that all the tasks work smoothly. Each user gets the time of CPU as they use a single system. </a:t>
            </a:r>
            <a:endParaRPr sz="1500" b="1" i="0" u="none" strike="noStrike" cap="none">
              <a:solidFill>
                <a:srgbClr val="FF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Comfortaa"/>
              <a:buChar char="●"/>
            </a:pPr>
            <a:r>
              <a:rPr lang="en" sz="1500" b="1" i="0" u="none" strike="noStrike" cap="none">
                <a:solidFill>
                  <a:srgbClr val="FFFF00"/>
                </a:solidFill>
                <a:latin typeface="Comfortaa"/>
                <a:ea typeface="Comfortaa"/>
                <a:cs typeface="Comfortaa"/>
                <a:sym typeface="Comfortaa"/>
              </a:rPr>
              <a:t>These systems are also known as Multitasking Systems. </a:t>
            </a:r>
            <a:endParaRPr sz="1500" b="1" i="0" u="none" strike="noStrike" cap="none">
              <a:solidFill>
                <a:srgbClr val="FF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Comfortaa"/>
              <a:buChar char="●"/>
            </a:pPr>
            <a:r>
              <a:rPr lang="en" sz="1500" b="1" i="0" u="none" strike="noStrike" cap="none">
                <a:solidFill>
                  <a:srgbClr val="FFFF00"/>
                </a:solidFill>
                <a:latin typeface="Comfortaa"/>
                <a:ea typeface="Comfortaa"/>
                <a:cs typeface="Comfortaa"/>
                <a:sym typeface="Comfortaa"/>
              </a:rPr>
              <a:t>The task can be from a single user or different users also. </a:t>
            </a:r>
            <a:endParaRPr sz="1500" b="1" i="0" u="none" strike="noStrike" cap="none">
              <a:solidFill>
                <a:srgbClr val="FF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Comfortaa"/>
              <a:buChar char="●"/>
            </a:pPr>
            <a:r>
              <a:rPr lang="en" sz="1500" b="1" i="0" u="none" strike="noStrike" cap="none">
                <a:solidFill>
                  <a:srgbClr val="FFFF00"/>
                </a:solidFill>
                <a:latin typeface="Comfortaa"/>
                <a:ea typeface="Comfortaa"/>
                <a:cs typeface="Comfortaa"/>
                <a:sym typeface="Comfortaa"/>
              </a:rPr>
              <a:t>The time that each task gets to execute is called quantum. After this time interval is over OS switches over to the next task.</a:t>
            </a:r>
            <a:endParaRPr sz="1500" b="1" i="0" u="none" strike="noStrike" cap="none">
              <a:solidFill>
                <a:srgbClr val="FFFF00"/>
              </a:solidFill>
              <a:latin typeface="Comfortaa"/>
              <a:ea typeface="Comfortaa"/>
              <a:cs typeface="Comfortaa"/>
              <a:sym typeface="Comforta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34"/>
                                        </p:tgtEl>
                                        <p:attrNameLst>
                                          <p:attrName>style.visibility</p:attrName>
                                        </p:attrNameLst>
                                      </p:cBhvr>
                                      <p:to>
                                        <p:strVal val="visible"/>
                                      </p:to>
                                    </p:set>
                                    <p:anim calcmode="lin" valueType="num">
                                      <p:cBhvr additive="base">
                                        <p:cTn id="7" dur="1000"/>
                                        <p:tgtEl>
                                          <p:spTgt spid="634"/>
                                        </p:tgtEl>
                                        <p:attrNameLst>
                                          <p:attrName>ppt_x</p:attrName>
                                        </p:attrNameLst>
                                      </p:cBhvr>
                                      <p:tavLst>
                                        <p:tav tm="0">
                                          <p:val>
                                            <p:strVal val="#ppt_x-1"/>
                                          </p:val>
                                        </p:tav>
                                        <p:tav tm="100000">
                                          <p:val>
                                            <p:strVal val="#ppt_x"/>
                                          </p:val>
                                        </p:tav>
                                      </p:tavLst>
                                    </p:anim>
                                  </p:childTnLst>
                                </p:cTn>
                              </p:par>
                              <p:par>
                                <p:cTn id="8" presetID="10" presetClass="entr" presetSubtype="0" fill="hold" nodeType="withEffect">
                                  <p:stCondLst>
                                    <p:cond delay="0"/>
                                  </p:stCondLst>
                                  <p:childTnLst>
                                    <p:set>
                                      <p:cBhvr>
                                        <p:cTn id="9" dur="1" fill="hold">
                                          <p:stCondLst>
                                            <p:cond delay="0"/>
                                          </p:stCondLst>
                                        </p:cTn>
                                        <p:tgtEl>
                                          <p:spTgt spid="637"/>
                                        </p:tgtEl>
                                        <p:attrNameLst>
                                          <p:attrName>style.visibility</p:attrName>
                                        </p:attrNameLst>
                                      </p:cBhvr>
                                      <p:to>
                                        <p:strVal val="visible"/>
                                      </p:to>
                                    </p:set>
                                    <p:animEffect transition="in" filter="fade">
                                      <p:cBhvr>
                                        <p:cTn id="10" dur="1000"/>
                                        <p:tgtEl>
                                          <p:spTgt spid="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46"/>
          <p:cNvSpPr/>
          <p:nvPr/>
        </p:nvSpPr>
        <p:spPr>
          <a:xfrm>
            <a:off x="615775" y="1388500"/>
            <a:ext cx="2414700" cy="3066900"/>
          </a:xfrm>
          <a:prstGeom prst="round1Rect">
            <a:avLst>
              <a:gd name="adj" fmla="val 16667"/>
            </a:avLst>
          </a:prstGeom>
          <a:gradFill>
            <a:gsLst>
              <a:gs pos="0">
                <a:srgbClr val="FDECDB"/>
              </a:gs>
              <a:gs pos="100000">
                <a:srgbClr val="F0A963"/>
              </a:gs>
            </a:gsLst>
            <a:path path="circle">
              <a:fillToRect l="50000" t="50000" r="50000" b="50000"/>
            </a:path>
            <a:tileRect/>
          </a:gradFill>
          <a:ln w="28575" cap="flat" cmpd="sng">
            <a:solidFill>
              <a:schemeClr val="dk2"/>
            </a:solidFill>
            <a:prstDash val="solid"/>
            <a:round/>
            <a:headEnd type="none" w="sm" len="sm"/>
            <a:tailEnd type="none" w="sm" len="sm"/>
          </a:ln>
          <a:effectLst>
            <a:outerShdw blurRad="57150" dist="95250" dir="8100000" algn="bl" rotWithShape="0">
              <a:srgbClr val="FFFFFF">
                <a:alpha val="49803"/>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Time-sharing </a:t>
            </a: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Operating System</a:t>
            </a:r>
            <a:endParaRPr sz="1700" b="1" i="0" u="none" strike="noStrike" cap="none">
              <a:solidFill>
                <a:srgbClr val="000000"/>
              </a:solidFill>
              <a:latin typeface="Comfortaa"/>
              <a:ea typeface="Comfortaa"/>
              <a:cs typeface="Comfortaa"/>
              <a:sym typeface="Comfortaa"/>
            </a:endParaRPr>
          </a:p>
        </p:txBody>
      </p:sp>
      <p:sp>
        <p:nvSpPr>
          <p:cNvPr id="643" name="Google Shape;643;p46"/>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Types of Operating System</a:t>
            </a:r>
            <a:endParaRPr b="1">
              <a:solidFill>
                <a:srgbClr val="00FF00"/>
              </a:solidFill>
              <a:latin typeface="Comfortaa"/>
              <a:ea typeface="Comfortaa"/>
              <a:cs typeface="Comfortaa"/>
              <a:sym typeface="Comfortaa"/>
            </a:endParaRPr>
          </a:p>
        </p:txBody>
      </p:sp>
      <p:sp>
        <p:nvSpPr>
          <p:cNvPr id="644" name="Google Shape;644;p46"/>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37</a:t>
            </a:fld>
            <a:endParaRPr/>
          </a:p>
        </p:txBody>
      </p:sp>
      <p:sp>
        <p:nvSpPr>
          <p:cNvPr id="645" name="Google Shape;645;p46"/>
          <p:cNvSpPr txBox="1"/>
          <p:nvPr/>
        </p:nvSpPr>
        <p:spPr>
          <a:xfrm>
            <a:off x="3414775" y="1559800"/>
            <a:ext cx="5242200" cy="17397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00000"/>
              </a:lnSpc>
              <a:spcBef>
                <a:spcPts val="0"/>
              </a:spcBef>
              <a:spcAft>
                <a:spcPts val="0"/>
              </a:spcAft>
              <a:buClr>
                <a:srgbClr val="00FF00"/>
              </a:buClr>
              <a:buSzPts val="1700"/>
              <a:buFont typeface="Comfortaa"/>
              <a:buChar char="●"/>
            </a:pPr>
            <a:r>
              <a:rPr lang="en" sz="1700" b="1" i="0" u="none" strike="noStrike" cap="none">
                <a:solidFill>
                  <a:srgbClr val="00FF00"/>
                </a:solidFill>
                <a:latin typeface="Comfortaa"/>
                <a:ea typeface="Comfortaa"/>
                <a:cs typeface="Comfortaa"/>
                <a:sym typeface="Comfortaa"/>
              </a:rPr>
              <a:t>Advantages</a:t>
            </a:r>
            <a:endParaRPr sz="1700" b="1" i="0" u="none" strike="noStrike" cap="none">
              <a:solidFill>
                <a:srgbClr val="00FF00"/>
              </a:solidFill>
              <a:latin typeface="Comfortaa"/>
              <a:ea typeface="Comfortaa"/>
              <a:cs typeface="Comfortaa"/>
              <a:sym typeface="Comfortaa"/>
            </a:endParaRPr>
          </a:p>
          <a:p>
            <a:pPr marL="0" marR="0" lvl="0" indent="0" algn="l" rtl="0">
              <a:lnSpc>
                <a:spcPct val="115000"/>
              </a:lnSpc>
              <a:spcBef>
                <a:spcPts val="0"/>
              </a:spcBef>
              <a:spcAft>
                <a:spcPts val="0"/>
              </a:spcAft>
              <a:buClr>
                <a:srgbClr val="000000"/>
              </a:buClr>
              <a:buSzPts val="1300"/>
              <a:buFont typeface="Arial"/>
              <a:buNone/>
            </a:pPr>
            <a:endParaRPr sz="1300" b="0" i="0" u="none" strike="noStrike" cap="none">
              <a:solidFill>
                <a:srgbClr val="273239"/>
              </a:solidFill>
              <a:highlight>
                <a:srgbClr val="FFFFFF"/>
              </a:highlight>
              <a:latin typeface="Arial"/>
              <a:ea typeface="Arial"/>
              <a:cs typeface="Arial"/>
              <a:sym typeface="Arial"/>
            </a:endParaRPr>
          </a:p>
          <a:p>
            <a:pPr marL="457200" marR="0" lvl="0" indent="-323850" algn="l" rtl="0">
              <a:lnSpc>
                <a:spcPct val="158000"/>
              </a:lnSpc>
              <a:spcBef>
                <a:spcPts val="800"/>
              </a:spcBef>
              <a:spcAft>
                <a:spcPts val="0"/>
              </a:spcAft>
              <a:buClr>
                <a:srgbClr val="FFFF00"/>
              </a:buClr>
              <a:buSzPts val="1500"/>
              <a:buFont typeface="Comfortaa"/>
              <a:buChar char="●"/>
            </a:pPr>
            <a:r>
              <a:rPr lang="en" sz="1500" b="1" i="0" u="none" strike="noStrike" cap="none">
                <a:solidFill>
                  <a:srgbClr val="FFFF00"/>
                </a:solidFill>
                <a:latin typeface="Comfortaa"/>
                <a:ea typeface="Comfortaa"/>
                <a:cs typeface="Comfortaa"/>
                <a:sym typeface="Comfortaa"/>
              </a:rPr>
              <a:t>Each task gets an equal opportunity</a:t>
            </a:r>
            <a:endParaRPr sz="1500" b="1" i="0" u="none" strike="noStrike" cap="none">
              <a:solidFill>
                <a:srgbClr val="FFFF00"/>
              </a:solidFill>
              <a:latin typeface="Comfortaa"/>
              <a:ea typeface="Comfortaa"/>
              <a:cs typeface="Comfortaa"/>
              <a:sym typeface="Comfortaa"/>
            </a:endParaRPr>
          </a:p>
          <a:p>
            <a:pPr marL="457200" marR="0" lvl="0" indent="-323850" algn="l" rtl="0">
              <a:lnSpc>
                <a:spcPct val="158000"/>
              </a:lnSpc>
              <a:spcBef>
                <a:spcPts val="0"/>
              </a:spcBef>
              <a:spcAft>
                <a:spcPts val="0"/>
              </a:spcAft>
              <a:buClr>
                <a:srgbClr val="FFFF00"/>
              </a:buClr>
              <a:buSzPts val="1500"/>
              <a:buFont typeface="Comfortaa"/>
              <a:buChar char="●"/>
            </a:pPr>
            <a:r>
              <a:rPr lang="en" sz="1500" b="1" i="0" u="none" strike="noStrike" cap="none">
                <a:solidFill>
                  <a:srgbClr val="FFFF00"/>
                </a:solidFill>
                <a:latin typeface="Comfortaa"/>
                <a:ea typeface="Comfortaa"/>
                <a:cs typeface="Comfortaa"/>
                <a:sym typeface="Comfortaa"/>
              </a:rPr>
              <a:t>Fewer chances of duplication of software</a:t>
            </a:r>
            <a:endParaRPr sz="1500" b="1" i="0" u="none" strike="noStrike" cap="none">
              <a:solidFill>
                <a:srgbClr val="FFFF00"/>
              </a:solidFill>
              <a:latin typeface="Comfortaa"/>
              <a:ea typeface="Comfortaa"/>
              <a:cs typeface="Comfortaa"/>
              <a:sym typeface="Comfortaa"/>
            </a:endParaRPr>
          </a:p>
          <a:p>
            <a:pPr marL="457200" marR="0" lvl="0" indent="-323850" algn="l" rtl="0">
              <a:lnSpc>
                <a:spcPct val="158000"/>
              </a:lnSpc>
              <a:spcBef>
                <a:spcPts val="0"/>
              </a:spcBef>
              <a:spcAft>
                <a:spcPts val="0"/>
              </a:spcAft>
              <a:buClr>
                <a:srgbClr val="FFFF00"/>
              </a:buClr>
              <a:buSzPts val="1500"/>
              <a:buFont typeface="Comfortaa"/>
              <a:buChar char="●"/>
            </a:pPr>
            <a:r>
              <a:rPr lang="en" sz="1500" b="1" i="0" u="none" strike="noStrike" cap="none">
                <a:solidFill>
                  <a:srgbClr val="FFFF00"/>
                </a:solidFill>
                <a:latin typeface="Comfortaa"/>
                <a:ea typeface="Comfortaa"/>
                <a:cs typeface="Comfortaa"/>
                <a:sym typeface="Comfortaa"/>
              </a:rPr>
              <a:t>CPU idle time can be reduced</a:t>
            </a:r>
            <a:endParaRPr sz="1900" b="1" i="0" u="none" strike="noStrike" cap="none">
              <a:solidFill>
                <a:srgbClr val="FFFF00"/>
              </a:solidFill>
              <a:latin typeface="Comfortaa"/>
              <a:ea typeface="Comfortaa"/>
              <a:cs typeface="Comfortaa"/>
              <a:sym typeface="Comforta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47"/>
          <p:cNvSpPr/>
          <p:nvPr/>
        </p:nvSpPr>
        <p:spPr>
          <a:xfrm>
            <a:off x="615775" y="1388500"/>
            <a:ext cx="2414700" cy="3066900"/>
          </a:xfrm>
          <a:prstGeom prst="round1Rect">
            <a:avLst>
              <a:gd name="adj" fmla="val 16667"/>
            </a:avLst>
          </a:prstGeom>
          <a:gradFill>
            <a:gsLst>
              <a:gs pos="0">
                <a:srgbClr val="FDECDB"/>
              </a:gs>
              <a:gs pos="100000">
                <a:srgbClr val="F0A963"/>
              </a:gs>
            </a:gsLst>
            <a:path path="circle">
              <a:fillToRect l="50000" t="50000" r="50000" b="50000"/>
            </a:path>
            <a:tileRect/>
          </a:gradFill>
          <a:ln w="28575" cap="flat" cmpd="sng">
            <a:solidFill>
              <a:schemeClr val="dk2"/>
            </a:solidFill>
            <a:prstDash val="solid"/>
            <a:round/>
            <a:headEnd type="none" w="sm" len="sm"/>
            <a:tailEnd type="none" w="sm" len="sm"/>
          </a:ln>
          <a:effectLst>
            <a:outerShdw blurRad="57150" dist="95250" dir="8100000" algn="bl" rotWithShape="0">
              <a:srgbClr val="FFFFFF">
                <a:alpha val="49803"/>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Time-sharing </a:t>
            </a: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Operating System</a:t>
            </a:r>
            <a:endParaRPr sz="1700" b="1" i="0" u="none" strike="noStrike" cap="none">
              <a:solidFill>
                <a:srgbClr val="000000"/>
              </a:solidFill>
              <a:latin typeface="Comfortaa"/>
              <a:ea typeface="Comfortaa"/>
              <a:cs typeface="Comfortaa"/>
              <a:sym typeface="Comfortaa"/>
            </a:endParaRPr>
          </a:p>
        </p:txBody>
      </p:sp>
      <p:sp>
        <p:nvSpPr>
          <p:cNvPr id="651" name="Google Shape;651;p47"/>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Types of Operating System</a:t>
            </a:r>
            <a:endParaRPr b="1">
              <a:solidFill>
                <a:srgbClr val="00FF00"/>
              </a:solidFill>
              <a:latin typeface="Comfortaa"/>
              <a:ea typeface="Comfortaa"/>
              <a:cs typeface="Comfortaa"/>
              <a:sym typeface="Comfortaa"/>
            </a:endParaRPr>
          </a:p>
        </p:txBody>
      </p:sp>
      <p:sp>
        <p:nvSpPr>
          <p:cNvPr id="652" name="Google Shape;652;p47"/>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38</a:t>
            </a:fld>
            <a:endParaRPr/>
          </a:p>
        </p:txBody>
      </p:sp>
      <p:sp>
        <p:nvSpPr>
          <p:cNvPr id="653" name="Google Shape;653;p47"/>
          <p:cNvSpPr txBox="1"/>
          <p:nvPr/>
        </p:nvSpPr>
        <p:spPr>
          <a:xfrm>
            <a:off x="3414775" y="1559800"/>
            <a:ext cx="5242200" cy="21045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00000"/>
              </a:lnSpc>
              <a:spcBef>
                <a:spcPts val="0"/>
              </a:spcBef>
              <a:spcAft>
                <a:spcPts val="0"/>
              </a:spcAft>
              <a:buClr>
                <a:srgbClr val="00FF00"/>
              </a:buClr>
              <a:buSzPts val="1700"/>
              <a:buFont typeface="Comfortaa"/>
              <a:buChar char="●"/>
            </a:pPr>
            <a:r>
              <a:rPr lang="en" sz="1700" b="1" i="0" u="none" strike="noStrike" cap="none" dirty="0">
                <a:solidFill>
                  <a:srgbClr val="00FF00"/>
                </a:solidFill>
                <a:latin typeface="Comfortaa"/>
                <a:ea typeface="Comfortaa"/>
                <a:cs typeface="Comfortaa"/>
                <a:sym typeface="Comfortaa"/>
              </a:rPr>
              <a:t>Disadvantages</a:t>
            </a:r>
            <a:endParaRPr sz="1700" b="1" i="0" u="none" strike="noStrike" cap="none" dirty="0">
              <a:solidFill>
                <a:srgbClr val="00FF00"/>
              </a:solidFill>
              <a:latin typeface="Comfortaa"/>
              <a:ea typeface="Comfortaa"/>
              <a:cs typeface="Comfortaa"/>
              <a:sym typeface="Comfortaa"/>
            </a:endParaRPr>
          </a:p>
          <a:p>
            <a:pPr marL="0" marR="0" lvl="0" indent="0" algn="l" rtl="0">
              <a:lnSpc>
                <a:spcPct val="115000"/>
              </a:lnSpc>
              <a:spcBef>
                <a:spcPts val="0"/>
              </a:spcBef>
              <a:spcAft>
                <a:spcPts val="0"/>
              </a:spcAft>
              <a:buClr>
                <a:srgbClr val="000000"/>
              </a:buClr>
              <a:buSzPts val="1300"/>
              <a:buFont typeface="Arial"/>
              <a:buNone/>
            </a:pPr>
            <a:endParaRPr sz="1300" b="0" i="0" u="none" strike="noStrike" cap="none" dirty="0">
              <a:solidFill>
                <a:srgbClr val="273239"/>
              </a:solidFill>
              <a:highlight>
                <a:srgbClr val="FFFFFF"/>
              </a:highlight>
              <a:latin typeface="Arial"/>
              <a:ea typeface="Arial"/>
              <a:cs typeface="Arial"/>
              <a:sym typeface="Arial"/>
            </a:endParaRPr>
          </a:p>
          <a:p>
            <a:pPr marL="457200" marR="0" lvl="0" indent="-323850" algn="l" rtl="0">
              <a:lnSpc>
                <a:spcPct val="158000"/>
              </a:lnSpc>
              <a:spcBef>
                <a:spcPts val="800"/>
              </a:spcBef>
              <a:spcAft>
                <a:spcPts val="0"/>
              </a:spcAft>
              <a:buClr>
                <a:srgbClr val="FFFF00"/>
              </a:buClr>
              <a:buSzPts val="1500"/>
              <a:buFont typeface="Comfortaa"/>
              <a:buChar char="●"/>
            </a:pPr>
            <a:r>
              <a:rPr lang="en" sz="1500" b="1" i="0" u="none" strike="noStrike" cap="none" dirty="0">
                <a:solidFill>
                  <a:srgbClr val="FFFF00"/>
                </a:solidFill>
                <a:latin typeface="Comfortaa"/>
                <a:ea typeface="Comfortaa"/>
                <a:cs typeface="Comfortaa"/>
                <a:sym typeface="Comfortaa"/>
              </a:rPr>
              <a:t>Reliability problem</a:t>
            </a:r>
            <a:endParaRPr sz="1500" b="1" i="0" u="none" strike="noStrike" cap="none" dirty="0">
              <a:solidFill>
                <a:srgbClr val="FFFF00"/>
              </a:solidFill>
              <a:latin typeface="Comfortaa"/>
              <a:ea typeface="Comfortaa"/>
              <a:cs typeface="Comfortaa"/>
              <a:sym typeface="Comfortaa"/>
            </a:endParaRPr>
          </a:p>
          <a:p>
            <a:pPr marL="457200" marR="0" lvl="0" indent="-323850" algn="l" rtl="0">
              <a:lnSpc>
                <a:spcPct val="158000"/>
              </a:lnSpc>
              <a:spcBef>
                <a:spcPts val="0"/>
              </a:spcBef>
              <a:spcAft>
                <a:spcPts val="0"/>
              </a:spcAft>
              <a:buClr>
                <a:srgbClr val="FFFF00"/>
              </a:buClr>
              <a:buSzPts val="1500"/>
              <a:buFont typeface="Comfortaa"/>
              <a:buChar char="●"/>
            </a:pPr>
            <a:r>
              <a:rPr lang="en" sz="1500" b="1" i="0" u="none" strike="noStrike" cap="none" dirty="0">
                <a:solidFill>
                  <a:srgbClr val="FFFF00"/>
                </a:solidFill>
                <a:latin typeface="Comfortaa"/>
                <a:ea typeface="Comfortaa"/>
                <a:cs typeface="Comfortaa"/>
                <a:sym typeface="Comfortaa"/>
              </a:rPr>
              <a:t>One must have to take care of the security and integrity of user programs and data</a:t>
            </a:r>
            <a:endParaRPr sz="1500" b="1" i="0" u="none" strike="noStrike" cap="none" dirty="0">
              <a:solidFill>
                <a:srgbClr val="FFFF00"/>
              </a:solidFill>
              <a:latin typeface="Comfortaa"/>
              <a:ea typeface="Comfortaa"/>
              <a:cs typeface="Comfortaa"/>
              <a:sym typeface="Comfortaa"/>
            </a:endParaRPr>
          </a:p>
          <a:p>
            <a:pPr marL="457200" marR="0" lvl="0" indent="-323850" algn="l" rtl="0">
              <a:lnSpc>
                <a:spcPct val="158000"/>
              </a:lnSpc>
              <a:spcBef>
                <a:spcPts val="0"/>
              </a:spcBef>
              <a:spcAft>
                <a:spcPts val="0"/>
              </a:spcAft>
              <a:buClr>
                <a:srgbClr val="FFFF00"/>
              </a:buClr>
              <a:buSzPts val="1500"/>
              <a:buFont typeface="Comfortaa"/>
              <a:buChar char="●"/>
            </a:pPr>
            <a:r>
              <a:rPr lang="en" sz="1500" b="1" i="0" u="none" strike="noStrike" cap="none" dirty="0">
                <a:solidFill>
                  <a:srgbClr val="FFFF00"/>
                </a:solidFill>
                <a:latin typeface="Comfortaa"/>
                <a:ea typeface="Comfortaa"/>
                <a:cs typeface="Comfortaa"/>
                <a:sym typeface="Comfortaa"/>
              </a:rPr>
              <a:t>Data communication problem</a:t>
            </a:r>
            <a:endParaRPr sz="1700" b="1" i="0" u="none" strike="noStrike" cap="none" dirty="0">
              <a:solidFill>
                <a:srgbClr val="FFFF00"/>
              </a:solidFill>
              <a:latin typeface="Comfortaa"/>
              <a:ea typeface="Comfortaa"/>
              <a:cs typeface="Comfortaa"/>
              <a:sym typeface="Comforta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48"/>
          <p:cNvSpPr/>
          <p:nvPr/>
        </p:nvSpPr>
        <p:spPr>
          <a:xfrm>
            <a:off x="615775" y="1388500"/>
            <a:ext cx="2414700" cy="3066900"/>
          </a:xfrm>
          <a:prstGeom prst="round1Rect">
            <a:avLst>
              <a:gd name="adj" fmla="val 16667"/>
            </a:avLst>
          </a:prstGeom>
          <a:gradFill>
            <a:gsLst>
              <a:gs pos="0">
                <a:srgbClr val="DCECD5"/>
              </a:gs>
              <a:gs pos="100000">
                <a:srgbClr val="93BC81"/>
              </a:gs>
            </a:gsLst>
            <a:path path="circle">
              <a:fillToRect l="50000" t="50000" r="50000" b="50000"/>
            </a:path>
            <a:tileRect/>
          </a:gradFill>
          <a:ln w="28575" cap="flat" cmpd="sng">
            <a:solidFill>
              <a:schemeClr val="dk2"/>
            </a:solidFill>
            <a:prstDash val="solid"/>
            <a:round/>
            <a:headEnd type="none" w="sm" len="sm"/>
            <a:tailEnd type="none" w="sm" len="sm"/>
          </a:ln>
          <a:effectLst>
            <a:outerShdw blurRad="57150" dist="95250" dir="8100000" algn="bl" rotWithShape="0">
              <a:srgbClr val="FFFFFF">
                <a:alpha val="49803"/>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Distributed</a:t>
            </a: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Operating System</a:t>
            </a:r>
            <a:endParaRPr sz="1700" b="1" i="0" u="none" strike="noStrike" cap="none">
              <a:solidFill>
                <a:srgbClr val="000000"/>
              </a:solidFill>
              <a:latin typeface="Comfortaa"/>
              <a:ea typeface="Comfortaa"/>
              <a:cs typeface="Comfortaa"/>
              <a:sym typeface="Comfortaa"/>
            </a:endParaRPr>
          </a:p>
        </p:txBody>
      </p:sp>
      <p:sp>
        <p:nvSpPr>
          <p:cNvPr id="659" name="Google Shape;659;p48"/>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Types of Operating System</a:t>
            </a:r>
            <a:endParaRPr b="1">
              <a:solidFill>
                <a:srgbClr val="00FF00"/>
              </a:solidFill>
              <a:latin typeface="Comfortaa"/>
              <a:ea typeface="Comfortaa"/>
              <a:cs typeface="Comfortaa"/>
              <a:sym typeface="Comfortaa"/>
            </a:endParaRPr>
          </a:p>
        </p:txBody>
      </p:sp>
      <p:sp>
        <p:nvSpPr>
          <p:cNvPr id="660" name="Google Shape;660;p48"/>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39</a:t>
            </a:fld>
            <a:endParaRPr/>
          </a:p>
        </p:txBody>
      </p:sp>
      <p:sp>
        <p:nvSpPr>
          <p:cNvPr id="661" name="Google Shape;661;p48"/>
          <p:cNvSpPr txBox="1"/>
          <p:nvPr/>
        </p:nvSpPr>
        <p:spPr>
          <a:xfrm>
            <a:off x="3402700" y="1388500"/>
            <a:ext cx="5242200" cy="34788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00000"/>
              </a:lnSpc>
              <a:spcBef>
                <a:spcPts val="0"/>
              </a:spcBef>
              <a:spcAft>
                <a:spcPts val="0"/>
              </a:spcAft>
              <a:buClr>
                <a:srgbClr val="FFFF00"/>
              </a:buClr>
              <a:buSzPts val="1700"/>
              <a:buFont typeface="Comfortaa"/>
              <a:buChar char="●"/>
            </a:pPr>
            <a:r>
              <a:rPr lang="en" sz="1500" b="0" i="0" u="none" strike="noStrike" cap="none">
                <a:solidFill>
                  <a:srgbClr val="FFFF00"/>
                </a:solidFill>
                <a:latin typeface="Comfortaa"/>
                <a:ea typeface="Comfortaa"/>
                <a:cs typeface="Comfortaa"/>
                <a:sym typeface="Comfortaa"/>
              </a:rPr>
              <a:t>Various autonomous interconnected computers communicate with each other using a shared communication network.</a:t>
            </a:r>
            <a:endParaRPr sz="1500" b="0" i="0" u="none" strike="noStrike" cap="none">
              <a:solidFill>
                <a:srgbClr val="FFFF00"/>
              </a:solidFill>
              <a:latin typeface="Comfortaa"/>
              <a:ea typeface="Comfortaa"/>
              <a:cs typeface="Comfortaa"/>
              <a:sym typeface="Comfortaa"/>
            </a:endParaRPr>
          </a:p>
          <a:p>
            <a:pPr marL="457200" marR="0" lvl="0" indent="-336550" algn="l" rtl="0">
              <a:lnSpc>
                <a:spcPct val="100000"/>
              </a:lnSpc>
              <a:spcBef>
                <a:spcPts val="0"/>
              </a:spcBef>
              <a:spcAft>
                <a:spcPts val="0"/>
              </a:spcAft>
              <a:buClr>
                <a:srgbClr val="FFFF00"/>
              </a:buClr>
              <a:buSzPts val="1700"/>
              <a:buFont typeface="Comfortaa"/>
              <a:buChar char="●"/>
            </a:pPr>
            <a:r>
              <a:rPr lang="en" sz="1500" b="1" i="0" u="none" strike="noStrike" cap="none">
                <a:solidFill>
                  <a:srgbClr val="FFFF00"/>
                </a:solidFill>
                <a:latin typeface="Comfortaa"/>
                <a:ea typeface="Comfortaa"/>
                <a:cs typeface="Comfortaa"/>
                <a:sym typeface="Comfortaa"/>
              </a:rPr>
              <a:t>Independent systems possess their own memory unit and CPU. </a:t>
            </a:r>
            <a:endParaRPr sz="1500" b="1" i="0" u="none" strike="noStrike" cap="none">
              <a:solidFill>
                <a:srgbClr val="FF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Comfortaa"/>
              <a:buChar char="●"/>
            </a:pPr>
            <a:r>
              <a:rPr lang="en" sz="1500" b="1" i="0" u="none" strike="noStrike" cap="none">
                <a:solidFill>
                  <a:srgbClr val="FFFF00"/>
                </a:solidFill>
                <a:latin typeface="Comfortaa"/>
                <a:ea typeface="Comfortaa"/>
                <a:cs typeface="Comfortaa"/>
                <a:sym typeface="Comfortaa"/>
              </a:rPr>
              <a:t>These system’s processors differ in size and function. The major benefit of working with these types of the operating system is that it is always possible that one user can access the files or software which are not actually present on his system but some other system connected within this network i.e., remote access is enabled within the devices connected in that network. </a:t>
            </a:r>
            <a:endParaRPr sz="1500" b="1" i="0" u="none" strike="noStrike" cap="none">
              <a:solidFill>
                <a:srgbClr val="FFFF00"/>
              </a:solidFill>
              <a:latin typeface="Comfortaa"/>
              <a:ea typeface="Comfortaa"/>
              <a:cs typeface="Comfortaa"/>
              <a:sym typeface="Comforta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58"/>
                                        </p:tgtEl>
                                        <p:attrNameLst>
                                          <p:attrName>style.visibility</p:attrName>
                                        </p:attrNameLst>
                                      </p:cBhvr>
                                      <p:to>
                                        <p:strVal val="visible"/>
                                      </p:to>
                                    </p:set>
                                    <p:anim calcmode="lin" valueType="num">
                                      <p:cBhvr additive="base">
                                        <p:cTn id="7" dur="1000"/>
                                        <p:tgtEl>
                                          <p:spTgt spid="658"/>
                                        </p:tgtEl>
                                        <p:attrNameLst>
                                          <p:attrName>ppt_x</p:attrName>
                                        </p:attrNameLst>
                                      </p:cBhvr>
                                      <p:tavLst>
                                        <p:tav tm="0">
                                          <p:val>
                                            <p:strVal val="#ppt_x-1"/>
                                          </p:val>
                                        </p:tav>
                                        <p:tav tm="100000">
                                          <p:val>
                                            <p:strVal val="#ppt_x"/>
                                          </p:val>
                                        </p:tav>
                                      </p:tavLst>
                                    </p:anim>
                                  </p:childTnLst>
                                </p:cTn>
                              </p:par>
                              <p:par>
                                <p:cTn id="8" presetID="10" presetClass="entr" presetSubtype="0" fill="hold" nodeType="withEffect">
                                  <p:stCondLst>
                                    <p:cond delay="0"/>
                                  </p:stCondLst>
                                  <p:childTnLst>
                                    <p:set>
                                      <p:cBhvr>
                                        <p:cTn id="9" dur="1" fill="hold">
                                          <p:stCondLst>
                                            <p:cond delay="0"/>
                                          </p:stCondLst>
                                        </p:cTn>
                                        <p:tgtEl>
                                          <p:spTgt spid="661"/>
                                        </p:tgtEl>
                                        <p:attrNameLst>
                                          <p:attrName>style.visibility</p:attrName>
                                        </p:attrNameLst>
                                      </p:cBhvr>
                                      <p:to>
                                        <p:strVal val="visible"/>
                                      </p:to>
                                    </p:set>
                                    <p:animEffect transition="in" filter="fade">
                                      <p:cBhvr>
                                        <p:cTn id="10" dur="1000"/>
                                        <p:tgtEl>
                                          <p:spTgt spid="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49"/>
          <p:cNvSpPr/>
          <p:nvPr/>
        </p:nvSpPr>
        <p:spPr>
          <a:xfrm>
            <a:off x="615775" y="1388500"/>
            <a:ext cx="2414700" cy="3066900"/>
          </a:xfrm>
          <a:prstGeom prst="round1Rect">
            <a:avLst>
              <a:gd name="adj" fmla="val 16667"/>
            </a:avLst>
          </a:prstGeom>
          <a:gradFill>
            <a:gsLst>
              <a:gs pos="0">
                <a:srgbClr val="DCECD5"/>
              </a:gs>
              <a:gs pos="100000">
                <a:srgbClr val="93BC81"/>
              </a:gs>
            </a:gsLst>
            <a:path path="circle">
              <a:fillToRect l="50000" t="50000" r="50000" b="50000"/>
            </a:path>
            <a:tileRect/>
          </a:gradFill>
          <a:ln w="28575" cap="flat" cmpd="sng">
            <a:solidFill>
              <a:schemeClr val="dk2"/>
            </a:solidFill>
            <a:prstDash val="solid"/>
            <a:round/>
            <a:headEnd type="none" w="sm" len="sm"/>
            <a:tailEnd type="none" w="sm" len="sm"/>
          </a:ln>
          <a:effectLst>
            <a:outerShdw blurRad="57150" dist="95250" dir="8100000" algn="bl" rotWithShape="0">
              <a:srgbClr val="FFFFFF">
                <a:alpha val="49803"/>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Distributed</a:t>
            </a: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Operating System</a:t>
            </a:r>
            <a:endParaRPr sz="1700" b="1" i="0" u="none" strike="noStrike" cap="none">
              <a:solidFill>
                <a:srgbClr val="000000"/>
              </a:solidFill>
              <a:latin typeface="Comfortaa"/>
              <a:ea typeface="Comfortaa"/>
              <a:cs typeface="Comfortaa"/>
              <a:sym typeface="Comfortaa"/>
            </a:endParaRPr>
          </a:p>
        </p:txBody>
      </p:sp>
      <p:sp>
        <p:nvSpPr>
          <p:cNvPr id="667" name="Google Shape;667;p49"/>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Types of Operating System</a:t>
            </a:r>
            <a:endParaRPr b="1">
              <a:solidFill>
                <a:srgbClr val="00FF00"/>
              </a:solidFill>
              <a:latin typeface="Comfortaa"/>
              <a:ea typeface="Comfortaa"/>
              <a:cs typeface="Comfortaa"/>
              <a:sym typeface="Comfortaa"/>
            </a:endParaRPr>
          </a:p>
        </p:txBody>
      </p:sp>
      <p:sp>
        <p:nvSpPr>
          <p:cNvPr id="668" name="Google Shape;668;p49"/>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40</a:t>
            </a:fld>
            <a:endParaRPr/>
          </a:p>
        </p:txBody>
      </p:sp>
      <p:sp>
        <p:nvSpPr>
          <p:cNvPr id="669" name="Google Shape;669;p49"/>
          <p:cNvSpPr txBox="1"/>
          <p:nvPr/>
        </p:nvSpPr>
        <p:spPr>
          <a:xfrm>
            <a:off x="3402700" y="1388500"/>
            <a:ext cx="5242200" cy="25320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00000"/>
              </a:lnSpc>
              <a:spcBef>
                <a:spcPts val="0"/>
              </a:spcBef>
              <a:spcAft>
                <a:spcPts val="0"/>
              </a:spcAft>
              <a:buClr>
                <a:srgbClr val="00FF00"/>
              </a:buClr>
              <a:buSzPts val="1700"/>
              <a:buFont typeface="Comfortaa"/>
              <a:buChar char="●"/>
            </a:pPr>
            <a:r>
              <a:rPr lang="en" sz="1700" b="1" i="0" u="none" strike="noStrike" cap="none">
                <a:solidFill>
                  <a:srgbClr val="00FF00"/>
                </a:solidFill>
                <a:latin typeface="Comfortaa"/>
                <a:ea typeface="Comfortaa"/>
                <a:cs typeface="Comfortaa"/>
                <a:sym typeface="Comfortaa"/>
              </a:rPr>
              <a:t>Advantages</a:t>
            </a:r>
            <a:endParaRPr sz="1700" b="1" i="0" u="none" strike="noStrike" cap="none">
              <a:solidFill>
                <a:srgbClr val="00FF00"/>
              </a:solidFill>
              <a:latin typeface="Comfortaa"/>
              <a:ea typeface="Comfortaa"/>
              <a:cs typeface="Comfortaa"/>
              <a:sym typeface="Comfortaa"/>
            </a:endParaRPr>
          </a:p>
          <a:p>
            <a:pPr marL="457200" marR="0" lvl="0" indent="0" algn="l" rtl="0">
              <a:lnSpc>
                <a:spcPct val="100000"/>
              </a:lnSpc>
              <a:spcBef>
                <a:spcPts val="0"/>
              </a:spcBef>
              <a:spcAft>
                <a:spcPts val="0"/>
              </a:spcAft>
              <a:buClr>
                <a:srgbClr val="000000"/>
              </a:buClr>
              <a:buSzPts val="1700"/>
              <a:buFont typeface="Arial"/>
              <a:buNone/>
            </a:pPr>
            <a:endParaRPr sz="1700" b="1" i="0" u="none" strike="noStrike" cap="none">
              <a:solidFill>
                <a:srgbClr val="00FF00"/>
              </a:solidFill>
              <a:latin typeface="Comfortaa"/>
              <a:ea typeface="Comfortaa"/>
              <a:cs typeface="Comfortaa"/>
              <a:sym typeface="Comfortaa"/>
            </a:endParaRPr>
          </a:p>
          <a:p>
            <a:pPr marL="457200" marR="0" lvl="0" indent="-323850" algn="l" rtl="0">
              <a:lnSpc>
                <a:spcPct val="115000"/>
              </a:lnSpc>
              <a:spcBef>
                <a:spcPts val="0"/>
              </a:spcBef>
              <a:spcAft>
                <a:spcPts val="0"/>
              </a:spcAft>
              <a:buClr>
                <a:srgbClr val="FFFF00"/>
              </a:buClr>
              <a:buSzPts val="1500"/>
              <a:buFont typeface="Comfortaa"/>
              <a:buChar char="●"/>
            </a:pPr>
            <a:r>
              <a:rPr lang="en" sz="1500" b="1" i="0" u="none" strike="noStrike" cap="none">
                <a:solidFill>
                  <a:srgbClr val="FFFF00"/>
                </a:solidFill>
                <a:latin typeface="Comfortaa"/>
                <a:ea typeface="Comfortaa"/>
                <a:cs typeface="Comfortaa"/>
                <a:sym typeface="Comfortaa"/>
              </a:rPr>
              <a:t>Failure of one will not affect the other network communication, as all systems are independent from each other</a:t>
            </a:r>
            <a:endParaRPr sz="1500" b="1" i="0" u="none" strike="noStrike" cap="none">
              <a:solidFill>
                <a:srgbClr val="FFFF00"/>
              </a:solidFill>
              <a:latin typeface="Comfortaa"/>
              <a:ea typeface="Comfortaa"/>
              <a:cs typeface="Comfortaa"/>
              <a:sym typeface="Comfortaa"/>
            </a:endParaRPr>
          </a:p>
          <a:p>
            <a:pPr marL="457200" marR="0" lvl="0" indent="-323850" algn="l" rtl="0">
              <a:lnSpc>
                <a:spcPct val="115000"/>
              </a:lnSpc>
              <a:spcBef>
                <a:spcPts val="0"/>
              </a:spcBef>
              <a:spcAft>
                <a:spcPts val="0"/>
              </a:spcAft>
              <a:buClr>
                <a:srgbClr val="FFFF00"/>
              </a:buClr>
              <a:buSzPts val="1500"/>
              <a:buFont typeface="Comfortaa"/>
              <a:buChar char="●"/>
            </a:pPr>
            <a:r>
              <a:rPr lang="en" sz="1500" b="1" i="0" u="none" strike="noStrike" cap="none">
                <a:solidFill>
                  <a:srgbClr val="FFFF00"/>
                </a:solidFill>
                <a:latin typeface="Comfortaa"/>
                <a:ea typeface="Comfortaa"/>
                <a:cs typeface="Comfortaa"/>
                <a:sym typeface="Comfortaa"/>
              </a:rPr>
              <a:t>Since resources are being shared, computation is highly fast and durable</a:t>
            </a:r>
            <a:endParaRPr sz="1500" b="1" i="0" u="none" strike="noStrike" cap="none">
              <a:solidFill>
                <a:srgbClr val="FFFF00"/>
              </a:solidFill>
              <a:latin typeface="Comfortaa"/>
              <a:ea typeface="Comfortaa"/>
              <a:cs typeface="Comfortaa"/>
              <a:sym typeface="Comfortaa"/>
            </a:endParaRPr>
          </a:p>
          <a:p>
            <a:pPr marL="457200" marR="0" lvl="0" indent="-323850" algn="l" rtl="0">
              <a:lnSpc>
                <a:spcPct val="115000"/>
              </a:lnSpc>
              <a:spcBef>
                <a:spcPts val="0"/>
              </a:spcBef>
              <a:spcAft>
                <a:spcPts val="0"/>
              </a:spcAft>
              <a:buClr>
                <a:srgbClr val="FFFF00"/>
              </a:buClr>
              <a:buSzPts val="1500"/>
              <a:buFont typeface="Comfortaa"/>
              <a:buChar char="●"/>
            </a:pPr>
            <a:r>
              <a:rPr lang="en" sz="1500" b="1" i="0" u="none" strike="noStrike" cap="none">
                <a:solidFill>
                  <a:srgbClr val="FFFF00"/>
                </a:solidFill>
                <a:latin typeface="Comfortaa"/>
                <a:ea typeface="Comfortaa"/>
                <a:cs typeface="Comfortaa"/>
                <a:sym typeface="Comfortaa"/>
              </a:rPr>
              <a:t>These systems are easily scalable as many systems can be easily added to the network</a:t>
            </a:r>
            <a:endParaRPr sz="1500" b="1" i="0" u="none" strike="noStrike" cap="none">
              <a:solidFill>
                <a:srgbClr val="FFFF00"/>
              </a:solidFill>
              <a:latin typeface="Comfortaa"/>
              <a:ea typeface="Comfortaa"/>
              <a:cs typeface="Comfortaa"/>
              <a:sym typeface="Comforta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50"/>
          <p:cNvSpPr/>
          <p:nvPr/>
        </p:nvSpPr>
        <p:spPr>
          <a:xfrm>
            <a:off x="615775" y="1388500"/>
            <a:ext cx="2414700" cy="3066900"/>
          </a:xfrm>
          <a:prstGeom prst="round1Rect">
            <a:avLst>
              <a:gd name="adj" fmla="val 16667"/>
            </a:avLst>
          </a:prstGeom>
          <a:gradFill>
            <a:gsLst>
              <a:gs pos="0">
                <a:srgbClr val="DCECD5"/>
              </a:gs>
              <a:gs pos="100000">
                <a:srgbClr val="93BC81"/>
              </a:gs>
            </a:gsLst>
            <a:path path="circle">
              <a:fillToRect l="50000" t="50000" r="50000" b="50000"/>
            </a:path>
            <a:tileRect/>
          </a:gradFill>
          <a:ln w="28575" cap="flat" cmpd="sng">
            <a:solidFill>
              <a:schemeClr val="dk2"/>
            </a:solidFill>
            <a:prstDash val="solid"/>
            <a:round/>
            <a:headEnd type="none" w="sm" len="sm"/>
            <a:tailEnd type="none" w="sm" len="sm"/>
          </a:ln>
          <a:effectLst>
            <a:outerShdw blurRad="57150" dist="95250" dir="8100000" algn="bl" rotWithShape="0">
              <a:srgbClr val="FFFFFF">
                <a:alpha val="49803"/>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Distributed</a:t>
            </a: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Operating System</a:t>
            </a:r>
            <a:endParaRPr sz="1700" b="1" i="0" u="none" strike="noStrike" cap="none">
              <a:solidFill>
                <a:srgbClr val="000000"/>
              </a:solidFill>
              <a:latin typeface="Comfortaa"/>
              <a:ea typeface="Comfortaa"/>
              <a:cs typeface="Comfortaa"/>
              <a:sym typeface="Comfortaa"/>
            </a:endParaRPr>
          </a:p>
        </p:txBody>
      </p:sp>
      <p:sp>
        <p:nvSpPr>
          <p:cNvPr id="675" name="Google Shape;675;p50"/>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Types of Operating System</a:t>
            </a:r>
            <a:endParaRPr b="1">
              <a:solidFill>
                <a:srgbClr val="00FF00"/>
              </a:solidFill>
              <a:latin typeface="Comfortaa"/>
              <a:ea typeface="Comfortaa"/>
              <a:cs typeface="Comfortaa"/>
              <a:sym typeface="Comfortaa"/>
            </a:endParaRPr>
          </a:p>
        </p:txBody>
      </p:sp>
      <p:sp>
        <p:nvSpPr>
          <p:cNvPr id="676" name="Google Shape;676;p50"/>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41</a:t>
            </a:fld>
            <a:endParaRPr/>
          </a:p>
        </p:txBody>
      </p:sp>
      <p:sp>
        <p:nvSpPr>
          <p:cNvPr id="677" name="Google Shape;677;p50"/>
          <p:cNvSpPr txBox="1"/>
          <p:nvPr/>
        </p:nvSpPr>
        <p:spPr>
          <a:xfrm>
            <a:off x="3402700" y="1388500"/>
            <a:ext cx="5242200" cy="27630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00000"/>
              </a:lnSpc>
              <a:spcBef>
                <a:spcPts val="0"/>
              </a:spcBef>
              <a:spcAft>
                <a:spcPts val="0"/>
              </a:spcAft>
              <a:buClr>
                <a:srgbClr val="00FF00"/>
              </a:buClr>
              <a:buSzPts val="1700"/>
              <a:buFont typeface="Comfortaa"/>
              <a:buChar char="●"/>
            </a:pPr>
            <a:r>
              <a:rPr lang="en" sz="1700" b="1" i="0" u="none" strike="noStrike" cap="none">
                <a:solidFill>
                  <a:srgbClr val="00FF00"/>
                </a:solidFill>
                <a:latin typeface="Comfortaa"/>
                <a:ea typeface="Comfortaa"/>
                <a:cs typeface="Comfortaa"/>
                <a:sym typeface="Comfortaa"/>
              </a:rPr>
              <a:t>Disadvantages</a:t>
            </a:r>
            <a:endParaRPr sz="1700" b="1" i="0" u="none" strike="noStrike" cap="none">
              <a:solidFill>
                <a:srgbClr val="00FF00"/>
              </a:solidFill>
              <a:latin typeface="Comfortaa"/>
              <a:ea typeface="Comfortaa"/>
              <a:cs typeface="Comfortaa"/>
              <a:sym typeface="Comfortaa"/>
            </a:endParaRPr>
          </a:p>
          <a:p>
            <a:pPr marL="457200" marR="0" lvl="0" indent="0" algn="l" rtl="0">
              <a:lnSpc>
                <a:spcPct val="100000"/>
              </a:lnSpc>
              <a:spcBef>
                <a:spcPts val="0"/>
              </a:spcBef>
              <a:spcAft>
                <a:spcPts val="0"/>
              </a:spcAft>
              <a:buClr>
                <a:srgbClr val="000000"/>
              </a:buClr>
              <a:buSzPts val="1700"/>
              <a:buFont typeface="Arial"/>
              <a:buNone/>
            </a:pPr>
            <a:endParaRPr sz="1700" b="1" i="0" u="none" strike="noStrike" cap="none">
              <a:solidFill>
                <a:srgbClr val="00FF00"/>
              </a:solidFill>
              <a:latin typeface="Comfortaa"/>
              <a:ea typeface="Comfortaa"/>
              <a:cs typeface="Comfortaa"/>
              <a:sym typeface="Comfortaa"/>
            </a:endParaRPr>
          </a:p>
          <a:p>
            <a:pPr marL="457200" marR="0" lvl="0" indent="-323850" algn="l" rtl="0">
              <a:lnSpc>
                <a:spcPct val="158000"/>
              </a:lnSpc>
              <a:spcBef>
                <a:spcPts val="0"/>
              </a:spcBef>
              <a:spcAft>
                <a:spcPts val="0"/>
              </a:spcAft>
              <a:buClr>
                <a:srgbClr val="FFFF00"/>
              </a:buClr>
              <a:buSzPts val="1500"/>
              <a:buFont typeface="Comfortaa"/>
              <a:buChar char="●"/>
            </a:pPr>
            <a:r>
              <a:rPr lang="en" sz="1500" b="1" i="0" u="none" strike="noStrike" cap="none">
                <a:solidFill>
                  <a:srgbClr val="FFFF00"/>
                </a:solidFill>
                <a:latin typeface="Comfortaa"/>
                <a:ea typeface="Comfortaa"/>
                <a:cs typeface="Comfortaa"/>
                <a:sym typeface="Comfortaa"/>
              </a:rPr>
              <a:t>Failure of the main network will stop the entire communication</a:t>
            </a:r>
            <a:endParaRPr sz="1500" b="1" i="0" u="none" strike="noStrike" cap="none">
              <a:solidFill>
                <a:srgbClr val="FFFF00"/>
              </a:solidFill>
              <a:latin typeface="Comfortaa"/>
              <a:ea typeface="Comfortaa"/>
              <a:cs typeface="Comfortaa"/>
              <a:sym typeface="Comfortaa"/>
            </a:endParaRPr>
          </a:p>
          <a:p>
            <a:pPr marL="457200" marR="0" lvl="0" indent="-323850" algn="l" rtl="0">
              <a:lnSpc>
                <a:spcPct val="158000"/>
              </a:lnSpc>
              <a:spcBef>
                <a:spcPts val="0"/>
              </a:spcBef>
              <a:spcAft>
                <a:spcPts val="0"/>
              </a:spcAft>
              <a:buClr>
                <a:srgbClr val="FFFF00"/>
              </a:buClr>
              <a:buSzPts val="1500"/>
              <a:buFont typeface="Comfortaa"/>
              <a:buChar char="●"/>
            </a:pPr>
            <a:r>
              <a:rPr lang="en" sz="1500" b="1" i="0" u="none" strike="noStrike" cap="none">
                <a:solidFill>
                  <a:srgbClr val="FFFF00"/>
                </a:solidFill>
                <a:latin typeface="Comfortaa"/>
                <a:ea typeface="Comfortaa"/>
                <a:cs typeface="Comfortaa"/>
                <a:sym typeface="Comfortaa"/>
              </a:rPr>
              <a:t>To establish distributed systems the language which is used are not well defined yet</a:t>
            </a:r>
            <a:endParaRPr sz="1500" b="1" i="0" u="none" strike="noStrike" cap="none">
              <a:solidFill>
                <a:srgbClr val="FFFF00"/>
              </a:solidFill>
              <a:latin typeface="Comfortaa"/>
              <a:ea typeface="Comfortaa"/>
              <a:cs typeface="Comfortaa"/>
              <a:sym typeface="Comfortaa"/>
            </a:endParaRPr>
          </a:p>
          <a:p>
            <a:pPr marL="457200" marR="0" lvl="0" indent="-323850" algn="l" rtl="0">
              <a:lnSpc>
                <a:spcPct val="158000"/>
              </a:lnSpc>
              <a:spcBef>
                <a:spcPts val="0"/>
              </a:spcBef>
              <a:spcAft>
                <a:spcPts val="0"/>
              </a:spcAft>
              <a:buClr>
                <a:srgbClr val="FFFF00"/>
              </a:buClr>
              <a:buSzPts val="1500"/>
              <a:buFont typeface="Comfortaa"/>
              <a:buChar char="●"/>
            </a:pPr>
            <a:r>
              <a:rPr lang="en" sz="1500" b="1" i="0" u="none" strike="noStrike" cap="none">
                <a:solidFill>
                  <a:srgbClr val="FFFF00"/>
                </a:solidFill>
                <a:latin typeface="Comfortaa"/>
                <a:ea typeface="Comfortaa"/>
                <a:cs typeface="Comfortaa"/>
                <a:sym typeface="Comfortaa"/>
              </a:rPr>
              <a:t>These types of systems are not readily available as they are very expensive. </a:t>
            </a:r>
            <a:endParaRPr sz="1700" b="1" i="0" u="none" strike="noStrike" cap="none">
              <a:solidFill>
                <a:srgbClr val="FFFF00"/>
              </a:solidFill>
              <a:latin typeface="Comfortaa"/>
              <a:ea typeface="Comfortaa"/>
              <a:cs typeface="Comfortaa"/>
              <a:sym typeface="Comforta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51"/>
          <p:cNvSpPr/>
          <p:nvPr/>
        </p:nvSpPr>
        <p:spPr>
          <a:xfrm>
            <a:off x="615775" y="1388500"/>
            <a:ext cx="2414700" cy="3066900"/>
          </a:xfrm>
          <a:prstGeom prst="round1Rect">
            <a:avLst>
              <a:gd name="adj" fmla="val 16667"/>
            </a:avLst>
          </a:prstGeom>
          <a:gradFill>
            <a:gsLst>
              <a:gs pos="0">
                <a:srgbClr val="D4E5F5"/>
              </a:gs>
              <a:gs pos="100000">
                <a:srgbClr val="70A4D5"/>
              </a:gs>
            </a:gsLst>
            <a:path path="circle">
              <a:fillToRect l="50000" t="50000" r="50000" b="50000"/>
            </a:path>
            <a:tileRect/>
          </a:gradFill>
          <a:ln w="28575" cap="flat" cmpd="sng">
            <a:solidFill>
              <a:schemeClr val="dk2"/>
            </a:solidFill>
            <a:prstDash val="solid"/>
            <a:round/>
            <a:headEnd type="none" w="sm" len="sm"/>
            <a:tailEnd type="none" w="sm" len="sm"/>
          </a:ln>
          <a:effectLst>
            <a:outerShdw blurRad="57150" dist="95250" dir="8100000" algn="bl" rotWithShape="0">
              <a:srgbClr val="FFFFFF">
                <a:alpha val="49803"/>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Real time</a:t>
            </a: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Operating System</a:t>
            </a:r>
            <a:endParaRPr sz="1700" b="1" i="0" u="none" strike="noStrike" cap="none">
              <a:solidFill>
                <a:srgbClr val="000000"/>
              </a:solidFill>
              <a:latin typeface="Comfortaa"/>
              <a:ea typeface="Comfortaa"/>
              <a:cs typeface="Comfortaa"/>
              <a:sym typeface="Comfortaa"/>
            </a:endParaRPr>
          </a:p>
        </p:txBody>
      </p:sp>
      <p:sp>
        <p:nvSpPr>
          <p:cNvPr id="683" name="Google Shape;683;p51"/>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Types of Operating System</a:t>
            </a:r>
            <a:endParaRPr b="1">
              <a:solidFill>
                <a:srgbClr val="00FF00"/>
              </a:solidFill>
              <a:latin typeface="Comfortaa"/>
              <a:ea typeface="Comfortaa"/>
              <a:cs typeface="Comfortaa"/>
              <a:sym typeface="Comfortaa"/>
            </a:endParaRPr>
          </a:p>
        </p:txBody>
      </p:sp>
      <p:sp>
        <p:nvSpPr>
          <p:cNvPr id="684" name="Google Shape;684;p51"/>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42</a:t>
            </a:fld>
            <a:endParaRPr/>
          </a:p>
        </p:txBody>
      </p:sp>
      <p:sp>
        <p:nvSpPr>
          <p:cNvPr id="685" name="Google Shape;685;p51"/>
          <p:cNvSpPr txBox="1"/>
          <p:nvPr/>
        </p:nvSpPr>
        <p:spPr>
          <a:xfrm>
            <a:off x="3230250" y="1388500"/>
            <a:ext cx="5511300" cy="3478800"/>
          </a:xfrm>
          <a:prstGeom prst="rect">
            <a:avLst/>
          </a:prstGeom>
          <a:noFill/>
          <a:ln>
            <a:noFill/>
          </a:ln>
        </p:spPr>
        <p:txBody>
          <a:bodyPr spcFirstLastPara="1" wrap="square" lIns="91425" tIns="91425" rIns="91425" bIns="91425" anchor="t" anchorCtr="0">
            <a:spAutoFit/>
          </a:bodyPr>
          <a:lstStyle/>
          <a:p>
            <a:pPr marL="457200" marR="0" lvl="0" indent="-323850" algn="l" rtl="0">
              <a:lnSpc>
                <a:spcPct val="100000"/>
              </a:lnSpc>
              <a:spcBef>
                <a:spcPts val="0"/>
              </a:spcBef>
              <a:spcAft>
                <a:spcPts val="0"/>
              </a:spcAft>
              <a:buClr>
                <a:srgbClr val="FFFF00"/>
              </a:buClr>
              <a:buSzPts val="1500"/>
              <a:buFont typeface="Comfortaa"/>
              <a:buChar char="●"/>
            </a:pPr>
            <a:r>
              <a:rPr lang="en" sz="1500" b="0" i="0" u="none" strike="noStrike" cap="none">
                <a:solidFill>
                  <a:srgbClr val="FFFF00"/>
                </a:solidFill>
                <a:latin typeface="Comfortaa"/>
                <a:ea typeface="Comfortaa"/>
                <a:cs typeface="Comfortaa"/>
                <a:sym typeface="Comfortaa"/>
              </a:rPr>
              <a:t>These types of OSs serve real-time systems. </a:t>
            </a:r>
            <a:endParaRPr sz="1500" b="0" i="0" u="none" strike="noStrike" cap="none">
              <a:solidFill>
                <a:srgbClr val="FF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Comfortaa"/>
              <a:buChar char="●"/>
            </a:pPr>
            <a:r>
              <a:rPr lang="en" sz="1500" b="0" i="0" u="none" strike="noStrike" cap="none">
                <a:solidFill>
                  <a:srgbClr val="FFFF00"/>
                </a:solidFill>
                <a:latin typeface="Comfortaa"/>
                <a:ea typeface="Comfortaa"/>
                <a:cs typeface="Comfortaa"/>
                <a:sym typeface="Comfortaa"/>
              </a:rPr>
              <a:t>The time interval required to process and respond to inputs is very small. </a:t>
            </a:r>
            <a:endParaRPr sz="1500" b="0" i="0" u="none" strike="noStrike" cap="none">
              <a:solidFill>
                <a:srgbClr val="FF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Comfortaa"/>
              <a:buChar char="●"/>
            </a:pPr>
            <a:r>
              <a:rPr lang="en" sz="1500" b="0" i="0" u="none" strike="noStrike" cap="none">
                <a:solidFill>
                  <a:srgbClr val="FFFF00"/>
                </a:solidFill>
                <a:latin typeface="Comfortaa"/>
                <a:ea typeface="Comfortaa"/>
                <a:cs typeface="Comfortaa"/>
                <a:sym typeface="Comfortaa"/>
              </a:rPr>
              <a:t>This time interval is called </a:t>
            </a:r>
            <a:r>
              <a:rPr lang="en" sz="1500" b="1" i="0" u="none" strike="noStrike" cap="none">
                <a:solidFill>
                  <a:srgbClr val="FFFF00"/>
                </a:solidFill>
                <a:latin typeface="Comfortaa"/>
                <a:ea typeface="Comfortaa"/>
                <a:cs typeface="Comfortaa"/>
                <a:sym typeface="Comfortaa"/>
              </a:rPr>
              <a:t>response time</a:t>
            </a:r>
            <a:endParaRPr sz="1500" b="1" i="0" u="none" strike="noStrike" cap="none">
              <a:solidFill>
                <a:srgbClr val="FF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Comfortaa"/>
              <a:buChar char="●"/>
            </a:pPr>
            <a:r>
              <a:rPr lang="en" sz="1500" b="1" i="0" u="none" strike="noStrike" cap="none">
                <a:solidFill>
                  <a:srgbClr val="FFFF00"/>
                </a:solidFill>
                <a:latin typeface="Comfortaa"/>
                <a:ea typeface="Comfortaa"/>
                <a:cs typeface="Comfortaa"/>
                <a:sym typeface="Comfortaa"/>
              </a:rPr>
              <a:t>Real-time systems</a:t>
            </a:r>
            <a:r>
              <a:rPr lang="en" sz="1500" b="0" i="0" u="none" strike="noStrike" cap="none">
                <a:solidFill>
                  <a:srgbClr val="FFFF00"/>
                </a:solidFill>
                <a:latin typeface="Comfortaa"/>
                <a:ea typeface="Comfortaa"/>
                <a:cs typeface="Comfortaa"/>
                <a:sym typeface="Comfortaa"/>
              </a:rPr>
              <a:t> are used when there are time requirements that are very strict like missile systems, air traffic control systems, robots, etc</a:t>
            </a:r>
            <a:endParaRPr sz="1500" b="0" i="0" u="none" strike="noStrike" cap="none">
              <a:solidFill>
                <a:srgbClr val="FFFF00"/>
              </a:solidFill>
              <a:latin typeface="Comfortaa"/>
              <a:ea typeface="Comfortaa"/>
              <a:cs typeface="Comfortaa"/>
              <a:sym typeface="Comfortaa"/>
            </a:endParaRPr>
          </a:p>
          <a:p>
            <a:pPr marL="457200" marR="0" lvl="0" indent="-336550" algn="l" rtl="0">
              <a:lnSpc>
                <a:spcPct val="100000"/>
              </a:lnSpc>
              <a:spcBef>
                <a:spcPts val="0"/>
              </a:spcBef>
              <a:spcAft>
                <a:spcPts val="0"/>
              </a:spcAft>
              <a:buClr>
                <a:srgbClr val="FFFF00"/>
              </a:buClr>
              <a:buSzPts val="1700"/>
              <a:buFont typeface="Comfortaa"/>
              <a:buChar char="●"/>
            </a:pPr>
            <a:r>
              <a:rPr lang="en" sz="1500" b="1" i="0" u="none" strike="noStrike" cap="none">
                <a:solidFill>
                  <a:srgbClr val="00FF00"/>
                </a:solidFill>
                <a:latin typeface="Comfortaa"/>
                <a:ea typeface="Comfortaa"/>
                <a:cs typeface="Comfortaa"/>
                <a:sym typeface="Comfortaa"/>
              </a:rPr>
              <a:t>Hard Real-Time Systems: </a:t>
            </a:r>
            <a:r>
              <a:rPr lang="en" sz="1500" b="0" i="0" u="none" strike="noStrike" cap="none">
                <a:solidFill>
                  <a:srgbClr val="FFFF00"/>
                </a:solidFill>
                <a:latin typeface="Comfortaa"/>
                <a:ea typeface="Comfortaa"/>
                <a:cs typeface="Comfortaa"/>
                <a:sym typeface="Comfortaa"/>
              </a:rPr>
              <a:t>These OSs are meant for applications where time constraints are very strict and even the shortest possible delay is not acceptable. </a:t>
            </a:r>
            <a:endParaRPr sz="1500" b="0" i="0" u="none" strike="noStrike" cap="none">
              <a:solidFill>
                <a:srgbClr val="FFFF00"/>
              </a:solidFill>
              <a:latin typeface="Comfortaa"/>
              <a:ea typeface="Comfortaa"/>
              <a:cs typeface="Comfortaa"/>
              <a:sym typeface="Comfortaa"/>
            </a:endParaRPr>
          </a:p>
          <a:p>
            <a:pPr marL="457200" marR="0" lvl="0" indent="-336550" algn="l" rtl="0">
              <a:lnSpc>
                <a:spcPct val="100000"/>
              </a:lnSpc>
              <a:spcBef>
                <a:spcPts val="0"/>
              </a:spcBef>
              <a:spcAft>
                <a:spcPts val="0"/>
              </a:spcAft>
              <a:buClr>
                <a:srgbClr val="FFFF00"/>
              </a:buClr>
              <a:buSzPts val="1700"/>
              <a:buFont typeface="Comfortaa"/>
              <a:buChar char="●"/>
            </a:pPr>
            <a:r>
              <a:rPr lang="en" sz="1500" b="1" i="0" u="none" strike="noStrike" cap="none">
                <a:solidFill>
                  <a:srgbClr val="00FF00"/>
                </a:solidFill>
                <a:latin typeface="Comfortaa"/>
                <a:ea typeface="Comfortaa"/>
                <a:cs typeface="Comfortaa"/>
                <a:sym typeface="Comfortaa"/>
              </a:rPr>
              <a:t>Soft Real-Time Systems: </a:t>
            </a:r>
            <a:r>
              <a:rPr lang="en" sz="1500" b="0" i="0" u="none" strike="noStrike" cap="none">
                <a:solidFill>
                  <a:srgbClr val="FFFF00"/>
                </a:solidFill>
                <a:latin typeface="Comfortaa"/>
                <a:ea typeface="Comfortaa"/>
                <a:cs typeface="Comfortaa"/>
                <a:sym typeface="Comfortaa"/>
              </a:rPr>
              <a:t>These OSs are for applications where for time-constraint is less strict.</a:t>
            </a:r>
            <a:endParaRPr sz="1700" b="0" i="0" u="none" strike="noStrike" cap="none">
              <a:solidFill>
                <a:srgbClr val="FFFF00"/>
              </a:solidFill>
              <a:latin typeface="Comfortaa"/>
              <a:ea typeface="Comfortaa"/>
              <a:cs typeface="Comfortaa"/>
              <a:sym typeface="Comforta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82"/>
                                        </p:tgtEl>
                                        <p:attrNameLst>
                                          <p:attrName>style.visibility</p:attrName>
                                        </p:attrNameLst>
                                      </p:cBhvr>
                                      <p:to>
                                        <p:strVal val="visible"/>
                                      </p:to>
                                    </p:set>
                                    <p:anim calcmode="lin" valueType="num">
                                      <p:cBhvr additive="base">
                                        <p:cTn id="7" dur="1000"/>
                                        <p:tgtEl>
                                          <p:spTgt spid="682"/>
                                        </p:tgtEl>
                                        <p:attrNameLst>
                                          <p:attrName>ppt_x</p:attrName>
                                        </p:attrNameLst>
                                      </p:cBhvr>
                                      <p:tavLst>
                                        <p:tav tm="0">
                                          <p:val>
                                            <p:strVal val="#ppt_x-1"/>
                                          </p:val>
                                        </p:tav>
                                        <p:tav tm="100000">
                                          <p:val>
                                            <p:strVal val="#ppt_x"/>
                                          </p:val>
                                        </p:tav>
                                      </p:tavLst>
                                    </p:anim>
                                  </p:childTnLst>
                                </p:cTn>
                              </p:par>
                              <p:par>
                                <p:cTn id="8" presetID="10" presetClass="entr" presetSubtype="0" fill="hold" nodeType="withEffect">
                                  <p:stCondLst>
                                    <p:cond delay="0"/>
                                  </p:stCondLst>
                                  <p:childTnLst>
                                    <p:set>
                                      <p:cBhvr>
                                        <p:cTn id="9" dur="1" fill="hold">
                                          <p:stCondLst>
                                            <p:cond delay="0"/>
                                          </p:stCondLst>
                                        </p:cTn>
                                        <p:tgtEl>
                                          <p:spTgt spid="685"/>
                                        </p:tgtEl>
                                        <p:attrNameLst>
                                          <p:attrName>style.visibility</p:attrName>
                                        </p:attrNameLst>
                                      </p:cBhvr>
                                      <p:to>
                                        <p:strVal val="visible"/>
                                      </p:to>
                                    </p:set>
                                    <p:animEffect transition="in" filter="fade">
                                      <p:cBhvr>
                                        <p:cTn id="10" dur="1000"/>
                                        <p:tgtEl>
                                          <p:spTgt spid="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52"/>
          <p:cNvSpPr/>
          <p:nvPr/>
        </p:nvSpPr>
        <p:spPr>
          <a:xfrm>
            <a:off x="615775" y="1388500"/>
            <a:ext cx="2414700" cy="3066900"/>
          </a:xfrm>
          <a:prstGeom prst="round1Rect">
            <a:avLst>
              <a:gd name="adj" fmla="val 16667"/>
            </a:avLst>
          </a:prstGeom>
          <a:gradFill>
            <a:gsLst>
              <a:gs pos="0">
                <a:srgbClr val="D4E5F5"/>
              </a:gs>
              <a:gs pos="100000">
                <a:srgbClr val="70A4D5"/>
              </a:gs>
            </a:gsLst>
            <a:path path="circle">
              <a:fillToRect l="50000" t="50000" r="50000" b="50000"/>
            </a:path>
            <a:tileRect/>
          </a:gradFill>
          <a:ln w="28575" cap="flat" cmpd="sng">
            <a:solidFill>
              <a:schemeClr val="dk2"/>
            </a:solidFill>
            <a:prstDash val="solid"/>
            <a:round/>
            <a:headEnd type="none" w="sm" len="sm"/>
            <a:tailEnd type="none" w="sm" len="sm"/>
          </a:ln>
          <a:effectLst>
            <a:outerShdw blurRad="57150" dist="95250" dir="8100000" algn="bl" rotWithShape="0">
              <a:srgbClr val="FFFFFF">
                <a:alpha val="49803"/>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Real time</a:t>
            </a: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Operating System</a:t>
            </a:r>
            <a:endParaRPr sz="1700" b="1" i="0" u="none" strike="noStrike" cap="none">
              <a:solidFill>
                <a:srgbClr val="000000"/>
              </a:solidFill>
              <a:latin typeface="Comfortaa"/>
              <a:ea typeface="Comfortaa"/>
              <a:cs typeface="Comfortaa"/>
              <a:sym typeface="Comfortaa"/>
            </a:endParaRPr>
          </a:p>
        </p:txBody>
      </p:sp>
      <p:sp>
        <p:nvSpPr>
          <p:cNvPr id="691" name="Google Shape;691;p52"/>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Types of Operating System</a:t>
            </a:r>
            <a:endParaRPr b="1">
              <a:solidFill>
                <a:srgbClr val="00FF00"/>
              </a:solidFill>
              <a:latin typeface="Comfortaa"/>
              <a:ea typeface="Comfortaa"/>
              <a:cs typeface="Comfortaa"/>
              <a:sym typeface="Comfortaa"/>
            </a:endParaRPr>
          </a:p>
        </p:txBody>
      </p:sp>
      <p:sp>
        <p:nvSpPr>
          <p:cNvPr id="692" name="Google Shape;692;p52"/>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43</a:t>
            </a:fld>
            <a:endParaRPr/>
          </a:p>
        </p:txBody>
      </p:sp>
      <p:sp>
        <p:nvSpPr>
          <p:cNvPr id="693" name="Google Shape;693;p52"/>
          <p:cNvSpPr txBox="1"/>
          <p:nvPr/>
        </p:nvSpPr>
        <p:spPr>
          <a:xfrm>
            <a:off x="3230250" y="1388500"/>
            <a:ext cx="5511300" cy="23550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00000"/>
              </a:lnSpc>
              <a:spcBef>
                <a:spcPts val="0"/>
              </a:spcBef>
              <a:spcAft>
                <a:spcPts val="0"/>
              </a:spcAft>
              <a:buClr>
                <a:srgbClr val="00FF00"/>
              </a:buClr>
              <a:buSzPts val="1800"/>
              <a:buFont typeface="Comfortaa"/>
              <a:buChar char="●"/>
            </a:pPr>
            <a:r>
              <a:rPr lang="en" sz="1800" b="1" i="0" u="none" strike="noStrike" cap="none">
                <a:solidFill>
                  <a:srgbClr val="00FF00"/>
                </a:solidFill>
                <a:latin typeface="Comfortaa"/>
                <a:ea typeface="Comfortaa"/>
                <a:cs typeface="Comfortaa"/>
                <a:sym typeface="Comfortaa"/>
              </a:rPr>
              <a:t>Advantages</a:t>
            </a:r>
            <a:endParaRPr sz="1800" b="1" i="0" u="none" strike="noStrike" cap="none">
              <a:solidFill>
                <a:srgbClr val="00FF00"/>
              </a:solidFill>
              <a:latin typeface="Comfortaa"/>
              <a:ea typeface="Comfortaa"/>
              <a:cs typeface="Comfortaa"/>
              <a:sym typeface="Comfortaa"/>
            </a:endParaRPr>
          </a:p>
          <a:p>
            <a:pPr marL="45720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00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00FF00"/>
              </a:buClr>
              <a:buSzPts val="1500"/>
              <a:buFont typeface="Comfortaa"/>
              <a:buChar char="-"/>
            </a:pPr>
            <a:r>
              <a:rPr lang="en" sz="1500" b="1" i="0" u="none" strike="noStrike" cap="none">
                <a:solidFill>
                  <a:srgbClr val="00FF00"/>
                </a:solidFill>
                <a:latin typeface="Comfortaa"/>
                <a:ea typeface="Comfortaa"/>
                <a:cs typeface="Comfortaa"/>
                <a:sym typeface="Comfortaa"/>
              </a:rPr>
              <a:t>Maximum Consumption:</a:t>
            </a:r>
            <a:r>
              <a:rPr lang="en" sz="1500" b="0" i="0" u="none" strike="noStrike" cap="none">
                <a:solidFill>
                  <a:srgbClr val="00FF00"/>
                </a:solidFill>
                <a:latin typeface="Comfortaa"/>
                <a:ea typeface="Comfortaa"/>
                <a:cs typeface="Comfortaa"/>
                <a:sym typeface="Comfortaa"/>
              </a:rPr>
              <a:t> </a:t>
            </a:r>
            <a:r>
              <a:rPr lang="en" sz="1500" b="0" i="0" u="none" strike="noStrike" cap="none">
                <a:solidFill>
                  <a:srgbClr val="FFFF00"/>
                </a:solidFill>
                <a:latin typeface="Comfortaa"/>
                <a:ea typeface="Comfortaa"/>
                <a:cs typeface="Comfortaa"/>
                <a:sym typeface="Comfortaa"/>
              </a:rPr>
              <a:t>Maximum utilization of devices and system, thus more output from all the resources</a:t>
            </a:r>
            <a:endParaRPr sz="1500" b="0" i="0" u="none" strike="noStrike" cap="none">
              <a:solidFill>
                <a:srgbClr val="FF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Comfortaa"/>
              <a:buChar char="-"/>
            </a:pPr>
            <a:r>
              <a:rPr lang="en" sz="1500" b="0" i="0" u="none" strike="noStrike" cap="none">
                <a:solidFill>
                  <a:srgbClr val="FFFF00"/>
                </a:solidFill>
                <a:latin typeface="Comfortaa"/>
                <a:ea typeface="Comfortaa"/>
                <a:cs typeface="Comfortaa"/>
                <a:sym typeface="Comfortaa"/>
              </a:rPr>
              <a:t>Since the size of programs are small, RTOS can also be used in embedded systems like in transport and others.</a:t>
            </a:r>
            <a:endParaRPr sz="1500" b="0" i="0" u="none" strike="noStrike" cap="none">
              <a:solidFill>
                <a:srgbClr val="FF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Comfortaa"/>
              <a:buChar char="-"/>
            </a:pPr>
            <a:r>
              <a:rPr lang="en" sz="1500" b="1" i="0" u="none" strike="noStrike" cap="none">
                <a:solidFill>
                  <a:srgbClr val="FFFF00"/>
                </a:solidFill>
                <a:latin typeface="Comfortaa"/>
                <a:ea typeface="Comfortaa"/>
                <a:cs typeface="Comfortaa"/>
                <a:sym typeface="Comfortaa"/>
              </a:rPr>
              <a:t>Error Free:</a:t>
            </a:r>
            <a:r>
              <a:rPr lang="en" sz="1500" b="0" i="0" u="none" strike="noStrike" cap="none">
                <a:solidFill>
                  <a:srgbClr val="FFFF00"/>
                </a:solidFill>
                <a:latin typeface="Comfortaa"/>
                <a:ea typeface="Comfortaa"/>
                <a:cs typeface="Comfortaa"/>
                <a:sym typeface="Comfortaa"/>
              </a:rPr>
              <a:t> These types of systems are error-free.</a:t>
            </a:r>
            <a:endParaRPr sz="1800" b="1" i="0" u="none" strike="noStrike" cap="none">
              <a:solidFill>
                <a:srgbClr val="00FF00"/>
              </a:solidFill>
              <a:latin typeface="Comfortaa"/>
              <a:ea typeface="Comfortaa"/>
              <a:cs typeface="Comfortaa"/>
              <a:sym typeface="Comforta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53"/>
          <p:cNvSpPr/>
          <p:nvPr/>
        </p:nvSpPr>
        <p:spPr>
          <a:xfrm>
            <a:off x="615775" y="1388500"/>
            <a:ext cx="2414700" cy="3066900"/>
          </a:xfrm>
          <a:prstGeom prst="round1Rect">
            <a:avLst>
              <a:gd name="adj" fmla="val 16667"/>
            </a:avLst>
          </a:prstGeom>
          <a:gradFill>
            <a:gsLst>
              <a:gs pos="0">
                <a:srgbClr val="D4E5F5"/>
              </a:gs>
              <a:gs pos="100000">
                <a:srgbClr val="70A4D5"/>
              </a:gs>
            </a:gsLst>
            <a:path path="circle">
              <a:fillToRect l="50000" t="50000" r="50000" b="50000"/>
            </a:path>
            <a:tileRect/>
          </a:gradFill>
          <a:ln w="28575" cap="flat" cmpd="sng">
            <a:solidFill>
              <a:schemeClr val="dk2"/>
            </a:solidFill>
            <a:prstDash val="solid"/>
            <a:round/>
            <a:headEnd type="none" w="sm" len="sm"/>
            <a:tailEnd type="none" w="sm" len="sm"/>
          </a:ln>
          <a:effectLst>
            <a:outerShdw blurRad="57150" dist="95250" dir="8100000" algn="bl" rotWithShape="0">
              <a:srgbClr val="FFFFFF">
                <a:alpha val="49803"/>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Real time</a:t>
            </a: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endParaRPr sz="17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Operating System</a:t>
            </a:r>
            <a:endParaRPr sz="1700" b="1" i="0" u="none" strike="noStrike" cap="none">
              <a:solidFill>
                <a:srgbClr val="000000"/>
              </a:solidFill>
              <a:latin typeface="Comfortaa"/>
              <a:ea typeface="Comfortaa"/>
              <a:cs typeface="Comfortaa"/>
              <a:sym typeface="Comfortaa"/>
            </a:endParaRPr>
          </a:p>
        </p:txBody>
      </p:sp>
      <p:sp>
        <p:nvSpPr>
          <p:cNvPr id="699" name="Google Shape;699;p53"/>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rgbClr val="00FF00"/>
                </a:solidFill>
                <a:latin typeface="Comfortaa"/>
                <a:ea typeface="Comfortaa"/>
                <a:cs typeface="Comfortaa"/>
                <a:sym typeface="Comfortaa"/>
              </a:rPr>
              <a:t>Types of Operating System</a:t>
            </a:r>
            <a:endParaRPr b="1">
              <a:solidFill>
                <a:srgbClr val="00FF00"/>
              </a:solidFill>
              <a:latin typeface="Comfortaa"/>
              <a:ea typeface="Comfortaa"/>
              <a:cs typeface="Comfortaa"/>
              <a:sym typeface="Comfortaa"/>
            </a:endParaRPr>
          </a:p>
        </p:txBody>
      </p:sp>
      <p:sp>
        <p:nvSpPr>
          <p:cNvPr id="700" name="Google Shape;700;p53"/>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44</a:t>
            </a:fld>
            <a:endParaRPr/>
          </a:p>
        </p:txBody>
      </p:sp>
      <p:sp>
        <p:nvSpPr>
          <p:cNvPr id="701" name="Google Shape;701;p53"/>
          <p:cNvSpPr txBox="1"/>
          <p:nvPr/>
        </p:nvSpPr>
        <p:spPr>
          <a:xfrm>
            <a:off x="3230250" y="1388500"/>
            <a:ext cx="5511300" cy="28167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00000"/>
              </a:lnSpc>
              <a:spcBef>
                <a:spcPts val="0"/>
              </a:spcBef>
              <a:spcAft>
                <a:spcPts val="0"/>
              </a:spcAft>
              <a:buClr>
                <a:srgbClr val="00FF00"/>
              </a:buClr>
              <a:buSzPts val="1800"/>
              <a:buFont typeface="Comfortaa"/>
              <a:buChar char="●"/>
            </a:pPr>
            <a:r>
              <a:rPr lang="en" sz="1800" b="1" i="0" u="none" strike="noStrike" cap="none">
                <a:solidFill>
                  <a:srgbClr val="00FF00"/>
                </a:solidFill>
                <a:latin typeface="Comfortaa"/>
                <a:ea typeface="Comfortaa"/>
                <a:cs typeface="Comfortaa"/>
                <a:sym typeface="Comfortaa"/>
              </a:rPr>
              <a:t>Disadvantages</a:t>
            </a:r>
            <a:endParaRPr sz="1800" b="1" i="0" u="none" strike="noStrike" cap="none">
              <a:solidFill>
                <a:srgbClr val="00FF00"/>
              </a:solidFill>
              <a:latin typeface="Comfortaa"/>
              <a:ea typeface="Comfortaa"/>
              <a:cs typeface="Comfortaa"/>
              <a:sym typeface="Comfortaa"/>
            </a:endParaRPr>
          </a:p>
          <a:p>
            <a:pPr marL="45720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00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Arial"/>
              <a:buChar char="-"/>
            </a:pPr>
            <a:r>
              <a:rPr lang="en" sz="1500" b="1" i="0" u="none" strike="noStrike" cap="none">
                <a:solidFill>
                  <a:srgbClr val="00FF00"/>
                </a:solidFill>
                <a:latin typeface="Comfortaa"/>
                <a:ea typeface="Comfortaa"/>
                <a:cs typeface="Comfortaa"/>
                <a:sym typeface="Comfortaa"/>
              </a:rPr>
              <a:t>Limited Tasks: </a:t>
            </a:r>
            <a:r>
              <a:rPr lang="en" sz="1500" b="0" i="0" u="none" strike="noStrike" cap="none">
                <a:solidFill>
                  <a:srgbClr val="FFFF00"/>
                </a:solidFill>
                <a:latin typeface="Comfortaa"/>
                <a:ea typeface="Comfortaa"/>
                <a:cs typeface="Comfortaa"/>
                <a:sym typeface="Comfortaa"/>
              </a:rPr>
              <a:t>Very few tasks run at the same time and their concentration is very less on few applications to avoid errors.</a:t>
            </a:r>
            <a:endParaRPr sz="1500" b="0" i="0" u="none" strike="noStrike" cap="none">
              <a:solidFill>
                <a:srgbClr val="FF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Arial"/>
              <a:buChar char="-"/>
            </a:pPr>
            <a:r>
              <a:rPr lang="en" sz="1500" b="1" i="0" u="none" strike="noStrike" cap="none">
                <a:solidFill>
                  <a:srgbClr val="00FF00"/>
                </a:solidFill>
                <a:latin typeface="Comfortaa"/>
                <a:ea typeface="Comfortaa"/>
                <a:cs typeface="Comfortaa"/>
                <a:sym typeface="Comfortaa"/>
              </a:rPr>
              <a:t>Use heavy system resources: </a:t>
            </a:r>
            <a:r>
              <a:rPr lang="en" sz="1500" b="0" i="0" u="none" strike="noStrike" cap="none">
                <a:solidFill>
                  <a:srgbClr val="FFFF00"/>
                </a:solidFill>
                <a:latin typeface="Comfortaa"/>
                <a:ea typeface="Comfortaa"/>
                <a:cs typeface="Comfortaa"/>
                <a:sym typeface="Comfortaa"/>
              </a:rPr>
              <a:t>Sometimes the system resources are not so good and they are expensive as well.</a:t>
            </a:r>
            <a:endParaRPr sz="1500" b="0" i="0" u="none" strike="noStrike" cap="none">
              <a:solidFill>
                <a:srgbClr val="FFFF00"/>
              </a:solidFill>
              <a:latin typeface="Comfortaa"/>
              <a:ea typeface="Comfortaa"/>
              <a:cs typeface="Comfortaa"/>
              <a:sym typeface="Comfortaa"/>
            </a:endParaRPr>
          </a:p>
          <a:p>
            <a:pPr marL="457200" marR="0" lvl="0" indent="-323850" algn="l" rtl="0">
              <a:lnSpc>
                <a:spcPct val="100000"/>
              </a:lnSpc>
              <a:spcBef>
                <a:spcPts val="0"/>
              </a:spcBef>
              <a:spcAft>
                <a:spcPts val="0"/>
              </a:spcAft>
              <a:buClr>
                <a:srgbClr val="FFFF00"/>
              </a:buClr>
              <a:buSzPts val="1500"/>
              <a:buFont typeface="Arial"/>
              <a:buChar char="-"/>
            </a:pPr>
            <a:r>
              <a:rPr lang="en" sz="1500" b="1" i="0" u="none" strike="noStrike" cap="none">
                <a:solidFill>
                  <a:srgbClr val="00FF00"/>
                </a:solidFill>
                <a:latin typeface="Comfortaa"/>
                <a:ea typeface="Comfortaa"/>
                <a:cs typeface="Comfortaa"/>
                <a:sym typeface="Comfortaa"/>
              </a:rPr>
              <a:t>Complex Algorithms: </a:t>
            </a:r>
            <a:r>
              <a:rPr lang="en" sz="1500" b="0" i="0" u="none" strike="noStrike" cap="none">
                <a:solidFill>
                  <a:srgbClr val="FFFF00"/>
                </a:solidFill>
                <a:latin typeface="Comfortaa"/>
                <a:ea typeface="Comfortaa"/>
                <a:cs typeface="Comfortaa"/>
                <a:sym typeface="Comfortaa"/>
              </a:rPr>
              <a:t>The algorithms are very complex and difficult for the designer to write on.</a:t>
            </a:r>
            <a:endParaRPr sz="1700" b="1" i="0" u="none" strike="noStrike" cap="none">
              <a:solidFill>
                <a:srgbClr val="FFFF00"/>
              </a:solidFill>
              <a:latin typeface="Comfortaa"/>
              <a:ea typeface="Comfortaa"/>
              <a:cs typeface="Comfortaa"/>
              <a:sym typeface="Comforta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720" b="1">
                <a:solidFill>
                  <a:srgbClr val="00FF00"/>
                </a:solidFill>
                <a:latin typeface="Comfortaa"/>
                <a:ea typeface="Comfortaa"/>
                <a:cs typeface="Comfortaa"/>
                <a:sym typeface="Comfortaa"/>
              </a:rPr>
              <a:t>Modern Computer System</a:t>
            </a:r>
            <a:endParaRPr sz="2720" b="1">
              <a:solidFill>
                <a:srgbClr val="00FF00"/>
              </a:solidFill>
              <a:latin typeface="Comfortaa"/>
              <a:ea typeface="Comfortaa"/>
              <a:cs typeface="Comfortaa"/>
              <a:sym typeface="Comfortaa"/>
            </a:endParaRPr>
          </a:p>
        </p:txBody>
      </p:sp>
      <p:sp>
        <p:nvSpPr>
          <p:cNvPr id="281" name="Google Shape;281;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45</a:t>
            </a:fld>
            <a:endParaRPr/>
          </a:p>
        </p:txBody>
      </p:sp>
      <p:sp>
        <p:nvSpPr>
          <p:cNvPr id="282" name="Google Shape;282;p21"/>
          <p:cNvSpPr txBox="1"/>
          <p:nvPr/>
        </p:nvSpPr>
        <p:spPr>
          <a:xfrm>
            <a:off x="6089725" y="3841325"/>
            <a:ext cx="8985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Arial"/>
                <a:ea typeface="Arial"/>
                <a:cs typeface="Arial"/>
                <a:sym typeface="Arial"/>
              </a:rPr>
              <a:t>App</a:t>
            </a:r>
            <a:endParaRPr sz="2000" b="1" i="0" u="none" strike="noStrike" cap="none">
              <a:solidFill>
                <a:schemeClr val="lt1"/>
              </a:solidFill>
              <a:latin typeface="Arial"/>
              <a:ea typeface="Arial"/>
              <a:cs typeface="Arial"/>
              <a:sym typeface="Arial"/>
            </a:endParaRPr>
          </a:p>
        </p:txBody>
      </p:sp>
      <p:sp>
        <p:nvSpPr>
          <p:cNvPr id="283" name="Google Shape;283;p21"/>
          <p:cNvSpPr/>
          <p:nvPr/>
        </p:nvSpPr>
        <p:spPr>
          <a:xfrm>
            <a:off x="3343650" y="4522925"/>
            <a:ext cx="2456700" cy="393600"/>
          </a:xfrm>
          <a:prstGeom prst="flowChartAlternateProcess">
            <a:avLst/>
          </a:prstGeom>
          <a:gradFill>
            <a:gsLst>
              <a:gs pos="0">
                <a:srgbClr val="51AB2A"/>
              </a:gs>
              <a:gs pos="100000">
                <a:srgbClr val="203E13"/>
              </a:gs>
            </a:gsLst>
            <a:path path="circle">
              <a:fillToRect l="50000" t="50000" r="50000" b="50000"/>
            </a:path>
            <a:tileRect/>
          </a:gradFill>
          <a:ln w="28575" cap="flat" cmpd="sng">
            <a:solidFill>
              <a:srgbClr val="000000"/>
            </a:solidFill>
            <a:prstDash val="solid"/>
            <a:round/>
            <a:headEnd type="none" w="sm" len="sm"/>
            <a:tailEnd type="none" w="sm" len="sm"/>
          </a:ln>
          <a:effectLst>
            <a:outerShdw blurRad="57150" dist="85725" dir="3000000" algn="bl" rotWithShape="0">
              <a:schemeClr val="dk1">
                <a:alpha val="49803"/>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Comfortaa"/>
                <a:ea typeface="Comfortaa"/>
                <a:cs typeface="Comfortaa"/>
                <a:sym typeface="Comfortaa"/>
              </a:rPr>
              <a:t>Memory</a:t>
            </a:r>
            <a:endParaRPr sz="1500" b="1" i="0" u="none" strike="noStrike" cap="none">
              <a:solidFill>
                <a:schemeClr val="dk1"/>
              </a:solidFill>
              <a:latin typeface="Comfortaa"/>
              <a:ea typeface="Comfortaa"/>
              <a:cs typeface="Comfortaa"/>
              <a:sym typeface="Comfortaa"/>
            </a:endParaRPr>
          </a:p>
        </p:txBody>
      </p:sp>
      <p:cxnSp>
        <p:nvCxnSpPr>
          <p:cNvPr id="284" name="Google Shape;284;p21"/>
          <p:cNvCxnSpPr/>
          <p:nvPr/>
        </p:nvCxnSpPr>
        <p:spPr>
          <a:xfrm>
            <a:off x="1153200" y="3968075"/>
            <a:ext cx="6571500" cy="30600"/>
          </a:xfrm>
          <a:prstGeom prst="straightConnector1">
            <a:avLst/>
          </a:prstGeom>
          <a:noFill/>
          <a:ln w="28575" cap="flat" cmpd="sng">
            <a:solidFill>
              <a:schemeClr val="dk1"/>
            </a:solidFill>
            <a:prstDash val="solid"/>
            <a:round/>
            <a:headEnd type="none" w="sm" len="sm"/>
            <a:tailEnd type="none" w="sm" len="sm"/>
          </a:ln>
        </p:spPr>
      </p:cxnSp>
      <p:cxnSp>
        <p:nvCxnSpPr>
          <p:cNvPr id="285" name="Google Shape;285;p21"/>
          <p:cNvCxnSpPr>
            <a:stCxn id="283" idx="0"/>
          </p:cNvCxnSpPr>
          <p:nvPr/>
        </p:nvCxnSpPr>
        <p:spPr>
          <a:xfrm rot="10800000">
            <a:off x="4572000" y="3985025"/>
            <a:ext cx="0" cy="537900"/>
          </a:xfrm>
          <a:prstGeom prst="straightConnector1">
            <a:avLst/>
          </a:prstGeom>
          <a:noFill/>
          <a:ln w="28575" cap="flat" cmpd="sng">
            <a:solidFill>
              <a:schemeClr val="dk1"/>
            </a:solidFill>
            <a:prstDash val="solid"/>
            <a:round/>
            <a:headEnd type="none" w="sm" len="sm"/>
            <a:tailEnd type="none" w="sm" len="sm"/>
          </a:ln>
        </p:spPr>
      </p:cxnSp>
      <p:sp>
        <p:nvSpPr>
          <p:cNvPr id="286" name="Google Shape;286;p21"/>
          <p:cNvSpPr/>
          <p:nvPr/>
        </p:nvSpPr>
        <p:spPr>
          <a:xfrm>
            <a:off x="379950" y="3084400"/>
            <a:ext cx="1555800" cy="492600"/>
          </a:xfrm>
          <a:prstGeom prst="roundRect">
            <a:avLst>
              <a:gd name="adj" fmla="val 16667"/>
            </a:avLst>
          </a:prstGeom>
          <a:gradFill>
            <a:gsLst>
              <a:gs pos="0">
                <a:srgbClr val="DCECD5"/>
              </a:gs>
              <a:gs pos="100000">
                <a:srgbClr val="93BC81"/>
              </a:gs>
            </a:gsLst>
            <a:path path="circle">
              <a:fillToRect l="50000" t="50000" r="50000" b="50000"/>
            </a:path>
            <a:tileRect/>
          </a:gradFill>
          <a:ln w="28575" cap="flat" cmpd="sng">
            <a:solidFill>
              <a:srgbClr val="000000"/>
            </a:solidFill>
            <a:prstDash val="solid"/>
            <a:round/>
            <a:headEnd type="none" w="sm" len="sm"/>
            <a:tailEnd type="none" w="sm" len="sm"/>
          </a:ln>
          <a:effectLst>
            <a:outerShdw blurRad="57150" dist="85725" dir="3000000" algn="bl" rotWithShape="0">
              <a:schemeClr val="dk1">
                <a:alpha val="49803"/>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Comfortaa"/>
                <a:ea typeface="Comfortaa"/>
                <a:cs typeface="Comfortaa"/>
                <a:sym typeface="Comfortaa"/>
              </a:rPr>
              <a:t>CPU</a:t>
            </a:r>
            <a:endParaRPr sz="1600" b="1" i="0" u="none" strike="noStrike" cap="none">
              <a:solidFill>
                <a:srgbClr val="000000"/>
              </a:solidFill>
              <a:latin typeface="Comfortaa"/>
              <a:ea typeface="Comfortaa"/>
              <a:cs typeface="Comfortaa"/>
              <a:sym typeface="Comfortaa"/>
            </a:endParaRPr>
          </a:p>
        </p:txBody>
      </p:sp>
      <p:sp>
        <p:nvSpPr>
          <p:cNvPr id="287" name="Google Shape;287;p21"/>
          <p:cNvSpPr/>
          <p:nvPr/>
        </p:nvSpPr>
        <p:spPr>
          <a:xfrm>
            <a:off x="2559038" y="3084400"/>
            <a:ext cx="1555800" cy="492600"/>
          </a:xfrm>
          <a:prstGeom prst="roundRect">
            <a:avLst>
              <a:gd name="adj" fmla="val 16667"/>
            </a:avLst>
          </a:prstGeom>
          <a:gradFill>
            <a:gsLst>
              <a:gs pos="0">
                <a:srgbClr val="DCECD5"/>
              </a:gs>
              <a:gs pos="100000">
                <a:srgbClr val="93BC81"/>
              </a:gs>
            </a:gsLst>
            <a:path path="circle">
              <a:fillToRect l="50000" t="50000" r="50000" b="50000"/>
            </a:path>
            <a:tileRect/>
          </a:gradFill>
          <a:ln w="28575" cap="flat" cmpd="sng">
            <a:solidFill>
              <a:srgbClr val="000000"/>
            </a:solidFill>
            <a:prstDash val="solid"/>
            <a:round/>
            <a:headEnd type="none" w="sm" len="sm"/>
            <a:tailEnd type="none" w="sm" len="sm"/>
          </a:ln>
          <a:effectLst>
            <a:outerShdw blurRad="57150" dist="85725" dir="3000000" algn="bl" rotWithShape="0">
              <a:schemeClr val="dk1">
                <a:alpha val="49803"/>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1" i="0" u="none" strike="noStrike" cap="none">
                <a:solidFill>
                  <a:srgbClr val="000000"/>
                </a:solidFill>
                <a:latin typeface="Comfortaa"/>
                <a:ea typeface="Comfortaa"/>
                <a:cs typeface="Comfortaa"/>
                <a:sym typeface="Comfortaa"/>
              </a:rPr>
              <a:t>Disk </a:t>
            </a:r>
            <a:endParaRPr sz="15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Comfortaa"/>
                <a:ea typeface="Comfortaa"/>
                <a:cs typeface="Comfortaa"/>
                <a:sym typeface="Comfortaa"/>
              </a:rPr>
              <a:t>Controller</a:t>
            </a:r>
            <a:endParaRPr sz="1500" b="1" i="0" u="none" strike="noStrike" cap="none">
              <a:solidFill>
                <a:srgbClr val="000000"/>
              </a:solidFill>
              <a:latin typeface="Comfortaa"/>
              <a:ea typeface="Comfortaa"/>
              <a:cs typeface="Comfortaa"/>
              <a:sym typeface="Comfortaa"/>
            </a:endParaRPr>
          </a:p>
        </p:txBody>
      </p:sp>
      <p:sp>
        <p:nvSpPr>
          <p:cNvPr id="288" name="Google Shape;288;p21"/>
          <p:cNvSpPr/>
          <p:nvPr/>
        </p:nvSpPr>
        <p:spPr>
          <a:xfrm>
            <a:off x="4738125" y="3084400"/>
            <a:ext cx="1555800" cy="492600"/>
          </a:xfrm>
          <a:prstGeom prst="roundRect">
            <a:avLst>
              <a:gd name="adj" fmla="val 16667"/>
            </a:avLst>
          </a:prstGeom>
          <a:gradFill>
            <a:gsLst>
              <a:gs pos="0">
                <a:srgbClr val="DCECD5"/>
              </a:gs>
              <a:gs pos="100000">
                <a:srgbClr val="93BC81"/>
              </a:gs>
            </a:gsLst>
            <a:path path="circle">
              <a:fillToRect l="50000" t="50000" r="50000" b="50000"/>
            </a:path>
            <a:tileRect/>
          </a:gradFill>
          <a:ln w="28575" cap="flat" cmpd="sng">
            <a:solidFill>
              <a:srgbClr val="000000"/>
            </a:solidFill>
            <a:prstDash val="solid"/>
            <a:round/>
            <a:headEnd type="none" w="sm" len="sm"/>
            <a:tailEnd type="none" w="sm" len="sm"/>
          </a:ln>
          <a:effectLst>
            <a:outerShdw blurRad="57150" dist="85725" dir="3000000" algn="bl" rotWithShape="0">
              <a:schemeClr val="dk1">
                <a:alpha val="49803"/>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1" i="0" u="none" strike="noStrike" cap="none">
                <a:solidFill>
                  <a:srgbClr val="000000"/>
                </a:solidFill>
                <a:latin typeface="Comfortaa"/>
                <a:ea typeface="Comfortaa"/>
                <a:cs typeface="Comfortaa"/>
                <a:sym typeface="Comfortaa"/>
              </a:rPr>
              <a:t>USB</a:t>
            </a:r>
            <a:endParaRPr sz="16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500"/>
              <a:buFont typeface="Arial"/>
              <a:buNone/>
            </a:pPr>
            <a:r>
              <a:rPr lang="en" sz="1500" b="1" i="0" u="none" strike="noStrike" cap="none">
                <a:solidFill>
                  <a:srgbClr val="000000"/>
                </a:solidFill>
                <a:latin typeface="Comfortaa"/>
                <a:ea typeface="Comfortaa"/>
                <a:cs typeface="Comfortaa"/>
                <a:sym typeface="Comfortaa"/>
              </a:rPr>
              <a:t>Controller</a:t>
            </a:r>
            <a:endParaRPr sz="1500" b="1" i="0" u="none" strike="noStrike" cap="none">
              <a:solidFill>
                <a:srgbClr val="000000"/>
              </a:solidFill>
              <a:latin typeface="Comfortaa"/>
              <a:ea typeface="Comfortaa"/>
              <a:cs typeface="Comfortaa"/>
              <a:sym typeface="Comfortaa"/>
            </a:endParaRPr>
          </a:p>
        </p:txBody>
      </p:sp>
      <p:sp>
        <p:nvSpPr>
          <p:cNvPr id="289" name="Google Shape;289;p21"/>
          <p:cNvSpPr/>
          <p:nvPr/>
        </p:nvSpPr>
        <p:spPr>
          <a:xfrm>
            <a:off x="6916650" y="3084400"/>
            <a:ext cx="1555800" cy="492600"/>
          </a:xfrm>
          <a:prstGeom prst="roundRect">
            <a:avLst>
              <a:gd name="adj" fmla="val 16667"/>
            </a:avLst>
          </a:prstGeom>
          <a:gradFill>
            <a:gsLst>
              <a:gs pos="0">
                <a:srgbClr val="DCECD5"/>
              </a:gs>
              <a:gs pos="100000">
                <a:srgbClr val="93BC81"/>
              </a:gs>
            </a:gsLst>
            <a:path path="circle">
              <a:fillToRect l="50000" t="50000" r="50000" b="50000"/>
            </a:path>
            <a:tileRect/>
          </a:gradFill>
          <a:ln w="28575" cap="flat" cmpd="sng">
            <a:solidFill>
              <a:srgbClr val="000000"/>
            </a:solidFill>
            <a:prstDash val="solid"/>
            <a:round/>
            <a:headEnd type="none" w="sm" len="sm"/>
            <a:tailEnd type="none" w="sm" len="sm"/>
          </a:ln>
          <a:effectLst>
            <a:outerShdw blurRad="57150" dist="85725" dir="3000000" algn="bl" rotWithShape="0">
              <a:schemeClr val="dk1">
                <a:alpha val="49803"/>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1" i="0" u="none" strike="noStrike" cap="none">
                <a:solidFill>
                  <a:srgbClr val="000000"/>
                </a:solidFill>
                <a:latin typeface="Comfortaa"/>
                <a:ea typeface="Comfortaa"/>
                <a:cs typeface="Comfortaa"/>
                <a:sym typeface="Comfortaa"/>
              </a:rPr>
              <a:t>Graphics</a:t>
            </a:r>
            <a:endParaRPr sz="1500" b="1" i="0" u="none" strike="noStrike" cap="none">
              <a:solidFill>
                <a:srgbClr val="0000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500"/>
              <a:buFont typeface="Arial"/>
              <a:buNone/>
            </a:pPr>
            <a:r>
              <a:rPr lang="en" sz="1500" b="1" i="0" u="none" strike="noStrike" cap="none">
                <a:solidFill>
                  <a:srgbClr val="000000"/>
                </a:solidFill>
                <a:latin typeface="Comfortaa"/>
                <a:ea typeface="Comfortaa"/>
                <a:cs typeface="Comfortaa"/>
                <a:sym typeface="Comfortaa"/>
              </a:rPr>
              <a:t>Adapter</a:t>
            </a:r>
            <a:endParaRPr sz="1500" b="1" i="0" u="none" strike="noStrike" cap="none">
              <a:solidFill>
                <a:srgbClr val="000000"/>
              </a:solidFill>
              <a:latin typeface="Comfortaa"/>
              <a:ea typeface="Comfortaa"/>
              <a:cs typeface="Comfortaa"/>
              <a:sym typeface="Comfortaa"/>
            </a:endParaRPr>
          </a:p>
        </p:txBody>
      </p:sp>
      <p:cxnSp>
        <p:nvCxnSpPr>
          <p:cNvPr id="290" name="Google Shape;290;p21"/>
          <p:cNvCxnSpPr>
            <a:stCxn id="286" idx="2"/>
          </p:cNvCxnSpPr>
          <p:nvPr/>
        </p:nvCxnSpPr>
        <p:spPr>
          <a:xfrm>
            <a:off x="1157850" y="3577000"/>
            <a:ext cx="0" cy="408300"/>
          </a:xfrm>
          <a:prstGeom prst="straightConnector1">
            <a:avLst/>
          </a:prstGeom>
          <a:noFill/>
          <a:ln w="28575" cap="flat" cmpd="sng">
            <a:solidFill>
              <a:schemeClr val="dk1"/>
            </a:solidFill>
            <a:prstDash val="solid"/>
            <a:round/>
            <a:headEnd type="none" w="sm" len="sm"/>
            <a:tailEnd type="none" w="sm" len="sm"/>
          </a:ln>
        </p:spPr>
      </p:cxnSp>
      <p:cxnSp>
        <p:nvCxnSpPr>
          <p:cNvPr id="291" name="Google Shape;291;p21"/>
          <p:cNvCxnSpPr/>
          <p:nvPr/>
        </p:nvCxnSpPr>
        <p:spPr>
          <a:xfrm>
            <a:off x="3336950" y="3577000"/>
            <a:ext cx="0" cy="408300"/>
          </a:xfrm>
          <a:prstGeom prst="straightConnector1">
            <a:avLst/>
          </a:prstGeom>
          <a:noFill/>
          <a:ln w="28575" cap="flat" cmpd="sng">
            <a:solidFill>
              <a:schemeClr val="dk1"/>
            </a:solidFill>
            <a:prstDash val="solid"/>
            <a:round/>
            <a:headEnd type="none" w="sm" len="sm"/>
            <a:tailEnd type="none" w="sm" len="sm"/>
          </a:ln>
        </p:spPr>
      </p:cxnSp>
      <p:cxnSp>
        <p:nvCxnSpPr>
          <p:cNvPr id="292" name="Google Shape;292;p21"/>
          <p:cNvCxnSpPr/>
          <p:nvPr/>
        </p:nvCxnSpPr>
        <p:spPr>
          <a:xfrm>
            <a:off x="5516025" y="3559775"/>
            <a:ext cx="0" cy="408300"/>
          </a:xfrm>
          <a:prstGeom prst="straightConnector1">
            <a:avLst/>
          </a:prstGeom>
          <a:noFill/>
          <a:ln w="28575" cap="flat" cmpd="sng">
            <a:solidFill>
              <a:schemeClr val="dk1"/>
            </a:solidFill>
            <a:prstDash val="solid"/>
            <a:round/>
            <a:headEnd type="none" w="sm" len="sm"/>
            <a:tailEnd type="none" w="sm" len="sm"/>
          </a:ln>
        </p:spPr>
      </p:cxnSp>
      <p:cxnSp>
        <p:nvCxnSpPr>
          <p:cNvPr id="293" name="Google Shape;293;p21"/>
          <p:cNvCxnSpPr/>
          <p:nvPr/>
        </p:nvCxnSpPr>
        <p:spPr>
          <a:xfrm>
            <a:off x="7694550" y="3577000"/>
            <a:ext cx="0" cy="408300"/>
          </a:xfrm>
          <a:prstGeom prst="straightConnector1">
            <a:avLst/>
          </a:prstGeom>
          <a:noFill/>
          <a:ln w="28575" cap="flat" cmpd="sng">
            <a:solidFill>
              <a:schemeClr val="dk1"/>
            </a:solidFill>
            <a:prstDash val="solid"/>
            <a:round/>
            <a:headEnd type="none" w="sm" len="sm"/>
            <a:tailEnd type="none" w="sm" len="sm"/>
          </a:ln>
        </p:spPr>
      </p:cxnSp>
      <p:pic>
        <p:nvPicPr>
          <p:cNvPr id="294" name="Google Shape;294;p21"/>
          <p:cNvPicPr preferRelativeResize="0"/>
          <p:nvPr/>
        </p:nvPicPr>
        <p:blipFill rotWithShape="1">
          <a:blip r:embed="rId3">
            <a:alphaModFix/>
          </a:blip>
          <a:srcRect/>
          <a:stretch/>
        </p:blipFill>
        <p:spPr>
          <a:xfrm>
            <a:off x="2964160" y="1641248"/>
            <a:ext cx="737790" cy="655825"/>
          </a:xfrm>
          <a:prstGeom prst="rect">
            <a:avLst/>
          </a:prstGeom>
          <a:noFill/>
          <a:ln>
            <a:noFill/>
          </a:ln>
        </p:spPr>
      </p:pic>
      <p:pic>
        <p:nvPicPr>
          <p:cNvPr id="295" name="Google Shape;295;p21"/>
          <p:cNvPicPr preferRelativeResize="0"/>
          <p:nvPr/>
        </p:nvPicPr>
        <p:blipFill rotWithShape="1">
          <a:blip r:embed="rId4">
            <a:alphaModFix/>
          </a:blip>
          <a:srcRect/>
          <a:stretch/>
        </p:blipFill>
        <p:spPr>
          <a:xfrm>
            <a:off x="4571990" y="1565775"/>
            <a:ext cx="715866" cy="572700"/>
          </a:xfrm>
          <a:prstGeom prst="rect">
            <a:avLst/>
          </a:prstGeom>
          <a:noFill/>
          <a:ln>
            <a:noFill/>
          </a:ln>
        </p:spPr>
      </p:pic>
      <p:pic>
        <p:nvPicPr>
          <p:cNvPr id="296" name="Google Shape;296;p21"/>
          <p:cNvPicPr preferRelativeResize="0"/>
          <p:nvPr/>
        </p:nvPicPr>
        <p:blipFill rotWithShape="1">
          <a:blip r:embed="rId5">
            <a:alphaModFix/>
          </a:blip>
          <a:srcRect/>
          <a:stretch/>
        </p:blipFill>
        <p:spPr>
          <a:xfrm>
            <a:off x="5370825" y="1565776"/>
            <a:ext cx="429525" cy="572700"/>
          </a:xfrm>
          <a:prstGeom prst="rect">
            <a:avLst/>
          </a:prstGeom>
          <a:noFill/>
          <a:ln>
            <a:noFill/>
          </a:ln>
        </p:spPr>
      </p:pic>
      <p:pic>
        <p:nvPicPr>
          <p:cNvPr id="297" name="Google Shape;297;p21"/>
          <p:cNvPicPr preferRelativeResize="0"/>
          <p:nvPr/>
        </p:nvPicPr>
        <p:blipFill rotWithShape="1">
          <a:blip r:embed="rId6">
            <a:alphaModFix/>
          </a:blip>
          <a:srcRect/>
          <a:stretch/>
        </p:blipFill>
        <p:spPr>
          <a:xfrm>
            <a:off x="5897426" y="1577776"/>
            <a:ext cx="548700" cy="548700"/>
          </a:xfrm>
          <a:prstGeom prst="rect">
            <a:avLst/>
          </a:prstGeom>
          <a:noFill/>
          <a:ln>
            <a:noFill/>
          </a:ln>
        </p:spPr>
      </p:pic>
      <p:pic>
        <p:nvPicPr>
          <p:cNvPr id="298" name="Google Shape;298;p21"/>
          <p:cNvPicPr preferRelativeResize="0"/>
          <p:nvPr/>
        </p:nvPicPr>
        <p:blipFill rotWithShape="1">
          <a:blip r:embed="rId7">
            <a:alphaModFix/>
          </a:blip>
          <a:srcRect/>
          <a:stretch/>
        </p:blipFill>
        <p:spPr>
          <a:xfrm>
            <a:off x="7284670" y="1577774"/>
            <a:ext cx="819770" cy="655825"/>
          </a:xfrm>
          <a:prstGeom prst="rect">
            <a:avLst/>
          </a:prstGeom>
          <a:noFill/>
          <a:ln>
            <a:noFill/>
          </a:ln>
        </p:spPr>
      </p:pic>
      <p:pic>
        <p:nvPicPr>
          <p:cNvPr id="299" name="Google Shape;299;p21"/>
          <p:cNvPicPr preferRelativeResize="0"/>
          <p:nvPr/>
        </p:nvPicPr>
        <p:blipFill rotWithShape="1">
          <a:blip r:embed="rId8">
            <a:alphaModFix/>
          </a:blip>
          <a:srcRect/>
          <a:stretch/>
        </p:blipFill>
        <p:spPr>
          <a:xfrm>
            <a:off x="829955" y="1577785"/>
            <a:ext cx="655800" cy="655814"/>
          </a:xfrm>
          <a:prstGeom prst="rect">
            <a:avLst/>
          </a:prstGeom>
          <a:noFill/>
          <a:ln>
            <a:noFill/>
          </a:ln>
        </p:spPr>
      </p:pic>
      <p:cxnSp>
        <p:nvCxnSpPr>
          <p:cNvPr id="300" name="Google Shape;300;p21"/>
          <p:cNvCxnSpPr>
            <a:stCxn id="286" idx="0"/>
            <a:endCxn id="299" idx="2"/>
          </p:cNvCxnSpPr>
          <p:nvPr/>
        </p:nvCxnSpPr>
        <p:spPr>
          <a:xfrm rot="10800000">
            <a:off x="1157850" y="2233600"/>
            <a:ext cx="0" cy="850800"/>
          </a:xfrm>
          <a:prstGeom prst="straightConnector1">
            <a:avLst/>
          </a:prstGeom>
          <a:noFill/>
          <a:ln w="28575" cap="flat" cmpd="sng">
            <a:solidFill>
              <a:schemeClr val="dk1"/>
            </a:solidFill>
            <a:prstDash val="solid"/>
            <a:round/>
            <a:headEnd type="none" w="sm" len="sm"/>
            <a:tailEnd type="none" w="sm" len="sm"/>
          </a:ln>
        </p:spPr>
      </p:cxnSp>
      <p:cxnSp>
        <p:nvCxnSpPr>
          <p:cNvPr id="301" name="Google Shape;301;p21"/>
          <p:cNvCxnSpPr>
            <a:stCxn id="287" idx="0"/>
            <a:endCxn id="294" idx="2"/>
          </p:cNvCxnSpPr>
          <p:nvPr/>
        </p:nvCxnSpPr>
        <p:spPr>
          <a:xfrm rot="10800000">
            <a:off x="3333038" y="2297200"/>
            <a:ext cx="3900" cy="787200"/>
          </a:xfrm>
          <a:prstGeom prst="straightConnector1">
            <a:avLst/>
          </a:prstGeom>
          <a:noFill/>
          <a:ln w="28575" cap="flat" cmpd="sng">
            <a:solidFill>
              <a:schemeClr val="dk1"/>
            </a:solidFill>
            <a:prstDash val="solid"/>
            <a:round/>
            <a:headEnd type="none" w="sm" len="sm"/>
            <a:tailEnd type="none" w="sm" len="sm"/>
          </a:ln>
        </p:spPr>
      </p:cxnSp>
      <p:cxnSp>
        <p:nvCxnSpPr>
          <p:cNvPr id="302" name="Google Shape;302;p21"/>
          <p:cNvCxnSpPr>
            <a:stCxn id="288" idx="0"/>
            <a:endCxn id="295" idx="2"/>
          </p:cNvCxnSpPr>
          <p:nvPr/>
        </p:nvCxnSpPr>
        <p:spPr>
          <a:xfrm rot="10800000">
            <a:off x="4929825" y="2138500"/>
            <a:ext cx="586200" cy="945900"/>
          </a:xfrm>
          <a:prstGeom prst="straightConnector1">
            <a:avLst/>
          </a:prstGeom>
          <a:noFill/>
          <a:ln w="28575" cap="flat" cmpd="sng">
            <a:solidFill>
              <a:schemeClr val="dk1"/>
            </a:solidFill>
            <a:prstDash val="solid"/>
            <a:round/>
            <a:headEnd type="none" w="sm" len="sm"/>
            <a:tailEnd type="none" w="sm" len="sm"/>
          </a:ln>
        </p:spPr>
      </p:cxnSp>
      <p:cxnSp>
        <p:nvCxnSpPr>
          <p:cNvPr id="303" name="Google Shape;303;p21"/>
          <p:cNvCxnSpPr>
            <a:stCxn id="288" idx="0"/>
            <a:endCxn id="296" idx="2"/>
          </p:cNvCxnSpPr>
          <p:nvPr/>
        </p:nvCxnSpPr>
        <p:spPr>
          <a:xfrm rot="10800000" flipH="1">
            <a:off x="5516025" y="2138500"/>
            <a:ext cx="69600" cy="945900"/>
          </a:xfrm>
          <a:prstGeom prst="straightConnector1">
            <a:avLst/>
          </a:prstGeom>
          <a:noFill/>
          <a:ln w="28575" cap="flat" cmpd="sng">
            <a:solidFill>
              <a:schemeClr val="dk1"/>
            </a:solidFill>
            <a:prstDash val="solid"/>
            <a:round/>
            <a:headEnd type="none" w="sm" len="sm"/>
            <a:tailEnd type="none" w="sm" len="sm"/>
          </a:ln>
        </p:spPr>
      </p:cxnSp>
      <p:cxnSp>
        <p:nvCxnSpPr>
          <p:cNvPr id="304" name="Google Shape;304;p21"/>
          <p:cNvCxnSpPr>
            <a:stCxn id="288" idx="0"/>
            <a:endCxn id="297" idx="2"/>
          </p:cNvCxnSpPr>
          <p:nvPr/>
        </p:nvCxnSpPr>
        <p:spPr>
          <a:xfrm rot="10800000" flipH="1">
            <a:off x="5516025" y="2126500"/>
            <a:ext cx="655800" cy="957900"/>
          </a:xfrm>
          <a:prstGeom prst="straightConnector1">
            <a:avLst/>
          </a:prstGeom>
          <a:noFill/>
          <a:ln w="28575" cap="flat" cmpd="sng">
            <a:solidFill>
              <a:schemeClr val="dk1"/>
            </a:solidFill>
            <a:prstDash val="solid"/>
            <a:round/>
            <a:headEnd type="none" w="sm" len="sm"/>
            <a:tailEnd type="none" w="sm" len="sm"/>
          </a:ln>
        </p:spPr>
      </p:cxnSp>
      <p:cxnSp>
        <p:nvCxnSpPr>
          <p:cNvPr id="305" name="Google Shape;305;p21"/>
          <p:cNvCxnSpPr>
            <a:stCxn id="289" idx="0"/>
            <a:endCxn id="298" idx="2"/>
          </p:cNvCxnSpPr>
          <p:nvPr/>
        </p:nvCxnSpPr>
        <p:spPr>
          <a:xfrm rot="10800000">
            <a:off x="7694550" y="2233600"/>
            <a:ext cx="0" cy="850800"/>
          </a:xfrm>
          <a:prstGeom prst="straightConnector1">
            <a:avLst/>
          </a:prstGeom>
          <a:noFill/>
          <a:ln w="28575" cap="flat" cmpd="sng">
            <a:solidFill>
              <a:schemeClr val="dk1"/>
            </a:solidFill>
            <a:prstDash val="solid"/>
            <a:round/>
            <a:headEnd type="none" w="sm" len="sm"/>
            <a:tailEnd type="none" w="sm" len="sm"/>
          </a:ln>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4"/>
          <p:cNvSpPr/>
          <p:nvPr/>
        </p:nvSpPr>
        <p:spPr>
          <a:xfrm>
            <a:off x="163775" y="2042625"/>
            <a:ext cx="6211800" cy="2443200"/>
          </a:xfrm>
          <a:prstGeom prst="cube">
            <a:avLst>
              <a:gd name="adj" fmla="val 91627"/>
            </a:avLst>
          </a:prstGeom>
          <a:solidFill>
            <a:srgbClr val="3C78D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1" i="0" u="none" strike="noStrike" cap="none">
                <a:solidFill>
                  <a:srgbClr val="000000"/>
                </a:solidFill>
                <a:latin typeface="Comfortaa"/>
                <a:ea typeface="Comfortaa"/>
                <a:cs typeface="Comfortaa"/>
                <a:sym typeface="Comfortaa"/>
              </a:rPr>
              <a:t>Processor Socket</a:t>
            </a:r>
            <a:endParaRPr sz="1500" b="1" i="0" u="none" strike="noStrike" cap="none">
              <a:solidFill>
                <a:srgbClr val="000000"/>
              </a:solidFill>
              <a:latin typeface="Comfortaa"/>
              <a:ea typeface="Comfortaa"/>
              <a:cs typeface="Comfortaa"/>
              <a:sym typeface="Comfortaa"/>
            </a:endParaRPr>
          </a:p>
        </p:txBody>
      </p:sp>
      <p:sp>
        <p:nvSpPr>
          <p:cNvPr id="349" name="Google Shape;349;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720" b="1">
                <a:solidFill>
                  <a:srgbClr val="00FF00"/>
                </a:solidFill>
                <a:latin typeface="Comfortaa"/>
                <a:ea typeface="Comfortaa"/>
                <a:cs typeface="Comfortaa"/>
                <a:sym typeface="Comfortaa"/>
              </a:rPr>
              <a:t>Computer System Architecture</a:t>
            </a:r>
            <a:endParaRPr sz="2720" b="1">
              <a:solidFill>
                <a:srgbClr val="00FF00"/>
              </a:solidFill>
              <a:latin typeface="Comfortaa"/>
              <a:ea typeface="Comfortaa"/>
              <a:cs typeface="Comfortaa"/>
              <a:sym typeface="Comfortaa"/>
            </a:endParaRPr>
          </a:p>
        </p:txBody>
      </p:sp>
      <p:sp>
        <p:nvSpPr>
          <p:cNvPr id="350" name="Google Shape;350;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46</a:t>
            </a:fld>
            <a:endParaRPr/>
          </a:p>
        </p:txBody>
      </p:sp>
      <p:sp>
        <p:nvSpPr>
          <p:cNvPr id="351" name="Google Shape;351;p24"/>
          <p:cNvSpPr/>
          <p:nvPr/>
        </p:nvSpPr>
        <p:spPr>
          <a:xfrm>
            <a:off x="163775" y="2042625"/>
            <a:ext cx="6211800" cy="2443200"/>
          </a:xfrm>
          <a:prstGeom prst="cube">
            <a:avLst>
              <a:gd name="adj" fmla="val 91627"/>
            </a:avLst>
          </a:prstGeom>
          <a:gradFill>
            <a:gsLst>
              <a:gs pos="0">
                <a:srgbClr val="51AB2A"/>
              </a:gs>
              <a:gs pos="100000">
                <a:srgbClr val="203E13"/>
              </a:gs>
            </a:gsLst>
            <a:path path="circle">
              <a:fillToRect l="50000" t="50000" r="50000" b="50000"/>
            </a:path>
            <a:tileRect/>
          </a:gra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1" i="0" u="none" strike="noStrike" cap="none">
                <a:solidFill>
                  <a:srgbClr val="000000"/>
                </a:solidFill>
                <a:latin typeface="Comfortaa"/>
                <a:ea typeface="Comfortaa"/>
                <a:cs typeface="Comfortaa"/>
                <a:sym typeface="Comfortaa"/>
              </a:rPr>
              <a:t>Processor</a:t>
            </a:r>
            <a:endParaRPr sz="1500" b="1" i="0" u="none" strike="noStrike" cap="none">
              <a:solidFill>
                <a:srgbClr val="000000"/>
              </a:solidFill>
              <a:latin typeface="Comfortaa"/>
              <a:ea typeface="Comfortaa"/>
              <a:cs typeface="Comfortaa"/>
              <a:sym typeface="Comfortaa"/>
            </a:endParaRPr>
          </a:p>
        </p:txBody>
      </p:sp>
      <p:sp>
        <p:nvSpPr>
          <p:cNvPr id="352" name="Google Shape;352;p24"/>
          <p:cNvSpPr/>
          <p:nvPr/>
        </p:nvSpPr>
        <p:spPr>
          <a:xfrm>
            <a:off x="657325" y="3220900"/>
            <a:ext cx="2825100" cy="969000"/>
          </a:xfrm>
          <a:prstGeom prst="cube">
            <a:avLst>
              <a:gd name="adj" fmla="val 76053"/>
            </a:avLst>
          </a:prstGeom>
          <a:gradFill>
            <a:gsLst>
              <a:gs pos="0">
                <a:srgbClr val="F48208"/>
              </a:gs>
              <a:gs pos="100000">
                <a:srgbClr val="703E08"/>
              </a:gs>
            </a:gsLst>
            <a:path path="circle">
              <a:fillToRect l="50000" t="50000" r="50000" b="50000"/>
            </a:path>
            <a:tileRect/>
          </a:gra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1" i="0" u="none" strike="noStrike" cap="none">
                <a:solidFill>
                  <a:srgbClr val="000000"/>
                </a:solidFill>
                <a:latin typeface="Comfortaa"/>
                <a:ea typeface="Comfortaa"/>
                <a:cs typeface="Comfortaa"/>
                <a:sym typeface="Comfortaa"/>
              </a:rPr>
              <a:t>Core 1</a:t>
            </a:r>
            <a:endParaRPr sz="1300" b="1" i="0" u="none" strike="noStrike" cap="none">
              <a:solidFill>
                <a:srgbClr val="000000"/>
              </a:solidFill>
              <a:latin typeface="Comfortaa"/>
              <a:ea typeface="Comfortaa"/>
              <a:cs typeface="Comfortaa"/>
              <a:sym typeface="Comfortaa"/>
            </a:endParaRPr>
          </a:p>
        </p:txBody>
      </p:sp>
      <p:sp>
        <p:nvSpPr>
          <p:cNvPr id="353" name="Google Shape;353;p24"/>
          <p:cNvSpPr/>
          <p:nvPr/>
        </p:nvSpPr>
        <p:spPr>
          <a:xfrm>
            <a:off x="2372538" y="3260750"/>
            <a:ext cx="807600" cy="572700"/>
          </a:xfrm>
          <a:prstGeom prst="cube">
            <a:avLst>
              <a:gd name="adj" fmla="val 66579"/>
            </a:avLst>
          </a:prstGeom>
          <a:solidFill>
            <a:schemeClr val="lt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000000"/>
                </a:solidFill>
                <a:latin typeface="Comfortaa"/>
                <a:ea typeface="Comfortaa"/>
                <a:cs typeface="Comfortaa"/>
                <a:sym typeface="Comfortaa"/>
              </a:rPr>
              <a:t>L2</a:t>
            </a:r>
            <a:endParaRPr sz="1100" b="1" i="0" u="none" strike="noStrike" cap="none">
              <a:solidFill>
                <a:srgbClr val="000000"/>
              </a:solidFill>
              <a:latin typeface="Comfortaa"/>
              <a:ea typeface="Comfortaa"/>
              <a:cs typeface="Comfortaa"/>
              <a:sym typeface="Comfortaa"/>
            </a:endParaRPr>
          </a:p>
        </p:txBody>
      </p:sp>
      <p:sp>
        <p:nvSpPr>
          <p:cNvPr id="354" name="Google Shape;354;p24"/>
          <p:cNvSpPr/>
          <p:nvPr/>
        </p:nvSpPr>
        <p:spPr>
          <a:xfrm>
            <a:off x="3626725" y="2131350"/>
            <a:ext cx="2214600" cy="1966500"/>
          </a:xfrm>
          <a:prstGeom prst="cube">
            <a:avLst>
              <a:gd name="adj" fmla="val 84451"/>
            </a:avLst>
          </a:prstGeom>
          <a:gradFill>
            <a:gsLst>
              <a:gs pos="0">
                <a:srgbClr val="D4E5F5"/>
              </a:gs>
              <a:gs pos="100000">
                <a:srgbClr val="70A4D5"/>
              </a:gs>
            </a:gsLst>
            <a:path path="circle">
              <a:fillToRect l="50000" t="50000" r="50000" b="50000"/>
            </a:path>
            <a:tileRect/>
          </a:gra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Comfortaa"/>
                <a:ea typeface="Comfortaa"/>
                <a:cs typeface="Comfortaa"/>
                <a:sym typeface="Comfortaa"/>
              </a:rPr>
              <a:t>L3</a:t>
            </a:r>
            <a:endParaRPr sz="1700" b="1" i="0" u="none" strike="noStrike" cap="none">
              <a:solidFill>
                <a:srgbClr val="000000"/>
              </a:solidFill>
              <a:latin typeface="Comfortaa"/>
              <a:ea typeface="Comfortaa"/>
              <a:cs typeface="Comfortaa"/>
              <a:sym typeface="Comfortaa"/>
            </a:endParaRPr>
          </a:p>
        </p:txBody>
      </p:sp>
      <p:sp>
        <p:nvSpPr>
          <p:cNvPr id="355" name="Google Shape;355;p24"/>
          <p:cNvSpPr/>
          <p:nvPr/>
        </p:nvSpPr>
        <p:spPr>
          <a:xfrm>
            <a:off x="3271350" y="3467700"/>
            <a:ext cx="548700" cy="271800"/>
          </a:xfrm>
          <a:prstGeom prst="leftRightArrow">
            <a:avLst>
              <a:gd name="adj1" fmla="val 50000"/>
              <a:gd name="adj2" fmla="val 50000"/>
            </a:avLst>
          </a:prstGeom>
          <a:solidFill>
            <a:schemeClr val="lt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 name="Google Shape;356;p24"/>
          <p:cNvSpPr/>
          <p:nvPr/>
        </p:nvSpPr>
        <p:spPr>
          <a:xfrm>
            <a:off x="4810050" y="2251850"/>
            <a:ext cx="3998700" cy="2411400"/>
          </a:xfrm>
          <a:prstGeom prst="cube">
            <a:avLst>
              <a:gd name="adj" fmla="val 88824"/>
            </a:avLst>
          </a:prstGeom>
          <a:gradFill>
            <a:gsLst>
              <a:gs pos="0">
                <a:srgbClr val="F5D0D0"/>
              </a:gs>
              <a:gs pos="100000">
                <a:srgbClr val="D96868"/>
              </a:gs>
            </a:gsLst>
            <a:path path="circle">
              <a:fillToRect l="50000" t="50000" r="50000" b="50000"/>
            </a:path>
            <a:tileRect/>
          </a:gra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Comfortaa"/>
                <a:ea typeface="Comfortaa"/>
                <a:cs typeface="Comfortaa"/>
                <a:sym typeface="Comfortaa"/>
              </a:rPr>
              <a:t>Main Memory</a:t>
            </a:r>
            <a:endParaRPr sz="1600" b="1" i="0" u="none" strike="noStrike" cap="none">
              <a:solidFill>
                <a:srgbClr val="000000"/>
              </a:solidFill>
              <a:latin typeface="Comfortaa"/>
              <a:ea typeface="Comfortaa"/>
              <a:cs typeface="Comfortaa"/>
              <a:sym typeface="Comfortaa"/>
            </a:endParaRPr>
          </a:p>
        </p:txBody>
      </p:sp>
      <p:sp>
        <p:nvSpPr>
          <p:cNvPr id="357" name="Google Shape;357;p24"/>
          <p:cNvSpPr/>
          <p:nvPr/>
        </p:nvSpPr>
        <p:spPr>
          <a:xfrm>
            <a:off x="7178700" y="308550"/>
            <a:ext cx="1653600" cy="1469400"/>
          </a:xfrm>
          <a:prstGeom prst="can">
            <a:avLst>
              <a:gd name="adj" fmla="val 25000"/>
            </a:avLst>
          </a:prstGeom>
          <a:gradFill>
            <a:gsLst>
              <a:gs pos="0">
                <a:srgbClr val="DBD4EB"/>
              </a:gs>
              <a:gs pos="100000">
                <a:srgbClr val="9180BB"/>
              </a:gs>
            </a:gsLst>
            <a:path path="circle">
              <a:fillToRect l="50000" t="50000" r="50000" b="50000"/>
            </a:path>
            <a:tileRect/>
          </a:gra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Comfortaa"/>
                <a:ea typeface="Comfortaa"/>
                <a:cs typeface="Comfortaa"/>
                <a:sym typeface="Comfortaa"/>
              </a:rPr>
              <a:t>HDD</a:t>
            </a:r>
            <a:endParaRPr sz="1600" b="1" i="0" u="none" strike="noStrike" cap="none">
              <a:solidFill>
                <a:srgbClr val="000000"/>
              </a:solidFill>
              <a:latin typeface="Comfortaa"/>
              <a:ea typeface="Comfortaa"/>
              <a:cs typeface="Comfortaa"/>
              <a:sym typeface="Comfortaa"/>
            </a:endParaRPr>
          </a:p>
        </p:txBody>
      </p:sp>
      <p:sp>
        <p:nvSpPr>
          <p:cNvPr id="358" name="Google Shape;358;p24"/>
          <p:cNvSpPr/>
          <p:nvPr/>
        </p:nvSpPr>
        <p:spPr>
          <a:xfrm>
            <a:off x="5008725" y="3128325"/>
            <a:ext cx="894300" cy="271800"/>
          </a:xfrm>
          <a:prstGeom prst="leftRightArrow">
            <a:avLst>
              <a:gd name="adj1" fmla="val 50000"/>
              <a:gd name="adj2" fmla="val 50000"/>
            </a:avLst>
          </a:prstGeom>
          <a:solidFill>
            <a:schemeClr val="lt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24"/>
          <p:cNvSpPr/>
          <p:nvPr/>
        </p:nvSpPr>
        <p:spPr>
          <a:xfrm>
            <a:off x="7869000" y="1789738"/>
            <a:ext cx="273000" cy="450300"/>
          </a:xfrm>
          <a:prstGeom prst="upDownArrow">
            <a:avLst>
              <a:gd name="adj1" fmla="val 50000"/>
              <a:gd name="adj2" fmla="val 50000"/>
            </a:avLst>
          </a:prstGeom>
          <a:solidFill>
            <a:srgbClr val="000000"/>
          </a:solid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24"/>
          <p:cNvSpPr/>
          <p:nvPr/>
        </p:nvSpPr>
        <p:spPr>
          <a:xfrm>
            <a:off x="1732650" y="3260750"/>
            <a:ext cx="548700" cy="393600"/>
          </a:xfrm>
          <a:prstGeom prst="cube">
            <a:avLst>
              <a:gd name="adj" fmla="val 40968"/>
            </a:avLst>
          </a:prstGeom>
          <a:solidFill>
            <a:srgbClr val="6AA84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omfortaa"/>
                <a:ea typeface="Comfortaa"/>
                <a:cs typeface="Comfortaa"/>
                <a:sym typeface="Comfortaa"/>
              </a:rPr>
              <a:t>L1</a:t>
            </a:r>
            <a:endParaRPr sz="1100" b="0" i="0" u="none" strike="noStrike" cap="none">
              <a:solidFill>
                <a:srgbClr val="000000"/>
              </a:solidFill>
              <a:latin typeface="Comfortaa"/>
              <a:ea typeface="Comfortaa"/>
              <a:cs typeface="Comfortaa"/>
              <a:sym typeface="Comfortaa"/>
            </a:endParaRPr>
          </a:p>
        </p:txBody>
      </p:sp>
      <p:sp>
        <p:nvSpPr>
          <p:cNvPr id="361" name="Google Shape;361;p24"/>
          <p:cNvSpPr/>
          <p:nvPr/>
        </p:nvSpPr>
        <p:spPr>
          <a:xfrm>
            <a:off x="1530413" y="3508600"/>
            <a:ext cx="548700" cy="393600"/>
          </a:xfrm>
          <a:prstGeom prst="cube">
            <a:avLst>
              <a:gd name="adj" fmla="val 40968"/>
            </a:avLst>
          </a:prstGeom>
          <a:solidFill>
            <a:srgbClr val="6AA84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omfortaa"/>
                <a:ea typeface="Comfortaa"/>
                <a:cs typeface="Comfortaa"/>
                <a:sym typeface="Comfortaa"/>
              </a:rPr>
              <a:t>L1</a:t>
            </a:r>
            <a:endParaRPr sz="1100" b="0" i="0" u="none" strike="noStrike" cap="none">
              <a:solidFill>
                <a:srgbClr val="000000"/>
              </a:solidFill>
              <a:latin typeface="Comfortaa"/>
              <a:ea typeface="Comfortaa"/>
              <a:cs typeface="Comfortaa"/>
              <a:sym typeface="Comfortaa"/>
            </a:endParaRPr>
          </a:p>
        </p:txBody>
      </p:sp>
      <p:sp>
        <p:nvSpPr>
          <p:cNvPr id="362" name="Google Shape;362;p24"/>
          <p:cNvSpPr/>
          <p:nvPr/>
        </p:nvSpPr>
        <p:spPr>
          <a:xfrm>
            <a:off x="1732650" y="2164650"/>
            <a:ext cx="2825100" cy="969000"/>
          </a:xfrm>
          <a:prstGeom prst="cube">
            <a:avLst>
              <a:gd name="adj" fmla="val 76053"/>
            </a:avLst>
          </a:prstGeom>
          <a:gradFill>
            <a:gsLst>
              <a:gs pos="0">
                <a:srgbClr val="F48208"/>
              </a:gs>
              <a:gs pos="100000">
                <a:srgbClr val="703E08"/>
              </a:gs>
            </a:gsLst>
            <a:path path="circle">
              <a:fillToRect l="50000" t="50000" r="50000" b="50000"/>
            </a:path>
            <a:tileRect/>
          </a:gra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1" i="0" u="none" strike="noStrike" cap="none">
                <a:solidFill>
                  <a:srgbClr val="000000"/>
                </a:solidFill>
                <a:latin typeface="Comfortaa"/>
                <a:ea typeface="Comfortaa"/>
                <a:cs typeface="Comfortaa"/>
                <a:sym typeface="Comfortaa"/>
              </a:rPr>
              <a:t>Core 2</a:t>
            </a:r>
            <a:endParaRPr sz="1300" b="1" i="0" u="none" strike="noStrike" cap="none">
              <a:solidFill>
                <a:srgbClr val="000000"/>
              </a:solidFill>
              <a:latin typeface="Comfortaa"/>
              <a:ea typeface="Comfortaa"/>
              <a:cs typeface="Comfortaa"/>
              <a:sym typeface="Comfortaa"/>
            </a:endParaRPr>
          </a:p>
        </p:txBody>
      </p:sp>
      <p:sp>
        <p:nvSpPr>
          <p:cNvPr id="363" name="Google Shape;363;p24"/>
          <p:cNvSpPr/>
          <p:nvPr/>
        </p:nvSpPr>
        <p:spPr>
          <a:xfrm>
            <a:off x="1311200" y="3321650"/>
            <a:ext cx="273000" cy="271800"/>
          </a:xfrm>
          <a:prstGeom prst="can">
            <a:avLst>
              <a:gd name="adj" fmla="val 25000"/>
            </a:avLst>
          </a:prstGeom>
          <a:solidFill>
            <a:srgbClr val="F1C23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R</a:t>
            </a:r>
            <a:endParaRPr sz="1400" b="1" i="0" u="none" strike="noStrike" cap="none">
              <a:solidFill>
                <a:srgbClr val="000000"/>
              </a:solidFill>
              <a:latin typeface="Arial"/>
              <a:ea typeface="Arial"/>
              <a:cs typeface="Arial"/>
              <a:sym typeface="Arial"/>
            </a:endParaRPr>
          </a:p>
        </p:txBody>
      </p:sp>
      <p:sp>
        <p:nvSpPr>
          <p:cNvPr id="364" name="Google Shape;364;p24"/>
          <p:cNvSpPr/>
          <p:nvPr/>
        </p:nvSpPr>
        <p:spPr>
          <a:xfrm>
            <a:off x="1188375" y="3467700"/>
            <a:ext cx="273000" cy="271800"/>
          </a:xfrm>
          <a:prstGeom prst="can">
            <a:avLst>
              <a:gd name="adj" fmla="val 25000"/>
            </a:avLst>
          </a:prstGeom>
          <a:solidFill>
            <a:srgbClr val="F1C23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R</a:t>
            </a:r>
            <a:endParaRPr sz="1400" b="1" i="0" u="none" strike="noStrike" cap="none">
              <a:solidFill>
                <a:srgbClr val="000000"/>
              </a:solidFill>
              <a:latin typeface="Arial"/>
              <a:ea typeface="Arial"/>
              <a:cs typeface="Arial"/>
              <a:sym typeface="Arial"/>
            </a:endParaRPr>
          </a:p>
        </p:txBody>
      </p:sp>
      <p:sp>
        <p:nvSpPr>
          <p:cNvPr id="365" name="Google Shape;365;p24"/>
          <p:cNvSpPr/>
          <p:nvPr/>
        </p:nvSpPr>
        <p:spPr>
          <a:xfrm>
            <a:off x="1038200" y="3654350"/>
            <a:ext cx="273000" cy="271800"/>
          </a:xfrm>
          <a:prstGeom prst="can">
            <a:avLst>
              <a:gd name="adj" fmla="val 25000"/>
            </a:avLst>
          </a:prstGeom>
          <a:solidFill>
            <a:srgbClr val="F1C23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R</a:t>
            </a:r>
            <a:endParaRPr sz="1400" b="1" i="0" u="none" strike="noStrike" cap="none">
              <a:solidFill>
                <a:srgbClr val="000000"/>
              </a:solidFill>
              <a:latin typeface="Arial"/>
              <a:ea typeface="Arial"/>
              <a:cs typeface="Arial"/>
              <a:sym typeface="Arial"/>
            </a:endParaRPr>
          </a:p>
        </p:txBody>
      </p:sp>
      <p:sp>
        <p:nvSpPr>
          <p:cNvPr id="366" name="Google Shape;366;p24"/>
          <p:cNvSpPr/>
          <p:nvPr/>
        </p:nvSpPr>
        <p:spPr>
          <a:xfrm>
            <a:off x="3447863" y="2204500"/>
            <a:ext cx="807600" cy="572700"/>
          </a:xfrm>
          <a:prstGeom prst="cube">
            <a:avLst>
              <a:gd name="adj" fmla="val 66579"/>
            </a:avLst>
          </a:prstGeom>
          <a:solidFill>
            <a:schemeClr val="lt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000000"/>
                </a:solidFill>
                <a:latin typeface="Comfortaa"/>
                <a:ea typeface="Comfortaa"/>
                <a:cs typeface="Comfortaa"/>
                <a:sym typeface="Comfortaa"/>
              </a:rPr>
              <a:t>L2</a:t>
            </a:r>
            <a:endParaRPr sz="1100" b="1" i="0" u="none" strike="noStrike" cap="none">
              <a:solidFill>
                <a:srgbClr val="000000"/>
              </a:solidFill>
              <a:latin typeface="Comfortaa"/>
              <a:ea typeface="Comfortaa"/>
              <a:cs typeface="Comfortaa"/>
              <a:sym typeface="Comfortaa"/>
            </a:endParaRPr>
          </a:p>
        </p:txBody>
      </p:sp>
      <p:sp>
        <p:nvSpPr>
          <p:cNvPr id="367" name="Google Shape;367;p24"/>
          <p:cNvSpPr/>
          <p:nvPr/>
        </p:nvSpPr>
        <p:spPr>
          <a:xfrm>
            <a:off x="2807975" y="2204500"/>
            <a:ext cx="548700" cy="393600"/>
          </a:xfrm>
          <a:prstGeom prst="cube">
            <a:avLst>
              <a:gd name="adj" fmla="val 40968"/>
            </a:avLst>
          </a:prstGeom>
          <a:solidFill>
            <a:srgbClr val="6AA84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omfortaa"/>
                <a:ea typeface="Comfortaa"/>
                <a:cs typeface="Comfortaa"/>
                <a:sym typeface="Comfortaa"/>
              </a:rPr>
              <a:t>L1</a:t>
            </a:r>
            <a:endParaRPr sz="1100" b="0" i="0" u="none" strike="noStrike" cap="none">
              <a:solidFill>
                <a:srgbClr val="000000"/>
              </a:solidFill>
              <a:latin typeface="Comfortaa"/>
              <a:ea typeface="Comfortaa"/>
              <a:cs typeface="Comfortaa"/>
              <a:sym typeface="Comfortaa"/>
            </a:endParaRPr>
          </a:p>
        </p:txBody>
      </p:sp>
      <p:sp>
        <p:nvSpPr>
          <p:cNvPr id="368" name="Google Shape;368;p24"/>
          <p:cNvSpPr/>
          <p:nvPr/>
        </p:nvSpPr>
        <p:spPr>
          <a:xfrm>
            <a:off x="2605738" y="2452350"/>
            <a:ext cx="548700" cy="393600"/>
          </a:xfrm>
          <a:prstGeom prst="cube">
            <a:avLst>
              <a:gd name="adj" fmla="val 40968"/>
            </a:avLst>
          </a:prstGeom>
          <a:solidFill>
            <a:srgbClr val="6AA84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omfortaa"/>
                <a:ea typeface="Comfortaa"/>
                <a:cs typeface="Comfortaa"/>
                <a:sym typeface="Comfortaa"/>
              </a:rPr>
              <a:t>L1</a:t>
            </a:r>
            <a:endParaRPr sz="1100" b="0" i="0" u="none" strike="noStrike" cap="none">
              <a:solidFill>
                <a:srgbClr val="000000"/>
              </a:solidFill>
              <a:latin typeface="Comfortaa"/>
              <a:ea typeface="Comfortaa"/>
              <a:cs typeface="Comfortaa"/>
              <a:sym typeface="Comfortaa"/>
            </a:endParaRPr>
          </a:p>
        </p:txBody>
      </p:sp>
      <p:sp>
        <p:nvSpPr>
          <p:cNvPr id="369" name="Google Shape;369;p24"/>
          <p:cNvSpPr/>
          <p:nvPr/>
        </p:nvSpPr>
        <p:spPr>
          <a:xfrm>
            <a:off x="2386525" y="2265400"/>
            <a:ext cx="273000" cy="271800"/>
          </a:xfrm>
          <a:prstGeom prst="can">
            <a:avLst>
              <a:gd name="adj" fmla="val 25000"/>
            </a:avLst>
          </a:prstGeom>
          <a:solidFill>
            <a:srgbClr val="F1C23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R</a:t>
            </a:r>
            <a:endParaRPr sz="1400" b="1" i="0" u="none" strike="noStrike" cap="none">
              <a:solidFill>
                <a:srgbClr val="000000"/>
              </a:solidFill>
              <a:latin typeface="Arial"/>
              <a:ea typeface="Arial"/>
              <a:cs typeface="Arial"/>
              <a:sym typeface="Arial"/>
            </a:endParaRPr>
          </a:p>
        </p:txBody>
      </p:sp>
      <p:sp>
        <p:nvSpPr>
          <p:cNvPr id="370" name="Google Shape;370;p24"/>
          <p:cNvSpPr/>
          <p:nvPr/>
        </p:nvSpPr>
        <p:spPr>
          <a:xfrm>
            <a:off x="2263700" y="2411450"/>
            <a:ext cx="273000" cy="271800"/>
          </a:xfrm>
          <a:prstGeom prst="can">
            <a:avLst>
              <a:gd name="adj" fmla="val 25000"/>
            </a:avLst>
          </a:prstGeom>
          <a:solidFill>
            <a:srgbClr val="F1C23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R</a:t>
            </a:r>
            <a:endParaRPr sz="1400" b="1" i="0" u="none" strike="noStrike" cap="none">
              <a:solidFill>
                <a:srgbClr val="000000"/>
              </a:solidFill>
              <a:latin typeface="Arial"/>
              <a:ea typeface="Arial"/>
              <a:cs typeface="Arial"/>
              <a:sym typeface="Arial"/>
            </a:endParaRPr>
          </a:p>
        </p:txBody>
      </p:sp>
      <p:sp>
        <p:nvSpPr>
          <p:cNvPr id="371" name="Google Shape;371;p24"/>
          <p:cNvSpPr/>
          <p:nvPr/>
        </p:nvSpPr>
        <p:spPr>
          <a:xfrm>
            <a:off x="2113525" y="2598100"/>
            <a:ext cx="273000" cy="271800"/>
          </a:xfrm>
          <a:prstGeom prst="can">
            <a:avLst>
              <a:gd name="adj" fmla="val 25000"/>
            </a:avLst>
          </a:prstGeom>
          <a:solidFill>
            <a:srgbClr val="F1C23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R</a:t>
            </a:r>
            <a:endParaRPr sz="1400" b="1" i="0" u="none" strike="noStrike" cap="none">
              <a:solidFill>
                <a:srgbClr val="000000"/>
              </a:solidFill>
              <a:latin typeface="Arial"/>
              <a:ea typeface="Arial"/>
              <a:cs typeface="Arial"/>
              <a:sym typeface="Arial"/>
            </a:endParaRPr>
          </a:p>
        </p:txBody>
      </p:sp>
      <p:sp>
        <p:nvSpPr>
          <p:cNvPr id="372" name="Google Shape;372;p24"/>
          <p:cNvSpPr/>
          <p:nvPr/>
        </p:nvSpPr>
        <p:spPr>
          <a:xfrm>
            <a:off x="3154450" y="2354950"/>
            <a:ext cx="369600" cy="271800"/>
          </a:xfrm>
          <a:prstGeom prst="leftRightArrow">
            <a:avLst>
              <a:gd name="adj1" fmla="val 50000"/>
              <a:gd name="adj2" fmla="val 50000"/>
            </a:avLst>
          </a:prstGeom>
          <a:solidFill>
            <a:schemeClr val="lt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 name="Google Shape;373;p24"/>
          <p:cNvSpPr/>
          <p:nvPr/>
        </p:nvSpPr>
        <p:spPr>
          <a:xfrm>
            <a:off x="2079125" y="3411200"/>
            <a:ext cx="369600" cy="271800"/>
          </a:xfrm>
          <a:prstGeom prst="leftRightArrow">
            <a:avLst>
              <a:gd name="adj1" fmla="val 50000"/>
              <a:gd name="adj2" fmla="val 50000"/>
            </a:avLst>
          </a:prstGeom>
          <a:solidFill>
            <a:schemeClr val="lt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 name="Google Shape;374;p24"/>
          <p:cNvSpPr/>
          <p:nvPr/>
        </p:nvSpPr>
        <p:spPr>
          <a:xfrm>
            <a:off x="4178375" y="2513250"/>
            <a:ext cx="548700" cy="271800"/>
          </a:xfrm>
          <a:prstGeom prst="leftRightArrow">
            <a:avLst>
              <a:gd name="adj1" fmla="val 50000"/>
              <a:gd name="adj2" fmla="val 50000"/>
            </a:avLst>
          </a:prstGeom>
          <a:solidFill>
            <a:schemeClr val="lt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348"/>
                                        </p:tgtEl>
                                        <p:attrNameLst>
                                          <p:attrName>style.visibility</p:attrName>
                                        </p:attrNameLst>
                                      </p:cBhvr>
                                      <p:to>
                                        <p:strVal val="visible"/>
                                      </p:to>
                                    </p:set>
                                    <p:anim calcmode="lin" valueType="num">
                                      <p:cBhvr additive="base">
                                        <p:cTn id="7" dur="1000"/>
                                        <p:tgtEl>
                                          <p:spTgt spid="348"/>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351"/>
                                        </p:tgtEl>
                                        <p:attrNameLst>
                                          <p:attrName>style.visibility</p:attrName>
                                        </p:attrNameLst>
                                      </p:cBhvr>
                                      <p:to>
                                        <p:strVal val="visible"/>
                                      </p:to>
                                    </p:set>
                                    <p:anim calcmode="lin" valueType="num">
                                      <p:cBhvr additive="base">
                                        <p:cTn id="12" dur="1000"/>
                                        <p:tgtEl>
                                          <p:spTgt spid="351"/>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352"/>
                                        </p:tgtEl>
                                        <p:attrNameLst>
                                          <p:attrName>style.visibility</p:attrName>
                                        </p:attrNameLst>
                                      </p:cBhvr>
                                      <p:to>
                                        <p:strVal val="visible"/>
                                      </p:to>
                                    </p:set>
                                    <p:anim calcmode="lin" valueType="num">
                                      <p:cBhvr additive="base">
                                        <p:cTn id="17" dur="1000"/>
                                        <p:tgtEl>
                                          <p:spTgt spid="352"/>
                                        </p:tgtEl>
                                        <p:attrNameLst>
                                          <p:attrName>ppt_y</p:attrName>
                                        </p:attrNameLst>
                                      </p:cBhvr>
                                      <p:tavLst>
                                        <p:tav tm="0">
                                          <p:val>
                                            <p:strVal val="#ppt_y-1"/>
                                          </p:val>
                                        </p:tav>
                                        <p:tav tm="100000">
                                          <p:val>
                                            <p:strVal val="#ppt_y"/>
                                          </p:val>
                                        </p:tav>
                                      </p:tavLst>
                                    </p:anim>
                                  </p:childTnLst>
                                </p:cTn>
                              </p:par>
                              <p:par>
                                <p:cTn id="18" presetID="2" presetClass="entr" presetSubtype="1" fill="hold" nodeType="withEffect">
                                  <p:stCondLst>
                                    <p:cond delay="0"/>
                                  </p:stCondLst>
                                  <p:childTnLst>
                                    <p:set>
                                      <p:cBhvr>
                                        <p:cTn id="19" dur="1" fill="hold">
                                          <p:stCondLst>
                                            <p:cond delay="0"/>
                                          </p:stCondLst>
                                        </p:cTn>
                                        <p:tgtEl>
                                          <p:spTgt spid="362"/>
                                        </p:tgtEl>
                                        <p:attrNameLst>
                                          <p:attrName>style.visibility</p:attrName>
                                        </p:attrNameLst>
                                      </p:cBhvr>
                                      <p:to>
                                        <p:strVal val="visible"/>
                                      </p:to>
                                    </p:set>
                                    <p:anim calcmode="lin" valueType="num">
                                      <p:cBhvr additive="base">
                                        <p:cTn id="20" dur="1000"/>
                                        <p:tgtEl>
                                          <p:spTgt spid="362"/>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365"/>
                                        </p:tgtEl>
                                        <p:attrNameLst>
                                          <p:attrName>style.visibility</p:attrName>
                                        </p:attrNameLst>
                                      </p:cBhvr>
                                      <p:to>
                                        <p:strVal val="visible"/>
                                      </p:to>
                                    </p:set>
                                    <p:anim calcmode="lin" valueType="num">
                                      <p:cBhvr additive="base">
                                        <p:cTn id="25" dur="1000"/>
                                        <p:tgtEl>
                                          <p:spTgt spid="365"/>
                                        </p:tgtEl>
                                        <p:attrNameLst>
                                          <p:attrName>ppt_y</p:attrName>
                                        </p:attrNameLst>
                                      </p:cBhvr>
                                      <p:tavLst>
                                        <p:tav tm="0">
                                          <p:val>
                                            <p:strVal val="#ppt_y-1"/>
                                          </p:val>
                                        </p:tav>
                                        <p:tav tm="100000">
                                          <p:val>
                                            <p:strVal val="#ppt_y"/>
                                          </p:val>
                                        </p:tav>
                                      </p:tavLst>
                                    </p:anim>
                                  </p:childTnLst>
                                </p:cTn>
                              </p:par>
                              <p:par>
                                <p:cTn id="26" presetID="2" presetClass="entr" presetSubtype="1" fill="hold" nodeType="withEffect">
                                  <p:stCondLst>
                                    <p:cond delay="0"/>
                                  </p:stCondLst>
                                  <p:childTnLst>
                                    <p:set>
                                      <p:cBhvr>
                                        <p:cTn id="27" dur="1" fill="hold">
                                          <p:stCondLst>
                                            <p:cond delay="0"/>
                                          </p:stCondLst>
                                        </p:cTn>
                                        <p:tgtEl>
                                          <p:spTgt spid="364"/>
                                        </p:tgtEl>
                                        <p:attrNameLst>
                                          <p:attrName>style.visibility</p:attrName>
                                        </p:attrNameLst>
                                      </p:cBhvr>
                                      <p:to>
                                        <p:strVal val="visible"/>
                                      </p:to>
                                    </p:set>
                                    <p:anim calcmode="lin" valueType="num">
                                      <p:cBhvr additive="base">
                                        <p:cTn id="28" dur="1100"/>
                                        <p:tgtEl>
                                          <p:spTgt spid="364"/>
                                        </p:tgtEl>
                                        <p:attrNameLst>
                                          <p:attrName>ppt_y</p:attrName>
                                        </p:attrNameLst>
                                      </p:cBhvr>
                                      <p:tavLst>
                                        <p:tav tm="0">
                                          <p:val>
                                            <p:strVal val="#ppt_y-1"/>
                                          </p:val>
                                        </p:tav>
                                        <p:tav tm="100000">
                                          <p:val>
                                            <p:strVal val="#ppt_y"/>
                                          </p:val>
                                        </p:tav>
                                      </p:tavLst>
                                    </p:anim>
                                  </p:childTnLst>
                                </p:cTn>
                              </p:par>
                              <p:par>
                                <p:cTn id="29" presetID="2" presetClass="entr" presetSubtype="1" fill="hold" nodeType="withEffect">
                                  <p:stCondLst>
                                    <p:cond delay="0"/>
                                  </p:stCondLst>
                                  <p:childTnLst>
                                    <p:set>
                                      <p:cBhvr>
                                        <p:cTn id="30" dur="1" fill="hold">
                                          <p:stCondLst>
                                            <p:cond delay="0"/>
                                          </p:stCondLst>
                                        </p:cTn>
                                        <p:tgtEl>
                                          <p:spTgt spid="363"/>
                                        </p:tgtEl>
                                        <p:attrNameLst>
                                          <p:attrName>style.visibility</p:attrName>
                                        </p:attrNameLst>
                                      </p:cBhvr>
                                      <p:to>
                                        <p:strVal val="visible"/>
                                      </p:to>
                                    </p:set>
                                    <p:anim calcmode="lin" valueType="num">
                                      <p:cBhvr additive="base">
                                        <p:cTn id="31" dur="1200"/>
                                        <p:tgtEl>
                                          <p:spTgt spid="363"/>
                                        </p:tgtEl>
                                        <p:attrNameLst>
                                          <p:attrName>ppt_y</p:attrName>
                                        </p:attrNameLst>
                                      </p:cBhvr>
                                      <p:tavLst>
                                        <p:tav tm="0">
                                          <p:val>
                                            <p:strVal val="#ppt_y-1"/>
                                          </p:val>
                                        </p:tav>
                                        <p:tav tm="100000">
                                          <p:val>
                                            <p:strVal val="#ppt_y"/>
                                          </p:val>
                                        </p:tav>
                                      </p:tavLst>
                                    </p:anim>
                                  </p:childTnLst>
                                </p:cTn>
                              </p:par>
                              <p:par>
                                <p:cTn id="32" presetID="2" presetClass="entr" presetSubtype="1" fill="hold" nodeType="withEffect">
                                  <p:stCondLst>
                                    <p:cond delay="0"/>
                                  </p:stCondLst>
                                  <p:childTnLst>
                                    <p:set>
                                      <p:cBhvr>
                                        <p:cTn id="33" dur="1" fill="hold">
                                          <p:stCondLst>
                                            <p:cond delay="0"/>
                                          </p:stCondLst>
                                        </p:cTn>
                                        <p:tgtEl>
                                          <p:spTgt spid="371"/>
                                        </p:tgtEl>
                                        <p:attrNameLst>
                                          <p:attrName>style.visibility</p:attrName>
                                        </p:attrNameLst>
                                      </p:cBhvr>
                                      <p:to>
                                        <p:strVal val="visible"/>
                                      </p:to>
                                    </p:set>
                                    <p:anim calcmode="lin" valueType="num">
                                      <p:cBhvr additive="base">
                                        <p:cTn id="34" dur="1300"/>
                                        <p:tgtEl>
                                          <p:spTgt spid="371"/>
                                        </p:tgtEl>
                                        <p:attrNameLst>
                                          <p:attrName>ppt_y</p:attrName>
                                        </p:attrNameLst>
                                      </p:cBhvr>
                                      <p:tavLst>
                                        <p:tav tm="0">
                                          <p:val>
                                            <p:strVal val="#ppt_y-1"/>
                                          </p:val>
                                        </p:tav>
                                        <p:tav tm="100000">
                                          <p:val>
                                            <p:strVal val="#ppt_y"/>
                                          </p:val>
                                        </p:tav>
                                      </p:tavLst>
                                    </p:anim>
                                  </p:childTnLst>
                                </p:cTn>
                              </p:par>
                              <p:par>
                                <p:cTn id="35" presetID="2" presetClass="entr" presetSubtype="1" fill="hold" nodeType="withEffect">
                                  <p:stCondLst>
                                    <p:cond delay="0"/>
                                  </p:stCondLst>
                                  <p:childTnLst>
                                    <p:set>
                                      <p:cBhvr>
                                        <p:cTn id="36" dur="1" fill="hold">
                                          <p:stCondLst>
                                            <p:cond delay="0"/>
                                          </p:stCondLst>
                                        </p:cTn>
                                        <p:tgtEl>
                                          <p:spTgt spid="370"/>
                                        </p:tgtEl>
                                        <p:attrNameLst>
                                          <p:attrName>style.visibility</p:attrName>
                                        </p:attrNameLst>
                                      </p:cBhvr>
                                      <p:to>
                                        <p:strVal val="visible"/>
                                      </p:to>
                                    </p:set>
                                    <p:anim calcmode="lin" valueType="num">
                                      <p:cBhvr additive="base">
                                        <p:cTn id="37" dur="1400"/>
                                        <p:tgtEl>
                                          <p:spTgt spid="370"/>
                                        </p:tgtEl>
                                        <p:attrNameLst>
                                          <p:attrName>ppt_y</p:attrName>
                                        </p:attrNameLst>
                                      </p:cBhvr>
                                      <p:tavLst>
                                        <p:tav tm="0">
                                          <p:val>
                                            <p:strVal val="#ppt_y-1"/>
                                          </p:val>
                                        </p:tav>
                                        <p:tav tm="100000">
                                          <p:val>
                                            <p:strVal val="#ppt_y"/>
                                          </p:val>
                                        </p:tav>
                                      </p:tavLst>
                                    </p:anim>
                                  </p:childTnLst>
                                </p:cTn>
                              </p:par>
                              <p:par>
                                <p:cTn id="38" presetID="2" presetClass="entr" presetSubtype="1" fill="hold" nodeType="withEffect">
                                  <p:stCondLst>
                                    <p:cond delay="0"/>
                                  </p:stCondLst>
                                  <p:childTnLst>
                                    <p:set>
                                      <p:cBhvr>
                                        <p:cTn id="39" dur="1" fill="hold">
                                          <p:stCondLst>
                                            <p:cond delay="0"/>
                                          </p:stCondLst>
                                        </p:cTn>
                                        <p:tgtEl>
                                          <p:spTgt spid="369"/>
                                        </p:tgtEl>
                                        <p:attrNameLst>
                                          <p:attrName>style.visibility</p:attrName>
                                        </p:attrNameLst>
                                      </p:cBhvr>
                                      <p:to>
                                        <p:strVal val="visible"/>
                                      </p:to>
                                    </p:set>
                                    <p:anim calcmode="lin" valueType="num">
                                      <p:cBhvr additive="base">
                                        <p:cTn id="40" dur="1500"/>
                                        <p:tgtEl>
                                          <p:spTgt spid="369"/>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1" fill="hold" nodeType="clickEffect">
                                  <p:stCondLst>
                                    <p:cond delay="0"/>
                                  </p:stCondLst>
                                  <p:childTnLst>
                                    <p:set>
                                      <p:cBhvr>
                                        <p:cTn id="44" dur="1" fill="hold">
                                          <p:stCondLst>
                                            <p:cond delay="0"/>
                                          </p:stCondLst>
                                        </p:cTn>
                                        <p:tgtEl>
                                          <p:spTgt spid="361"/>
                                        </p:tgtEl>
                                        <p:attrNameLst>
                                          <p:attrName>style.visibility</p:attrName>
                                        </p:attrNameLst>
                                      </p:cBhvr>
                                      <p:to>
                                        <p:strVal val="visible"/>
                                      </p:to>
                                    </p:set>
                                    <p:anim calcmode="lin" valueType="num">
                                      <p:cBhvr additive="base">
                                        <p:cTn id="45" dur="1000"/>
                                        <p:tgtEl>
                                          <p:spTgt spid="361"/>
                                        </p:tgtEl>
                                        <p:attrNameLst>
                                          <p:attrName>ppt_y</p:attrName>
                                        </p:attrNameLst>
                                      </p:cBhvr>
                                      <p:tavLst>
                                        <p:tav tm="0">
                                          <p:val>
                                            <p:strVal val="#ppt_y-1"/>
                                          </p:val>
                                        </p:tav>
                                        <p:tav tm="100000">
                                          <p:val>
                                            <p:strVal val="#ppt_y"/>
                                          </p:val>
                                        </p:tav>
                                      </p:tavLst>
                                    </p:anim>
                                  </p:childTnLst>
                                </p:cTn>
                              </p:par>
                              <p:par>
                                <p:cTn id="46" presetID="2" presetClass="entr" presetSubtype="1" fill="hold" nodeType="withEffect">
                                  <p:stCondLst>
                                    <p:cond delay="0"/>
                                  </p:stCondLst>
                                  <p:childTnLst>
                                    <p:set>
                                      <p:cBhvr>
                                        <p:cTn id="47" dur="1" fill="hold">
                                          <p:stCondLst>
                                            <p:cond delay="0"/>
                                          </p:stCondLst>
                                        </p:cTn>
                                        <p:tgtEl>
                                          <p:spTgt spid="360"/>
                                        </p:tgtEl>
                                        <p:attrNameLst>
                                          <p:attrName>style.visibility</p:attrName>
                                        </p:attrNameLst>
                                      </p:cBhvr>
                                      <p:to>
                                        <p:strVal val="visible"/>
                                      </p:to>
                                    </p:set>
                                    <p:anim calcmode="lin" valueType="num">
                                      <p:cBhvr additive="base">
                                        <p:cTn id="48" dur="1100"/>
                                        <p:tgtEl>
                                          <p:spTgt spid="360"/>
                                        </p:tgtEl>
                                        <p:attrNameLst>
                                          <p:attrName>ppt_y</p:attrName>
                                        </p:attrNameLst>
                                      </p:cBhvr>
                                      <p:tavLst>
                                        <p:tav tm="0">
                                          <p:val>
                                            <p:strVal val="#ppt_y-1"/>
                                          </p:val>
                                        </p:tav>
                                        <p:tav tm="100000">
                                          <p:val>
                                            <p:strVal val="#ppt_y"/>
                                          </p:val>
                                        </p:tav>
                                      </p:tavLst>
                                    </p:anim>
                                  </p:childTnLst>
                                </p:cTn>
                              </p:par>
                              <p:par>
                                <p:cTn id="49" presetID="2" presetClass="entr" presetSubtype="1" fill="hold" nodeType="withEffect">
                                  <p:stCondLst>
                                    <p:cond delay="0"/>
                                  </p:stCondLst>
                                  <p:childTnLst>
                                    <p:set>
                                      <p:cBhvr>
                                        <p:cTn id="50" dur="1" fill="hold">
                                          <p:stCondLst>
                                            <p:cond delay="0"/>
                                          </p:stCondLst>
                                        </p:cTn>
                                        <p:tgtEl>
                                          <p:spTgt spid="368"/>
                                        </p:tgtEl>
                                        <p:attrNameLst>
                                          <p:attrName>style.visibility</p:attrName>
                                        </p:attrNameLst>
                                      </p:cBhvr>
                                      <p:to>
                                        <p:strVal val="visible"/>
                                      </p:to>
                                    </p:set>
                                    <p:anim calcmode="lin" valueType="num">
                                      <p:cBhvr additive="base">
                                        <p:cTn id="51" dur="1300"/>
                                        <p:tgtEl>
                                          <p:spTgt spid="368"/>
                                        </p:tgtEl>
                                        <p:attrNameLst>
                                          <p:attrName>ppt_y</p:attrName>
                                        </p:attrNameLst>
                                      </p:cBhvr>
                                      <p:tavLst>
                                        <p:tav tm="0">
                                          <p:val>
                                            <p:strVal val="#ppt_y-1"/>
                                          </p:val>
                                        </p:tav>
                                        <p:tav tm="100000">
                                          <p:val>
                                            <p:strVal val="#ppt_y"/>
                                          </p:val>
                                        </p:tav>
                                      </p:tavLst>
                                    </p:anim>
                                  </p:childTnLst>
                                </p:cTn>
                              </p:par>
                              <p:par>
                                <p:cTn id="52" presetID="2" presetClass="entr" presetSubtype="1" fill="hold" nodeType="withEffect">
                                  <p:stCondLst>
                                    <p:cond delay="0"/>
                                  </p:stCondLst>
                                  <p:childTnLst>
                                    <p:set>
                                      <p:cBhvr>
                                        <p:cTn id="53" dur="1" fill="hold">
                                          <p:stCondLst>
                                            <p:cond delay="0"/>
                                          </p:stCondLst>
                                        </p:cTn>
                                        <p:tgtEl>
                                          <p:spTgt spid="367"/>
                                        </p:tgtEl>
                                        <p:attrNameLst>
                                          <p:attrName>style.visibility</p:attrName>
                                        </p:attrNameLst>
                                      </p:cBhvr>
                                      <p:to>
                                        <p:strVal val="visible"/>
                                      </p:to>
                                    </p:set>
                                    <p:anim calcmode="lin" valueType="num">
                                      <p:cBhvr additive="base">
                                        <p:cTn id="54" dur="1400"/>
                                        <p:tgtEl>
                                          <p:spTgt spid="367"/>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1" fill="hold" nodeType="clickEffect">
                                  <p:stCondLst>
                                    <p:cond delay="0"/>
                                  </p:stCondLst>
                                  <p:childTnLst>
                                    <p:set>
                                      <p:cBhvr>
                                        <p:cTn id="58" dur="1" fill="hold">
                                          <p:stCondLst>
                                            <p:cond delay="0"/>
                                          </p:stCondLst>
                                        </p:cTn>
                                        <p:tgtEl>
                                          <p:spTgt spid="353"/>
                                        </p:tgtEl>
                                        <p:attrNameLst>
                                          <p:attrName>style.visibility</p:attrName>
                                        </p:attrNameLst>
                                      </p:cBhvr>
                                      <p:to>
                                        <p:strVal val="visible"/>
                                      </p:to>
                                    </p:set>
                                    <p:anim calcmode="lin" valueType="num">
                                      <p:cBhvr additive="base">
                                        <p:cTn id="59" dur="1000"/>
                                        <p:tgtEl>
                                          <p:spTgt spid="353"/>
                                        </p:tgtEl>
                                        <p:attrNameLst>
                                          <p:attrName>ppt_y</p:attrName>
                                        </p:attrNameLst>
                                      </p:cBhvr>
                                      <p:tavLst>
                                        <p:tav tm="0">
                                          <p:val>
                                            <p:strVal val="#ppt_y-1"/>
                                          </p:val>
                                        </p:tav>
                                        <p:tav tm="100000">
                                          <p:val>
                                            <p:strVal val="#ppt_y"/>
                                          </p:val>
                                        </p:tav>
                                      </p:tavLst>
                                    </p:anim>
                                  </p:childTnLst>
                                </p:cTn>
                              </p:par>
                              <p:par>
                                <p:cTn id="60" presetID="2" presetClass="entr" presetSubtype="1" fill="hold" nodeType="withEffect">
                                  <p:stCondLst>
                                    <p:cond delay="0"/>
                                  </p:stCondLst>
                                  <p:childTnLst>
                                    <p:set>
                                      <p:cBhvr>
                                        <p:cTn id="61" dur="1" fill="hold">
                                          <p:stCondLst>
                                            <p:cond delay="0"/>
                                          </p:stCondLst>
                                        </p:cTn>
                                        <p:tgtEl>
                                          <p:spTgt spid="366"/>
                                        </p:tgtEl>
                                        <p:attrNameLst>
                                          <p:attrName>style.visibility</p:attrName>
                                        </p:attrNameLst>
                                      </p:cBhvr>
                                      <p:to>
                                        <p:strVal val="visible"/>
                                      </p:to>
                                    </p:set>
                                    <p:anim calcmode="lin" valueType="num">
                                      <p:cBhvr additive="base">
                                        <p:cTn id="62" dur="1000"/>
                                        <p:tgtEl>
                                          <p:spTgt spid="366"/>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73"/>
                                        </p:tgtEl>
                                        <p:attrNameLst>
                                          <p:attrName>style.visibility</p:attrName>
                                        </p:attrNameLst>
                                      </p:cBhvr>
                                      <p:to>
                                        <p:strVal val="visible"/>
                                      </p:to>
                                    </p:set>
                                    <p:animEffect transition="in" filter="fade">
                                      <p:cBhvr>
                                        <p:cTn id="67" dur="1000"/>
                                        <p:tgtEl>
                                          <p:spTgt spid="373"/>
                                        </p:tgtEl>
                                      </p:cBhvr>
                                    </p:animEffect>
                                  </p:childTnLst>
                                </p:cTn>
                              </p:par>
                              <p:par>
                                <p:cTn id="68" presetID="10" presetClass="entr" presetSubtype="0" fill="hold" nodeType="withEffect">
                                  <p:stCondLst>
                                    <p:cond delay="0"/>
                                  </p:stCondLst>
                                  <p:childTnLst>
                                    <p:set>
                                      <p:cBhvr>
                                        <p:cTn id="69" dur="1" fill="hold">
                                          <p:stCondLst>
                                            <p:cond delay="0"/>
                                          </p:stCondLst>
                                        </p:cTn>
                                        <p:tgtEl>
                                          <p:spTgt spid="372"/>
                                        </p:tgtEl>
                                        <p:attrNameLst>
                                          <p:attrName>style.visibility</p:attrName>
                                        </p:attrNameLst>
                                      </p:cBhvr>
                                      <p:to>
                                        <p:strVal val="visible"/>
                                      </p:to>
                                    </p:set>
                                    <p:animEffect transition="in" filter="fade">
                                      <p:cBhvr>
                                        <p:cTn id="70" dur="1000"/>
                                        <p:tgtEl>
                                          <p:spTgt spid="372"/>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1" fill="hold" nodeType="clickEffect">
                                  <p:stCondLst>
                                    <p:cond delay="0"/>
                                  </p:stCondLst>
                                  <p:childTnLst>
                                    <p:set>
                                      <p:cBhvr>
                                        <p:cTn id="74" dur="1" fill="hold">
                                          <p:stCondLst>
                                            <p:cond delay="0"/>
                                          </p:stCondLst>
                                        </p:cTn>
                                        <p:tgtEl>
                                          <p:spTgt spid="354"/>
                                        </p:tgtEl>
                                        <p:attrNameLst>
                                          <p:attrName>style.visibility</p:attrName>
                                        </p:attrNameLst>
                                      </p:cBhvr>
                                      <p:to>
                                        <p:strVal val="visible"/>
                                      </p:to>
                                    </p:set>
                                    <p:anim calcmode="lin" valueType="num">
                                      <p:cBhvr additive="base">
                                        <p:cTn id="75" dur="1000"/>
                                        <p:tgtEl>
                                          <p:spTgt spid="354"/>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355"/>
                                        </p:tgtEl>
                                        <p:attrNameLst>
                                          <p:attrName>style.visibility</p:attrName>
                                        </p:attrNameLst>
                                      </p:cBhvr>
                                      <p:to>
                                        <p:strVal val="visible"/>
                                      </p:to>
                                    </p:set>
                                    <p:animEffect transition="in" filter="fade">
                                      <p:cBhvr>
                                        <p:cTn id="80" dur="1000"/>
                                        <p:tgtEl>
                                          <p:spTgt spid="355"/>
                                        </p:tgtEl>
                                      </p:cBhvr>
                                    </p:animEffect>
                                  </p:childTnLst>
                                </p:cTn>
                              </p:par>
                              <p:par>
                                <p:cTn id="81" presetID="10" presetClass="entr" presetSubtype="0" fill="hold" nodeType="withEffect">
                                  <p:stCondLst>
                                    <p:cond delay="0"/>
                                  </p:stCondLst>
                                  <p:childTnLst>
                                    <p:set>
                                      <p:cBhvr>
                                        <p:cTn id="82" dur="1" fill="hold">
                                          <p:stCondLst>
                                            <p:cond delay="0"/>
                                          </p:stCondLst>
                                        </p:cTn>
                                        <p:tgtEl>
                                          <p:spTgt spid="374"/>
                                        </p:tgtEl>
                                        <p:attrNameLst>
                                          <p:attrName>style.visibility</p:attrName>
                                        </p:attrNameLst>
                                      </p:cBhvr>
                                      <p:to>
                                        <p:strVal val="visible"/>
                                      </p:to>
                                    </p:set>
                                    <p:animEffect transition="in" filter="fade">
                                      <p:cBhvr>
                                        <p:cTn id="83" dur="1000"/>
                                        <p:tgtEl>
                                          <p:spTgt spid="374"/>
                                        </p:tgtEl>
                                      </p:cBhvr>
                                    </p:animEffect>
                                  </p:childTnLst>
                                </p:cTn>
                              </p:par>
                            </p:childTnLst>
                          </p:cTn>
                        </p:par>
                      </p:childTnLst>
                    </p:cTn>
                  </p:par>
                  <p:par>
                    <p:cTn id="84" fill="hold">
                      <p:stCondLst>
                        <p:cond delay="indefinite"/>
                      </p:stCondLst>
                      <p:childTnLst>
                        <p:par>
                          <p:cTn id="85" fill="hold">
                            <p:stCondLst>
                              <p:cond delay="0"/>
                            </p:stCondLst>
                            <p:childTnLst>
                              <p:par>
                                <p:cTn id="86" presetID="2" presetClass="entr" presetSubtype="2" fill="hold" nodeType="clickEffect">
                                  <p:stCondLst>
                                    <p:cond delay="0"/>
                                  </p:stCondLst>
                                  <p:childTnLst>
                                    <p:set>
                                      <p:cBhvr>
                                        <p:cTn id="87" dur="1" fill="hold">
                                          <p:stCondLst>
                                            <p:cond delay="0"/>
                                          </p:stCondLst>
                                        </p:cTn>
                                        <p:tgtEl>
                                          <p:spTgt spid="356"/>
                                        </p:tgtEl>
                                        <p:attrNameLst>
                                          <p:attrName>style.visibility</p:attrName>
                                        </p:attrNameLst>
                                      </p:cBhvr>
                                      <p:to>
                                        <p:strVal val="visible"/>
                                      </p:to>
                                    </p:set>
                                    <p:anim calcmode="lin" valueType="num">
                                      <p:cBhvr additive="base">
                                        <p:cTn id="88" dur="1000"/>
                                        <p:tgtEl>
                                          <p:spTgt spid="356"/>
                                        </p:tgtEl>
                                        <p:attrNameLst>
                                          <p:attrName>ppt_x</p:attrName>
                                        </p:attrNameLst>
                                      </p:cBhvr>
                                      <p:tavLst>
                                        <p:tav tm="0">
                                          <p:val>
                                            <p:strVal val="#ppt_x+1"/>
                                          </p:val>
                                        </p:tav>
                                        <p:tav tm="100000">
                                          <p:val>
                                            <p:strVal val="#ppt_x"/>
                                          </p:val>
                                        </p:tav>
                                      </p:tavLst>
                                    </p:anim>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358"/>
                                        </p:tgtEl>
                                        <p:attrNameLst>
                                          <p:attrName>style.visibility</p:attrName>
                                        </p:attrNameLst>
                                      </p:cBhvr>
                                      <p:to>
                                        <p:strVal val="visible"/>
                                      </p:to>
                                    </p:set>
                                    <p:animEffect transition="in" filter="fade">
                                      <p:cBhvr>
                                        <p:cTn id="93" dur="1000"/>
                                        <p:tgtEl>
                                          <p:spTgt spid="358"/>
                                        </p:tgtEl>
                                      </p:cBhvr>
                                    </p:animEffect>
                                  </p:childTnLst>
                                </p:cTn>
                              </p:par>
                            </p:childTnLst>
                          </p:cTn>
                        </p:par>
                      </p:childTnLst>
                    </p:cTn>
                  </p:par>
                  <p:par>
                    <p:cTn id="94" fill="hold">
                      <p:stCondLst>
                        <p:cond delay="indefinite"/>
                      </p:stCondLst>
                      <p:childTnLst>
                        <p:par>
                          <p:cTn id="95" fill="hold">
                            <p:stCondLst>
                              <p:cond delay="0"/>
                            </p:stCondLst>
                            <p:childTnLst>
                              <p:par>
                                <p:cTn id="96" presetID="2" presetClass="entr" presetSubtype="1" fill="hold" nodeType="clickEffect">
                                  <p:stCondLst>
                                    <p:cond delay="0"/>
                                  </p:stCondLst>
                                  <p:childTnLst>
                                    <p:set>
                                      <p:cBhvr>
                                        <p:cTn id="97" dur="1" fill="hold">
                                          <p:stCondLst>
                                            <p:cond delay="0"/>
                                          </p:stCondLst>
                                        </p:cTn>
                                        <p:tgtEl>
                                          <p:spTgt spid="357"/>
                                        </p:tgtEl>
                                        <p:attrNameLst>
                                          <p:attrName>style.visibility</p:attrName>
                                        </p:attrNameLst>
                                      </p:cBhvr>
                                      <p:to>
                                        <p:strVal val="visible"/>
                                      </p:to>
                                    </p:set>
                                    <p:anim calcmode="lin" valueType="num">
                                      <p:cBhvr additive="base">
                                        <p:cTn id="98" dur="1000"/>
                                        <p:tgtEl>
                                          <p:spTgt spid="357"/>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359"/>
                                        </p:tgtEl>
                                        <p:attrNameLst>
                                          <p:attrName>style.visibility</p:attrName>
                                        </p:attrNameLst>
                                      </p:cBhvr>
                                      <p:to>
                                        <p:strVal val="visible"/>
                                      </p:to>
                                    </p:set>
                                    <p:animEffect transition="in" filter="fade">
                                      <p:cBhvr>
                                        <p:cTn id="103" dur="1000"/>
                                        <p:tgtEl>
                                          <p:spTgt spid="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31"/>
          <p:cNvSpPr txBox="1">
            <a:spLocks noGrp="1"/>
          </p:cNvSpPr>
          <p:nvPr>
            <p:ph type="title"/>
          </p:nvPr>
        </p:nvSpPr>
        <p:spPr>
          <a:xfrm>
            <a:off x="311700" y="1836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720" b="1">
                <a:solidFill>
                  <a:srgbClr val="00FF00"/>
                </a:solidFill>
                <a:latin typeface="Comfortaa"/>
                <a:ea typeface="Comfortaa"/>
                <a:cs typeface="Comfortaa"/>
                <a:sym typeface="Comfortaa"/>
              </a:rPr>
              <a:t>Computer System Architecture</a:t>
            </a:r>
            <a:endParaRPr sz="2720" b="1">
              <a:solidFill>
                <a:srgbClr val="00FF00"/>
              </a:solidFill>
              <a:latin typeface="Comfortaa"/>
              <a:ea typeface="Comfortaa"/>
              <a:cs typeface="Comfortaa"/>
              <a:sym typeface="Comfortaa"/>
            </a:endParaRPr>
          </a:p>
        </p:txBody>
      </p:sp>
      <p:sp>
        <p:nvSpPr>
          <p:cNvPr id="380" name="Google Shape;380;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47</a:t>
            </a:fld>
            <a:endParaRPr/>
          </a:p>
        </p:txBody>
      </p:sp>
      <p:sp>
        <p:nvSpPr>
          <p:cNvPr id="381" name="Google Shape;381;p31"/>
          <p:cNvSpPr/>
          <p:nvPr/>
        </p:nvSpPr>
        <p:spPr>
          <a:xfrm>
            <a:off x="768900" y="908725"/>
            <a:ext cx="2223900" cy="1400100"/>
          </a:xfrm>
          <a:prstGeom prst="roundRect">
            <a:avLst>
              <a:gd name="adj" fmla="val 16667"/>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 name="Google Shape;382;p31"/>
          <p:cNvSpPr/>
          <p:nvPr/>
        </p:nvSpPr>
        <p:spPr>
          <a:xfrm>
            <a:off x="1005150" y="1077250"/>
            <a:ext cx="1801800" cy="2898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CPU State</a:t>
            </a:r>
            <a:endParaRPr sz="1000" b="1" i="0" u="none" strike="noStrike" cap="none">
              <a:solidFill>
                <a:srgbClr val="FFFF00"/>
              </a:solidFill>
              <a:latin typeface="Comfortaa"/>
              <a:ea typeface="Comfortaa"/>
              <a:cs typeface="Comfortaa"/>
              <a:sym typeface="Comfortaa"/>
            </a:endParaRPr>
          </a:p>
        </p:txBody>
      </p:sp>
      <p:sp>
        <p:nvSpPr>
          <p:cNvPr id="383" name="Google Shape;383;p31"/>
          <p:cNvSpPr/>
          <p:nvPr/>
        </p:nvSpPr>
        <p:spPr>
          <a:xfrm>
            <a:off x="1005150" y="1367275"/>
            <a:ext cx="1801800" cy="2898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Interrupt Logic</a:t>
            </a:r>
            <a:endParaRPr sz="1000" b="1" i="0" u="none" strike="noStrike" cap="none">
              <a:solidFill>
                <a:srgbClr val="FFFF00"/>
              </a:solidFill>
              <a:latin typeface="Comfortaa"/>
              <a:ea typeface="Comfortaa"/>
              <a:cs typeface="Comfortaa"/>
              <a:sym typeface="Comfortaa"/>
            </a:endParaRPr>
          </a:p>
        </p:txBody>
      </p:sp>
      <p:sp>
        <p:nvSpPr>
          <p:cNvPr id="384" name="Google Shape;384;p31"/>
          <p:cNvSpPr/>
          <p:nvPr/>
        </p:nvSpPr>
        <p:spPr>
          <a:xfrm>
            <a:off x="1005150" y="1722025"/>
            <a:ext cx="900900" cy="3936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Execution Unit</a:t>
            </a:r>
            <a:endParaRPr sz="1000" b="1" i="0" u="none" strike="noStrike" cap="none">
              <a:solidFill>
                <a:srgbClr val="FFFF00"/>
              </a:solidFill>
              <a:latin typeface="Comfortaa"/>
              <a:ea typeface="Comfortaa"/>
              <a:cs typeface="Comfortaa"/>
              <a:sym typeface="Comfortaa"/>
            </a:endParaRPr>
          </a:p>
        </p:txBody>
      </p:sp>
      <p:sp>
        <p:nvSpPr>
          <p:cNvPr id="385" name="Google Shape;385;p31"/>
          <p:cNvSpPr/>
          <p:nvPr/>
        </p:nvSpPr>
        <p:spPr>
          <a:xfrm>
            <a:off x="1906050" y="1722025"/>
            <a:ext cx="900900" cy="3936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Execution Unit</a:t>
            </a:r>
            <a:endParaRPr sz="1000" b="1" i="0" u="none" strike="noStrike" cap="none">
              <a:solidFill>
                <a:srgbClr val="FFFF00"/>
              </a:solidFill>
              <a:latin typeface="Comfortaa"/>
              <a:ea typeface="Comfortaa"/>
              <a:cs typeface="Comfortaa"/>
              <a:sym typeface="Comfortaa"/>
            </a:endParaRPr>
          </a:p>
        </p:txBody>
      </p:sp>
      <p:sp>
        <p:nvSpPr>
          <p:cNvPr id="386" name="Google Shape;386;p31"/>
          <p:cNvSpPr txBox="1"/>
          <p:nvPr/>
        </p:nvSpPr>
        <p:spPr>
          <a:xfrm>
            <a:off x="1163550" y="2470600"/>
            <a:ext cx="14850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00"/>
                </a:solidFill>
                <a:latin typeface="Comfortaa"/>
                <a:ea typeface="Comfortaa"/>
                <a:cs typeface="Comfortaa"/>
                <a:sym typeface="Comfortaa"/>
              </a:rPr>
              <a:t>Single core</a:t>
            </a:r>
            <a:endParaRPr sz="1400" b="0" i="0" u="none" strike="noStrike" cap="none">
              <a:solidFill>
                <a:srgbClr val="FFFF00"/>
              </a:solidFill>
              <a:latin typeface="Comfortaa"/>
              <a:ea typeface="Comfortaa"/>
              <a:cs typeface="Comfortaa"/>
              <a:sym typeface="Comfortaa"/>
            </a:endParaRPr>
          </a:p>
        </p:txBody>
      </p:sp>
      <p:sp>
        <p:nvSpPr>
          <p:cNvPr id="387" name="Google Shape;387;p31"/>
          <p:cNvSpPr/>
          <p:nvPr/>
        </p:nvSpPr>
        <p:spPr>
          <a:xfrm>
            <a:off x="3812175" y="1007325"/>
            <a:ext cx="2223900" cy="1400100"/>
          </a:xfrm>
          <a:prstGeom prst="roundRect">
            <a:avLst>
              <a:gd name="adj" fmla="val 16667"/>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p31"/>
          <p:cNvSpPr/>
          <p:nvPr/>
        </p:nvSpPr>
        <p:spPr>
          <a:xfrm>
            <a:off x="4048425" y="1175850"/>
            <a:ext cx="1801800" cy="2898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CPU State</a:t>
            </a:r>
            <a:endParaRPr sz="1000" b="1" i="0" u="none" strike="noStrike" cap="none">
              <a:solidFill>
                <a:srgbClr val="FFFF00"/>
              </a:solidFill>
              <a:latin typeface="Comfortaa"/>
              <a:ea typeface="Comfortaa"/>
              <a:cs typeface="Comfortaa"/>
              <a:sym typeface="Comfortaa"/>
            </a:endParaRPr>
          </a:p>
        </p:txBody>
      </p:sp>
      <p:sp>
        <p:nvSpPr>
          <p:cNvPr id="389" name="Google Shape;389;p31"/>
          <p:cNvSpPr/>
          <p:nvPr/>
        </p:nvSpPr>
        <p:spPr>
          <a:xfrm>
            <a:off x="4048425" y="1465875"/>
            <a:ext cx="1801800" cy="2898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Interrupt Logic</a:t>
            </a:r>
            <a:endParaRPr sz="1000" b="1" i="0" u="none" strike="noStrike" cap="none">
              <a:solidFill>
                <a:srgbClr val="FFFF00"/>
              </a:solidFill>
              <a:latin typeface="Comfortaa"/>
              <a:ea typeface="Comfortaa"/>
              <a:cs typeface="Comfortaa"/>
              <a:sym typeface="Comfortaa"/>
            </a:endParaRPr>
          </a:p>
        </p:txBody>
      </p:sp>
      <p:sp>
        <p:nvSpPr>
          <p:cNvPr id="390" name="Google Shape;390;p31"/>
          <p:cNvSpPr/>
          <p:nvPr/>
        </p:nvSpPr>
        <p:spPr>
          <a:xfrm>
            <a:off x="4048425" y="1820625"/>
            <a:ext cx="900900" cy="3936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Execution Unit</a:t>
            </a:r>
            <a:endParaRPr sz="1000" b="1" i="0" u="none" strike="noStrike" cap="none">
              <a:solidFill>
                <a:srgbClr val="FFFF00"/>
              </a:solidFill>
              <a:latin typeface="Comfortaa"/>
              <a:ea typeface="Comfortaa"/>
              <a:cs typeface="Comfortaa"/>
              <a:sym typeface="Comfortaa"/>
            </a:endParaRPr>
          </a:p>
        </p:txBody>
      </p:sp>
      <p:sp>
        <p:nvSpPr>
          <p:cNvPr id="391" name="Google Shape;391;p31"/>
          <p:cNvSpPr/>
          <p:nvPr/>
        </p:nvSpPr>
        <p:spPr>
          <a:xfrm>
            <a:off x="4949325" y="1820625"/>
            <a:ext cx="900900" cy="3936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Execution Unit</a:t>
            </a:r>
            <a:endParaRPr sz="1000" b="1" i="0" u="none" strike="noStrike" cap="none">
              <a:solidFill>
                <a:srgbClr val="FFFF00"/>
              </a:solidFill>
              <a:latin typeface="Comfortaa"/>
              <a:ea typeface="Comfortaa"/>
              <a:cs typeface="Comfortaa"/>
              <a:sym typeface="Comfortaa"/>
            </a:endParaRPr>
          </a:p>
        </p:txBody>
      </p:sp>
      <p:sp>
        <p:nvSpPr>
          <p:cNvPr id="392" name="Google Shape;392;p31"/>
          <p:cNvSpPr txBox="1"/>
          <p:nvPr/>
        </p:nvSpPr>
        <p:spPr>
          <a:xfrm>
            <a:off x="5122175" y="2470600"/>
            <a:ext cx="19050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00"/>
                </a:solidFill>
                <a:latin typeface="Comfortaa"/>
                <a:ea typeface="Comfortaa"/>
                <a:cs typeface="Comfortaa"/>
                <a:sym typeface="Comfortaa"/>
              </a:rPr>
              <a:t>Multiprocessor</a:t>
            </a:r>
            <a:endParaRPr sz="1400" b="0" i="0" u="none" strike="noStrike" cap="none">
              <a:solidFill>
                <a:srgbClr val="FFFF00"/>
              </a:solidFill>
              <a:latin typeface="Comfortaa"/>
              <a:ea typeface="Comfortaa"/>
              <a:cs typeface="Comfortaa"/>
              <a:sym typeface="Comfortaa"/>
            </a:endParaRPr>
          </a:p>
        </p:txBody>
      </p:sp>
      <p:sp>
        <p:nvSpPr>
          <p:cNvPr id="393" name="Google Shape;393;p31"/>
          <p:cNvSpPr/>
          <p:nvPr/>
        </p:nvSpPr>
        <p:spPr>
          <a:xfrm>
            <a:off x="6451225" y="1007325"/>
            <a:ext cx="2223900" cy="1400100"/>
          </a:xfrm>
          <a:prstGeom prst="roundRect">
            <a:avLst>
              <a:gd name="adj" fmla="val 16667"/>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31"/>
          <p:cNvSpPr/>
          <p:nvPr/>
        </p:nvSpPr>
        <p:spPr>
          <a:xfrm>
            <a:off x="6687475" y="1175850"/>
            <a:ext cx="1801800" cy="2898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CPU State</a:t>
            </a:r>
            <a:endParaRPr sz="1000" b="1" i="0" u="none" strike="noStrike" cap="none">
              <a:solidFill>
                <a:srgbClr val="FFFF00"/>
              </a:solidFill>
              <a:latin typeface="Comfortaa"/>
              <a:ea typeface="Comfortaa"/>
              <a:cs typeface="Comfortaa"/>
              <a:sym typeface="Comfortaa"/>
            </a:endParaRPr>
          </a:p>
        </p:txBody>
      </p:sp>
      <p:sp>
        <p:nvSpPr>
          <p:cNvPr id="395" name="Google Shape;395;p31"/>
          <p:cNvSpPr/>
          <p:nvPr/>
        </p:nvSpPr>
        <p:spPr>
          <a:xfrm>
            <a:off x="6687475" y="1465875"/>
            <a:ext cx="1801800" cy="2898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Interrupt Logic</a:t>
            </a:r>
            <a:endParaRPr sz="1000" b="1" i="0" u="none" strike="noStrike" cap="none">
              <a:solidFill>
                <a:srgbClr val="FFFF00"/>
              </a:solidFill>
              <a:latin typeface="Comfortaa"/>
              <a:ea typeface="Comfortaa"/>
              <a:cs typeface="Comfortaa"/>
              <a:sym typeface="Comfortaa"/>
            </a:endParaRPr>
          </a:p>
        </p:txBody>
      </p:sp>
      <p:sp>
        <p:nvSpPr>
          <p:cNvPr id="396" name="Google Shape;396;p31"/>
          <p:cNvSpPr/>
          <p:nvPr/>
        </p:nvSpPr>
        <p:spPr>
          <a:xfrm>
            <a:off x="6687475" y="1820625"/>
            <a:ext cx="900900" cy="3936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Execution Unit</a:t>
            </a:r>
            <a:endParaRPr sz="1000" b="1" i="0" u="none" strike="noStrike" cap="none">
              <a:solidFill>
                <a:srgbClr val="FFFF00"/>
              </a:solidFill>
              <a:latin typeface="Comfortaa"/>
              <a:ea typeface="Comfortaa"/>
              <a:cs typeface="Comfortaa"/>
              <a:sym typeface="Comfortaa"/>
            </a:endParaRPr>
          </a:p>
        </p:txBody>
      </p:sp>
      <p:sp>
        <p:nvSpPr>
          <p:cNvPr id="397" name="Google Shape;397;p31"/>
          <p:cNvSpPr/>
          <p:nvPr/>
        </p:nvSpPr>
        <p:spPr>
          <a:xfrm>
            <a:off x="7588375" y="1820625"/>
            <a:ext cx="900900" cy="3936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Execution Unit</a:t>
            </a:r>
            <a:endParaRPr sz="1000" b="1" i="0" u="none" strike="noStrike" cap="none">
              <a:solidFill>
                <a:srgbClr val="FFFF00"/>
              </a:solidFill>
              <a:latin typeface="Comfortaa"/>
              <a:ea typeface="Comfortaa"/>
              <a:cs typeface="Comfortaa"/>
              <a:sym typeface="Comfortaa"/>
            </a:endParaRPr>
          </a:p>
        </p:txBody>
      </p:sp>
      <p:sp>
        <p:nvSpPr>
          <p:cNvPr id="398" name="Google Shape;398;p31"/>
          <p:cNvSpPr/>
          <p:nvPr/>
        </p:nvSpPr>
        <p:spPr>
          <a:xfrm>
            <a:off x="2305400" y="3118850"/>
            <a:ext cx="2223900" cy="1400100"/>
          </a:xfrm>
          <a:prstGeom prst="roundRect">
            <a:avLst>
              <a:gd name="adj" fmla="val 16667"/>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31"/>
          <p:cNvSpPr/>
          <p:nvPr/>
        </p:nvSpPr>
        <p:spPr>
          <a:xfrm>
            <a:off x="2541650" y="3287375"/>
            <a:ext cx="1801800" cy="2898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CPU State</a:t>
            </a:r>
            <a:endParaRPr sz="1000" b="1" i="0" u="none" strike="noStrike" cap="none">
              <a:solidFill>
                <a:srgbClr val="FFFF00"/>
              </a:solidFill>
              <a:latin typeface="Comfortaa"/>
              <a:ea typeface="Comfortaa"/>
              <a:cs typeface="Comfortaa"/>
              <a:sym typeface="Comfortaa"/>
            </a:endParaRPr>
          </a:p>
        </p:txBody>
      </p:sp>
      <p:sp>
        <p:nvSpPr>
          <p:cNvPr id="400" name="Google Shape;400;p31"/>
          <p:cNvSpPr/>
          <p:nvPr/>
        </p:nvSpPr>
        <p:spPr>
          <a:xfrm>
            <a:off x="2541650" y="3577400"/>
            <a:ext cx="1801800" cy="2898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Interrupt Logic</a:t>
            </a:r>
            <a:endParaRPr sz="1000" b="1" i="0" u="none" strike="noStrike" cap="none">
              <a:solidFill>
                <a:srgbClr val="FFFF00"/>
              </a:solidFill>
              <a:latin typeface="Comfortaa"/>
              <a:ea typeface="Comfortaa"/>
              <a:cs typeface="Comfortaa"/>
              <a:sym typeface="Comfortaa"/>
            </a:endParaRPr>
          </a:p>
        </p:txBody>
      </p:sp>
      <p:sp>
        <p:nvSpPr>
          <p:cNvPr id="401" name="Google Shape;401;p31"/>
          <p:cNvSpPr/>
          <p:nvPr/>
        </p:nvSpPr>
        <p:spPr>
          <a:xfrm>
            <a:off x="2541650" y="3932150"/>
            <a:ext cx="900900" cy="3936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Execution Unit</a:t>
            </a:r>
            <a:endParaRPr sz="1000" b="1" i="0" u="none" strike="noStrike" cap="none">
              <a:solidFill>
                <a:srgbClr val="FFFF00"/>
              </a:solidFill>
              <a:latin typeface="Comfortaa"/>
              <a:ea typeface="Comfortaa"/>
              <a:cs typeface="Comfortaa"/>
              <a:sym typeface="Comfortaa"/>
            </a:endParaRPr>
          </a:p>
        </p:txBody>
      </p:sp>
      <p:sp>
        <p:nvSpPr>
          <p:cNvPr id="402" name="Google Shape;402;p31"/>
          <p:cNvSpPr/>
          <p:nvPr/>
        </p:nvSpPr>
        <p:spPr>
          <a:xfrm>
            <a:off x="3442550" y="3932150"/>
            <a:ext cx="900900" cy="3936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Execution Unit</a:t>
            </a:r>
            <a:endParaRPr sz="1000" b="1" i="0" u="none" strike="noStrike" cap="none">
              <a:solidFill>
                <a:srgbClr val="FFFF00"/>
              </a:solidFill>
              <a:latin typeface="Comfortaa"/>
              <a:ea typeface="Comfortaa"/>
              <a:cs typeface="Comfortaa"/>
              <a:sym typeface="Comfortaa"/>
            </a:endParaRPr>
          </a:p>
        </p:txBody>
      </p:sp>
      <p:sp>
        <p:nvSpPr>
          <p:cNvPr id="403" name="Google Shape;403;p31"/>
          <p:cNvSpPr txBox="1"/>
          <p:nvPr/>
        </p:nvSpPr>
        <p:spPr>
          <a:xfrm>
            <a:off x="3812175" y="4680725"/>
            <a:ext cx="19050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00"/>
                </a:solidFill>
                <a:latin typeface="Comfortaa"/>
                <a:ea typeface="Comfortaa"/>
                <a:cs typeface="Comfortaa"/>
                <a:sym typeface="Comfortaa"/>
              </a:rPr>
              <a:t>Multicore</a:t>
            </a:r>
            <a:endParaRPr sz="1400" b="0" i="0" u="none" strike="noStrike" cap="none">
              <a:solidFill>
                <a:srgbClr val="FFFF00"/>
              </a:solidFill>
              <a:latin typeface="Comfortaa"/>
              <a:ea typeface="Comfortaa"/>
              <a:cs typeface="Comfortaa"/>
              <a:sym typeface="Comfortaa"/>
            </a:endParaRPr>
          </a:p>
        </p:txBody>
      </p:sp>
      <p:sp>
        <p:nvSpPr>
          <p:cNvPr id="404" name="Google Shape;404;p31"/>
          <p:cNvSpPr/>
          <p:nvPr/>
        </p:nvSpPr>
        <p:spPr>
          <a:xfrm>
            <a:off x="4944450" y="3118850"/>
            <a:ext cx="2223900" cy="1400100"/>
          </a:xfrm>
          <a:prstGeom prst="roundRect">
            <a:avLst>
              <a:gd name="adj" fmla="val 16667"/>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 name="Google Shape;405;p31"/>
          <p:cNvSpPr/>
          <p:nvPr/>
        </p:nvSpPr>
        <p:spPr>
          <a:xfrm>
            <a:off x="5180700" y="3287375"/>
            <a:ext cx="1801800" cy="2898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CPU State</a:t>
            </a:r>
            <a:endParaRPr sz="1000" b="1" i="0" u="none" strike="noStrike" cap="none">
              <a:solidFill>
                <a:srgbClr val="FFFF00"/>
              </a:solidFill>
              <a:latin typeface="Comfortaa"/>
              <a:ea typeface="Comfortaa"/>
              <a:cs typeface="Comfortaa"/>
              <a:sym typeface="Comfortaa"/>
            </a:endParaRPr>
          </a:p>
        </p:txBody>
      </p:sp>
      <p:sp>
        <p:nvSpPr>
          <p:cNvPr id="406" name="Google Shape;406;p31"/>
          <p:cNvSpPr/>
          <p:nvPr/>
        </p:nvSpPr>
        <p:spPr>
          <a:xfrm>
            <a:off x="5180700" y="3577400"/>
            <a:ext cx="1801800" cy="2898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Interrupt Logic</a:t>
            </a:r>
            <a:endParaRPr sz="1000" b="1" i="0" u="none" strike="noStrike" cap="none">
              <a:solidFill>
                <a:srgbClr val="FFFF00"/>
              </a:solidFill>
              <a:latin typeface="Comfortaa"/>
              <a:ea typeface="Comfortaa"/>
              <a:cs typeface="Comfortaa"/>
              <a:sym typeface="Comfortaa"/>
            </a:endParaRPr>
          </a:p>
        </p:txBody>
      </p:sp>
      <p:sp>
        <p:nvSpPr>
          <p:cNvPr id="407" name="Google Shape;407;p31"/>
          <p:cNvSpPr/>
          <p:nvPr/>
        </p:nvSpPr>
        <p:spPr>
          <a:xfrm>
            <a:off x="5180700" y="3932150"/>
            <a:ext cx="900900" cy="3936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Execution Unit</a:t>
            </a:r>
            <a:endParaRPr sz="1000" b="1" i="0" u="none" strike="noStrike" cap="none">
              <a:solidFill>
                <a:srgbClr val="FFFF00"/>
              </a:solidFill>
              <a:latin typeface="Comfortaa"/>
              <a:ea typeface="Comfortaa"/>
              <a:cs typeface="Comfortaa"/>
              <a:sym typeface="Comfortaa"/>
            </a:endParaRPr>
          </a:p>
        </p:txBody>
      </p:sp>
      <p:sp>
        <p:nvSpPr>
          <p:cNvPr id="408" name="Google Shape;408;p31"/>
          <p:cNvSpPr/>
          <p:nvPr/>
        </p:nvSpPr>
        <p:spPr>
          <a:xfrm>
            <a:off x="6081600" y="3932150"/>
            <a:ext cx="900900" cy="3936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00"/>
                </a:solidFill>
                <a:latin typeface="Comfortaa"/>
                <a:ea typeface="Comfortaa"/>
                <a:cs typeface="Comfortaa"/>
                <a:sym typeface="Comfortaa"/>
              </a:rPr>
              <a:t>Execution Unit</a:t>
            </a:r>
            <a:endParaRPr sz="1000" b="1" i="0" u="none" strike="noStrike" cap="none">
              <a:solidFill>
                <a:srgbClr val="FFFF00"/>
              </a:solidFill>
              <a:latin typeface="Comfortaa"/>
              <a:ea typeface="Comfortaa"/>
              <a:cs typeface="Comfortaa"/>
              <a:sym typeface="Comfortaa"/>
            </a:endParaRPr>
          </a:p>
        </p:txBody>
      </p:sp>
      <p:sp>
        <p:nvSpPr>
          <p:cNvPr id="409" name="Google Shape;409;p31"/>
          <p:cNvSpPr/>
          <p:nvPr/>
        </p:nvSpPr>
        <p:spPr>
          <a:xfrm>
            <a:off x="2125025" y="2933975"/>
            <a:ext cx="5181000" cy="17469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29"/>
          <p:cNvSpPr txBox="1">
            <a:spLocks noGrp="1"/>
          </p:cNvSpPr>
          <p:nvPr>
            <p:ph type="title"/>
          </p:nvPr>
        </p:nvSpPr>
        <p:spPr>
          <a:xfrm>
            <a:off x="311700" y="19937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720" b="1">
                <a:solidFill>
                  <a:srgbClr val="00FF00"/>
                </a:solidFill>
                <a:latin typeface="Comfortaa"/>
                <a:ea typeface="Comfortaa"/>
                <a:cs typeface="Comfortaa"/>
                <a:sym typeface="Comfortaa"/>
              </a:rPr>
              <a:t>How a Modern Computer Works?</a:t>
            </a:r>
            <a:endParaRPr sz="2720" b="1">
              <a:solidFill>
                <a:srgbClr val="00FF00"/>
              </a:solidFill>
              <a:latin typeface="Comfortaa"/>
              <a:ea typeface="Comfortaa"/>
              <a:cs typeface="Comfortaa"/>
              <a:sym typeface="Comfortaa"/>
            </a:endParaRPr>
          </a:p>
        </p:txBody>
      </p:sp>
      <p:sp>
        <p:nvSpPr>
          <p:cNvPr id="474" name="Google Shape;474;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48</a:t>
            </a:fld>
            <a:endParaRPr/>
          </a:p>
        </p:txBody>
      </p:sp>
      <p:sp>
        <p:nvSpPr>
          <p:cNvPr id="475" name="Google Shape;475;p29"/>
          <p:cNvSpPr txBox="1">
            <a:spLocks noGrp="1"/>
          </p:cNvSpPr>
          <p:nvPr>
            <p:ph type="body" idx="1"/>
          </p:nvPr>
        </p:nvSpPr>
        <p:spPr>
          <a:xfrm>
            <a:off x="311700" y="863550"/>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Clr>
                <a:srgbClr val="FFFF00"/>
              </a:buClr>
              <a:buSzPts val="1800"/>
              <a:buFont typeface="Comfortaa"/>
              <a:buChar char="●"/>
            </a:pPr>
            <a:r>
              <a:rPr lang="en" b="1">
                <a:solidFill>
                  <a:srgbClr val="FFFF00"/>
                </a:solidFill>
                <a:latin typeface="Comfortaa"/>
                <a:ea typeface="Comfortaa"/>
                <a:cs typeface="Comfortaa"/>
                <a:sym typeface="Comfortaa"/>
              </a:rPr>
              <a:t>Von Neumann Architecture</a:t>
            </a:r>
            <a:endParaRPr b="1">
              <a:solidFill>
                <a:srgbClr val="FFFF00"/>
              </a:solidFill>
              <a:latin typeface="Comfortaa"/>
              <a:ea typeface="Comfortaa"/>
              <a:cs typeface="Comfortaa"/>
              <a:sym typeface="Comfortaa"/>
            </a:endParaRPr>
          </a:p>
        </p:txBody>
      </p:sp>
      <p:sp>
        <p:nvSpPr>
          <p:cNvPr id="476" name="Google Shape;476;p29"/>
          <p:cNvSpPr/>
          <p:nvPr/>
        </p:nvSpPr>
        <p:spPr>
          <a:xfrm>
            <a:off x="859800" y="1364775"/>
            <a:ext cx="2565900" cy="11463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Process/Thread</a:t>
            </a:r>
            <a:endParaRPr sz="16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Execution</a:t>
            </a:r>
            <a:endParaRPr sz="16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CPU</a:t>
            </a:r>
            <a:endParaRPr sz="1600" b="1" i="0" u="none" strike="noStrike" cap="none">
              <a:solidFill>
                <a:srgbClr val="FFFF00"/>
              </a:solidFill>
              <a:latin typeface="Comfortaa"/>
              <a:ea typeface="Comfortaa"/>
              <a:cs typeface="Comfortaa"/>
              <a:sym typeface="Comfortaa"/>
            </a:endParaRPr>
          </a:p>
        </p:txBody>
      </p:sp>
      <p:sp>
        <p:nvSpPr>
          <p:cNvPr id="477" name="Google Shape;477;p29"/>
          <p:cNvSpPr/>
          <p:nvPr/>
        </p:nvSpPr>
        <p:spPr>
          <a:xfrm>
            <a:off x="1173750" y="3280225"/>
            <a:ext cx="1938000" cy="1699500"/>
          </a:xfrm>
          <a:prstGeom prst="star6">
            <a:avLst>
              <a:gd name="adj" fmla="val 28868"/>
              <a:gd name="hf" fmla="val 115470"/>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Devices</a:t>
            </a:r>
            <a:endParaRPr sz="1600" b="1" i="0" u="none" strike="noStrike" cap="none">
              <a:solidFill>
                <a:srgbClr val="FFFF00"/>
              </a:solidFill>
              <a:latin typeface="Comfortaa"/>
              <a:ea typeface="Comfortaa"/>
              <a:cs typeface="Comfortaa"/>
              <a:sym typeface="Comfortaa"/>
            </a:endParaRPr>
          </a:p>
        </p:txBody>
      </p:sp>
      <p:sp>
        <p:nvSpPr>
          <p:cNvPr id="478" name="Google Shape;478;p29"/>
          <p:cNvSpPr/>
          <p:nvPr/>
        </p:nvSpPr>
        <p:spPr>
          <a:xfrm>
            <a:off x="6428100" y="1364775"/>
            <a:ext cx="1817400" cy="25113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Instructions</a:t>
            </a:r>
            <a:endParaRPr sz="16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and</a:t>
            </a:r>
            <a:endParaRPr sz="16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Data</a:t>
            </a:r>
            <a:endParaRPr sz="16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Memory</a:t>
            </a:r>
            <a:endParaRPr sz="1600" b="1" i="0" u="none" strike="noStrike" cap="none">
              <a:solidFill>
                <a:srgbClr val="FFFF00"/>
              </a:solidFill>
              <a:latin typeface="Comfortaa"/>
              <a:ea typeface="Comfortaa"/>
              <a:cs typeface="Comfortaa"/>
              <a:sym typeface="Comfortaa"/>
            </a:endParaRPr>
          </a:p>
        </p:txBody>
      </p:sp>
      <p:cxnSp>
        <p:nvCxnSpPr>
          <p:cNvPr id="479" name="Google Shape;479;p29"/>
          <p:cNvCxnSpPr/>
          <p:nvPr/>
        </p:nvCxnSpPr>
        <p:spPr>
          <a:xfrm flipH="1">
            <a:off x="1119275" y="2552125"/>
            <a:ext cx="13500" cy="1092000"/>
          </a:xfrm>
          <a:prstGeom prst="straightConnector1">
            <a:avLst/>
          </a:prstGeom>
          <a:noFill/>
          <a:ln w="28575" cap="flat" cmpd="sng">
            <a:solidFill>
              <a:srgbClr val="00FF00"/>
            </a:solidFill>
            <a:prstDash val="solid"/>
            <a:round/>
            <a:headEnd type="none" w="sm" len="sm"/>
            <a:tailEnd type="triangle" w="med" len="med"/>
          </a:ln>
        </p:spPr>
      </p:cxnSp>
      <p:sp>
        <p:nvSpPr>
          <p:cNvPr id="480" name="Google Shape;480;p29"/>
          <p:cNvSpPr txBox="1"/>
          <p:nvPr/>
        </p:nvSpPr>
        <p:spPr>
          <a:xfrm rot="-5400000">
            <a:off x="237850" y="2921125"/>
            <a:ext cx="1326900" cy="354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00"/>
                </a:solidFill>
                <a:latin typeface="Comfortaa"/>
                <a:ea typeface="Comfortaa"/>
                <a:cs typeface="Comfortaa"/>
                <a:sym typeface="Comfortaa"/>
              </a:rPr>
              <a:t>IO requests</a:t>
            </a:r>
            <a:endParaRPr sz="1100" b="1" i="0" u="none" strike="noStrike" cap="none">
              <a:solidFill>
                <a:srgbClr val="FFFF00"/>
              </a:solidFill>
              <a:latin typeface="Comfortaa"/>
              <a:ea typeface="Comfortaa"/>
              <a:cs typeface="Comfortaa"/>
              <a:sym typeface="Comfortaa"/>
            </a:endParaRPr>
          </a:p>
        </p:txBody>
      </p:sp>
      <p:cxnSp>
        <p:nvCxnSpPr>
          <p:cNvPr id="481" name="Google Shape;481;p29"/>
          <p:cNvCxnSpPr>
            <a:stCxn id="476" idx="2"/>
            <a:endCxn id="477" idx="5"/>
          </p:cNvCxnSpPr>
          <p:nvPr/>
        </p:nvCxnSpPr>
        <p:spPr>
          <a:xfrm>
            <a:off x="2142750" y="2511075"/>
            <a:ext cx="0" cy="769200"/>
          </a:xfrm>
          <a:prstGeom prst="straightConnector1">
            <a:avLst/>
          </a:prstGeom>
          <a:noFill/>
          <a:ln w="28575" cap="flat" cmpd="sng">
            <a:solidFill>
              <a:srgbClr val="00FF00"/>
            </a:solidFill>
            <a:prstDash val="solid"/>
            <a:round/>
            <a:headEnd type="triangle" w="med" len="med"/>
            <a:tailEnd type="triangle" w="med" len="med"/>
          </a:ln>
        </p:spPr>
      </p:cxnSp>
      <p:sp>
        <p:nvSpPr>
          <p:cNvPr id="482" name="Google Shape;482;p29"/>
          <p:cNvSpPr txBox="1"/>
          <p:nvPr/>
        </p:nvSpPr>
        <p:spPr>
          <a:xfrm rot="-5400000">
            <a:off x="1486325" y="2718675"/>
            <a:ext cx="767700" cy="354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00"/>
                </a:solidFill>
                <a:latin typeface="Comfortaa"/>
                <a:ea typeface="Comfortaa"/>
                <a:cs typeface="Comfortaa"/>
                <a:sym typeface="Comfortaa"/>
              </a:rPr>
              <a:t>Data</a:t>
            </a:r>
            <a:endParaRPr sz="1100" b="1" i="0" u="none" strike="noStrike" cap="none">
              <a:solidFill>
                <a:srgbClr val="FFFF00"/>
              </a:solidFill>
              <a:latin typeface="Comfortaa"/>
              <a:ea typeface="Comfortaa"/>
              <a:cs typeface="Comfortaa"/>
              <a:sym typeface="Comfortaa"/>
            </a:endParaRPr>
          </a:p>
        </p:txBody>
      </p:sp>
      <p:cxnSp>
        <p:nvCxnSpPr>
          <p:cNvPr id="483" name="Google Shape;483;p29"/>
          <p:cNvCxnSpPr>
            <a:stCxn id="477" idx="0"/>
          </p:cNvCxnSpPr>
          <p:nvPr/>
        </p:nvCxnSpPr>
        <p:spPr>
          <a:xfrm rot="10800000">
            <a:off x="3111750" y="2511100"/>
            <a:ext cx="0" cy="1194000"/>
          </a:xfrm>
          <a:prstGeom prst="straightConnector1">
            <a:avLst/>
          </a:prstGeom>
          <a:noFill/>
          <a:ln w="28575" cap="flat" cmpd="sng">
            <a:solidFill>
              <a:srgbClr val="00FF00"/>
            </a:solidFill>
            <a:prstDash val="solid"/>
            <a:round/>
            <a:headEnd type="none" w="sm" len="sm"/>
            <a:tailEnd type="triangle" w="med" len="med"/>
          </a:ln>
        </p:spPr>
      </p:cxnSp>
      <p:sp>
        <p:nvSpPr>
          <p:cNvPr id="484" name="Google Shape;484;p29"/>
          <p:cNvSpPr txBox="1"/>
          <p:nvPr/>
        </p:nvSpPr>
        <p:spPr>
          <a:xfrm rot="-5400000">
            <a:off x="2666275" y="2921125"/>
            <a:ext cx="1326900" cy="354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00"/>
                </a:solidFill>
                <a:latin typeface="Comfortaa"/>
                <a:ea typeface="Comfortaa"/>
                <a:cs typeface="Comfortaa"/>
                <a:sym typeface="Comfortaa"/>
              </a:rPr>
              <a:t>Interrupt</a:t>
            </a:r>
            <a:endParaRPr sz="1100" b="1" i="0" u="none" strike="noStrike" cap="none">
              <a:solidFill>
                <a:srgbClr val="FFFF00"/>
              </a:solidFill>
              <a:latin typeface="Comfortaa"/>
              <a:ea typeface="Comfortaa"/>
              <a:cs typeface="Comfortaa"/>
              <a:sym typeface="Comfortaa"/>
            </a:endParaRPr>
          </a:p>
        </p:txBody>
      </p:sp>
      <p:cxnSp>
        <p:nvCxnSpPr>
          <p:cNvPr id="485" name="Google Shape;485;p29"/>
          <p:cNvCxnSpPr>
            <a:stCxn id="477" idx="1"/>
            <a:endCxn id="478" idx="1"/>
          </p:cNvCxnSpPr>
          <p:nvPr/>
        </p:nvCxnSpPr>
        <p:spPr>
          <a:xfrm rot="10800000" flipH="1">
            <a:off x="3111750" y="2620450"/>
            <a:ext cx="3316500" cy="1934400"/>
          </a:xfrm>
          <a:prstGeom prst="straightConnector1">
            <a:avLst/>
          </a:prstGeom>
          <a:noFill/>
          <a:ln w="28575" cap="flat" cmpd="sng">
            <a:solidFill>
              <a:srgbClr val="00FF00"/>
            </a:solidFill>
            <a:prstDash val="solid"/>
            <a:round/>
            <a:headEnd type="none" w="sm" len="sm"/>
            <a:tailEnd type="triangle" w="med" len="med"/>
          </a:ln>
        </p:spPr>
      </p:cxnSp>
      <p:sp>
        <p:nvSpPr>
          <p:cNvPr id="486" name="Google Shape;486;p29"/>
          <p:cNvSpPr txBox="1"/>
          <p:nvPr/>
        </p:nvSpPr>
        <p:spPr>
          <a:xfrm rot="-1832898">
            <a:off x="4197156" y="2998324"/>
            <a:ext cx="1326868" cy="35398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00"/>
                </a:solidFill>
                <a:latin typeface="Comfortaa"/>
                <a:ea typeface="Comfortaa"/>
                <a:cs typeface="Comfortaa"/>
                <a:sym typeface="Comfortaa"/>
              </a:rPr>
              <a:t>DMA</a:t>
            </a:r>
            <a:endParaRPr sz="1100" b="1" i="0" u="none" strike="noStrike" cap="none">
              <a:solidFill>
                <a:srgbClr val="FFFF00"/>
              </a:solidFill>
              <a:latin typeface="Comfortaa"/>
              <a:ea typeface="Comfortaa"/>
              <a:cs typeface="Comfortaa"/>
              <a:sym typeface="Comfortaa"/>
            </a:endParaRPr>
          </a:p>
        </p:txBody>
      </p:sp>
      <p:cxnSp>
        <p:nvCxnSpPr>
          <p:cNvPr id="487" name="Google Shape;487;p29"/>
          <p:cNvCxnSpPr/>
          <p:nvPr/>
        </p:nvCxnSpPr>
        <p:spPr>
          <a:xfrm>
            <a:off x="3439225" y="1514900"/>
            <a:ext cx="2988900" cy="0"/>
          </a:xfrm>
          <a:prstGeom prst="straightConnector1">
            <a:avLst/>
          </a:prstGeom>
          <a:noFill/>
          <a:ln w="28575" cap="flat" cmpd="sng">
            <a:solidFill>
              <a:srgbClr val="00FF00"/>
            </a:solidFill>
            <a:prstDash val="solid"/>
            <a:round/>
            <a:headEnd type="triangle" w="med" len="med"/>
            <a:tailEnd type="triangle" w="med" len="med"/>
          </a:ln>
        </p:spPr>
      </p:cxnSp>
      <p:sp>
        <p:nvSpPr>
          <p:cNvPr id="488" name="Google Shape;488;p29"/>
          <p:cNvSpPr txBox="1"/>
          <p:nvPr/>
        </p:nvSpPr>
        <p:spPr>
          <a:xfrm rot="448">
            <a:off x="3774900" y="1160750"/>
            <a:ext cx="2304000" cy="354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00"/>
                </a:solidFill>
                <a:latin typeface="Comfortaa"/>
                <a:ea typeface="Comfortaa"/>
                <a:cs typeface="Comfortaa"/>
                <a:sym typeface="Comfortaa"/>
              </a:rPr>
              <a:t>Instruction execution cycle</a:t>
            </a:r>
            <a:endParaRPr sz="1100" b="1" i="0" u="none" strike="noStrike" cap="none">
              <a:solidFill>
                <a:srgbClr val="FFFF00"/>
              </a:solidFill>
              <a:latin typeface="Comfortaa"/>
              <a:ea typeface="Comfortaa"/>
              <a:cs typeface="Comfortaa"/>
              <a:sym typeface="Comfortaa"/>
            </a:endParaRPr>
          </a:p>
        </p:txBody>
      </p:sp>
      <p:cxnSp>
        <p:nvCxnSpPr>
          <p:cNvPr id="489" name="Google Shape;489;p29"/>
          <p:cNvCxnSpPr/>
          <p:nvPr/>
        </p:nvCxnSpPr>
        <p:spPr>
          <a:xfrm>
            <a:off x="3439225" y="2207863"/>
            <a:ext cx="2988900" cy="0"/>
          </a:xfrm>
          <a:prstGeom prst="straightConnector1">
            <a:avLst/>
          </a:prstGeom>
          <a:noFill/>
          <a:ln w="28575" cap="flat" cmpd="sng">
            <a:solidFill>
              <a:srgbClr val="00FF00"/>
            </a:solidFill>
            <a:prstDash val="solid"/>
            <a:round/>
            <a:headEnd type="triangle" w="med" len="med"/>
            <a:tailEnd type="triangle" w="med" len="med"/>
          </a:ln>
        </p:spPr>
      </p:cxnSp>
      <p:sp>
        <p:nvSpPr>
          <p:cNvPr id="490" name="Google Shape;490;p29"/>
          <p:cNvSpPr txBox="1"/>
          <p:nvPr/>
        </p:nvSpPr>
        <p:spPr>
          <a:xfrm rot="448">
            <a:off x="3845400" y="1853725"/>
            <a:ext cx="2304000" cy="354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00"/>
                </a:solidFill>
                <a:latin typeface="Comfortaa"/>
                <a:ea typeface="Comfortaa"/>
                <a:cs typeface="Comfortaa"/>
                <a:sym typeface="Comfortaa"/>
              </a:rPr>
              <a:t>Data Movement</a:t>
            </a:r>
            <a:endParaRPr sz="1100" b="1" i="0" u="none" strike="noStrike" cap="none">
              <a:solidFill>
                <a:srgbClr val="FFFF00"/>
              </a:solidFill>
              <a:latin typeface="Comfortaa"/>
              <a:ea typeface="Comfortaa"/>
              <a:cs typeface="Comfortaa"/>
              <a:sym typeface="Comforta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3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rgbClr val="000000"/>
              </a:buClr>
              <a:buSzPct val="36397"/>
              <a:buFont typeface="Arial"/>
              <a:buNone/>
            </a:pPr>
            <a:r>
              <a:rPr lang="en" sz="2720" b="1">
                <a:solidFill>
                  <a:srgbClr val="00FF00"/>
                </a:solidFill>
                <a:latin typeface="Comfortaa"/>
                <a:ea typeface="Comfortaa"/>
                <a:cs typeface="Comfortaa"/>
                <a:sym typeface="Comfortaa"/>
              </a:rPr>
              <a:t>Clustered Systems</a:t>
            </a:r>
            <a:endParaRPr sz="2720" b="1">
              <a:solidFill>
                <a:srgbClr val="00FF00"/>
              </a:solidFill>
              <a:latin typeface="Comfortaa"/>
              <a:ea typeface="Comfortaa"/>
              <a:cs typeface="Comfortaa"/>
              <a:sym typeface="Comfortaa"/>
            </a:endParaRPr>
          </a:p>
          <a:p>
            <a:pPr marL="0" lvl="0" indent="0" algn="l" rtl="0">
              <a:lnSpc>
                <a:spcPct val="100000"/>
              </a:lnSpc>
              <a:spcBef>
                <a:spcPts val="0"/>
              </a:spcBef>
              <a:spcAft>
                <a:spcPts val="0"/>
              </a:spcAft>
              <a:buSzPct val="111111"/>
              <a:buNone/>
            </a:pPr>
            <a:endParaRPr/>
          </a:p>
        </p:txBody>
      </p:sp>
      <p:sp>
        <p:nvSpPr>
          <p:cNvPr id="518" name="Google Shape;518;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49</a:t>
            </a:fld>
            <a:endParaRPr/>
          </a:p>
        </p:txBody>
      </p:sp>
      <p:pic>
        <p:nvPicPr>
          <p:cNvPr id="519" name="Google Shape;519;p32"/>
          <p:cNvPicPr preferRelativeResize="0"/>
          <p:nvPr/>
        </p:nvPicPr>
        <p:blipFill rotWithShape="1">
          <a:blip r:embed="rId3">
            <a:alphaModFix/>
          </a:blip>
          <a:srcRect/>
          <a:stretch/>
        </p:blipFill>
        <p:spPr>
          <a:xfrm>
            <a:off x="3649375" y="3539700"/>
            <a:ext cx="1035374" cy="828300"/>
          </a:xfrm>
          <a:prstGeom prst="rect">
            <a:avLst/>
          </a:prstGeom>
          <a:noFill/>
          <a:ln>
            <a:noFill/>
          </a:ln>
        </p:spPr>
      </p:pic>
      <p:pic>
        <p:nvPicPr>
          <p:cNvPr id="520" name="Google Shape;520;p32"/>
          <p:cNvPicPr preferRelativeResize="0"/>
          <p:nvPr/>
        </p:nvPicPr>
        <p:blipFill rotWithShape="1">
          <a:blip r:embed="rId3">
            <a:alphaModFix/>
          </a:blip>
          <a:srcRect/>
          <a:stretch/>
        </p:blipFill>
        <p:spPr>
          <a:xfrm>
            <a:off x="5154925" y="3539700"/>
            <a:ext cx="1035374" cy="828300"/>
          </a:xfrm>
          <a:prstGeom prst="rect">
            <a:avLst/>
          </a:prstGeom>
          <a:noFill/>
          <a:ln>
            <a:noFill/>
          </a:ln>
        </p:spPr>
      </p:pic>
      <p:pic>
        <p:nvPicPr>
          <p:cNvPr id="521" name="Google Shape;521;p32"/>
          <p:cNvPicPr preferRelativeResize="0"/>
          <p:nvPr/>
        </p:nvPicPr>
        <p:blipFill rotWithShape="1">
          <a:blip r:embed="rId3">
            <a:alphaModFix/>
          </a:blip>
          <a:srcRect/>
          <a:stretch/>
        </p:blipFill>
        <p:spPr>
          <a:xfrm>
            <a:off x="6660475" y="3539700"/>
            <a:ext cx="1035374" cy="828300"/>
          </a:xfrm>
          <a:prstGeom prst="rect">
            <a:avLst/>
          </a:prstGeom>
          <a:noFill/>
          <a:ln>
            <a:noFill/>
          </a:ln>
        </p:spPr>
      </p:pic>
      <p:pic>
        <p:nvPicPr>
          <p:cNvPr id="522" name="Google Shape;522;p32"/>
          <p:cNvPicPr preferRelativeResize="0"/>
          <p:nvPr/>
        </p:nvPicPr>
        <p:blipFill rotWithShape="1">
          <a:blip r:embed="rId3">
            <a:alphaModFix/>
          </a:blip>
          <a:srcRect/>
          <a:stretch/>
        </p:blipFill>
        <p:spPr>
          <a:xfrm>
            <a:off x="1700975" y="2233800"/>
            <a:ext cx="1035374" cy="828300"/>
          </a:xfrm>
          <a:prstGeom prst="rect">
            <a:avLst/>
          </a:prstGeom>
          <a:noFill/>
          <a:ln>
            <a:noFill/>
          </a:ln>
        </p:spPr>
      </p:pic>
      <p:cxnSp>
        <p:nvCxnSpPr>
          <p:cNvPr id="523" name="Google Shape;523;p32"/>
          <p:cNvCxnSpPr>
            <a:stCxn id="522" idx="3"/>
            <a:endCxn id="519" idx="0"/>
          </p:cNvCxnSpPr>
          <p:nvPr/>
        </p:nvCxnSpPr>
        <p:spPr>
          <a:xfrm>
            <a:off x="2736349" y="2647950"/>
            <a:ext cx="1430700" cy="891900"/>
          </a:xfrm>
          <a:prstGeom prst="curvedConnector2">
            <a:avLst/>
          </a:prstGeom>
          <a:noFill/>
          <a:ln w="28575" cap="flat" cmpd="sng">
            <a:solidFill>
              <a:schemeClr val="dk1"/>
            </a:solidFill>
            <a:prstDash val="solid"/>
            <a:round/>
            <a:headEnd type="none" w="sm" len="sm"/>
            <a:tailEnd type="triangle" w="med" len="med"/>
          </a:ln>
        </p:spPr>
      </p:cxnSp>
      <p:cxnSp>
        <p:nvCxnSpPr>
          <p:cNvPr id="524" name="Google Shape;524;p32"/>
          <p:cNvCxnSpPr>
            <a:stCxn id="522" idx="3"/>
            <a:endCxn id="520" idx="0"/>
          </p:cNvCxnSpPr>
          <p:nvPr/>
        </p:nvCxnSpPr>
        <p:spPr>
          <a:xfrm>
            <a:off x="2736349" y="2647950"/>
            <a:ext cx="2936400" cy="891900"/>
          </a:xfrm>
          <a:prstGeom prst="curvedConnector2">
            <a:avLst/>
          </a:prstGeom>
          <a:noFill/>
          <a:ln w="28575" cap="flat" cmpd="sng">
            <a:solidFill>
              <a:schemeClr val="dk1"/>
            </a:solidFill>
            <a:prstDash val="solid"/>
            <a:round/>
            <a:headEnd type="none" w="sm" len="sm"/>
            <a:tailEnd type="triangle" w="med" len="med"/>
          </a:ln>
        </p:spPr>
      </p:cxnSp>
      <p:cxnSp>
        <p:nvCxnSpPr>
          <p:cNvPr id="525" name="Google Shape;525;p32"/>
          <p:cNvCxnSpPr>
            <a:stCxn id="522" idx="3"/>
            <a:endCxn id="521" idx="0"/>
          </p:cNvCxnSpPr>
          <p:nvPr/>
        </p:nvCxnSpPr>
        <p:spPr>
          <a:xfrm>
            <a:off x="2736349" y="2647950"/>
            <a:ext cx="4441800" cy="891900"/>
          </a:xfrm>
          <a:prstGeom prst="curvedConnector2">
            <a:avLst/>
          </a:prstGeom>
          <a:noFill/>
          <a:ln w="28575" cap="flat" cmpd="sng">
            <a:solidFill>
              <a:schemeClr val="dk1"/>
            </a:solidFill>
            <a:prstDash val="solid"/>
            <a:round/>
            <a:headEnd type="none" w="sm" len="sm"/>
            <a:tailEnd type="triangle" w="med" len="med"/>
          </a:ln>
        </p:spPr>
      </p:cxnSp>
      <p:cxnSp>
        <p:nvCxnSpPr>
          <p:cNvPr id="526" name="Google Shape;526;p32"/>
          <p:cNvCxnSpPr>
            <a:stCxn id="519" idx="0"/>
            <a:endCxn id="520" idx="0"/>
          </p:cNvCxnSpPr>
          <p:nvPr/>
        </p:nvCxnSpPr>
        <p:spPr>
          <a:xfrm rot="-5400000" flipH="1">
            <a:off x="4919612" y="2787150"/>
            <a:ext cx="600" cy="1505700"/>
          </a:xfrm>
          <a:prstGeom prst="curvedConnector3">
            <a:avLst>
              <a:gd name="adj1" fmla="val -62416667"/>
            </a:avLst>
          </a:prstGeom>
          <a:noFill/>
          <a:ln w="28575" cap="flat" cmpd="sng">
            <a:solidFill>
              <a:schemeClr val="dk1"/>
            </a:solidFill>
            <a:prstDash val="solid"/>
            <a:round/>
            <a:headEnd type="triangle" w="med" len="med"/>
            <a:tailEnd type="triangle" w="med" len="med"/>
          </a:ln>
        </p:spPr>
      </p:cxnSp>
      <p:cxnSp>
        <p:nvCxnSpPr>
          <p:cNvPr id="527" name="Google Shape;527;p32"/>
          <p:cNvCxnSpPr>
            <a:stCxn id="520" idx="0"/>
            <a:endCxn id="521" idx="0"/>
          </p:cNvCxnSpPr>
          <p:nvPr/>
        </p:nvCxnSpPr>
        <p:spPr>
          <a:xfrm rot="-5400000" flipH="1">
            <a:off x="6425162" y="2787150"/>
            <a:ext cx="600" cy="1505700"/>
          </a:xfrm>
          <a:prstGeom prst="curvedConnector3">
            <a:avLst>
              <a:gd name="adj1" fmla="val -64695833"/>
            </a:avLst>
          </a:prstGeom>
          <a:noFill/>
          <a:ln w="28575" cap="flat" cmpd="sng">
            <a:solidFill>
              <a:schemeClr val="dk1"/>
            </a:solidFill>
            <a:prstDash val="solid"/>
            <a:round/>
            <a:headEnd type="triangle" w="med" len="med"/>
            <a:tailEnd type="triangle" w="med" len="med"/>
          </a:ln>
        </p:spPr>
      </p:cxnSp>
      <p:cxnSp>
        <p:nvCxnSpPr>
          <p:cNvPr id="528" name="Google Shape;528;p32"/>
          <p:cNvCxnSpPr>
            <a:stCxn id="519" idx="0"/>
            <a:endCxn id="521" idx="0"/>
          </p:cNvCxnSpPr>
          <p:nvPr/>
        </p:nvCxnSpPr>
        <p:spPr>
          <a:xfrm rot="-5400000" flipH="1">
            <a:off x="5672312" y="2034450"/>
            <a:ext cx="600" cy="3011100"/>
          </a:xfrm>
          <a:prstGeom prst="curvedConnector3">
            <a:avLst>
              <a:gd name="adj1" fmla="val -180875000"/>
            </a:avLst>
          </a:prstGeom>
          <a:noFill/>
          <a:ln w="28575" cap="flat" cmpd="sng">
            <a:solidFill>
              <a:schemeClr val="dk1"/>
            </a:solidFill>
            <a:prstDash val="solid"/>
            <a:round/>
            <a:headEnd type="triangle" w="med" len="med"/>
            <a:tailEnd type="triangle" w="med" len="med"/>
          </a:ln>
        </p:spPr>
      </p:cxnSp>
      <p:cxnSp>
        <p:nvCxnSpPr>
          <p:cNvPr id="529" name="Google Shape;529;p32"/>
          <p:cNvCxnSpPr>
            <a:endCxn id="522" idx="0"/>
          </p:cNvCxnSpPr>
          <p:nvPr/>
        </p:nvCxnSpPr>
        <p:spPr>
          <a:xfrm>
            <a:off x="2200662" y="1497600"/>
            <a:ext cx="18000" cy="736200"/>
          </a:xfrm>
          <a:prstGeom prst="straightConnector1">
            <a:avLst/>
          </a:prstGeom>
          <a:noFill/>
          <a:ln w="28575" cap="flat" cmpd="sng">
            <a:solidFill>
              <a:srgbClr val="FFFFFF"/>
            </a:solidFill>
            <a:prstDash val="solid"/>
            <a:round/>
            <a:headEnd type="none" w="sm" len="sm"/>
            <a:tailEnd type="triangle" w="med" len="med"/>
          </a:ln>
        </p:spPr>
      </p:cxnSp>
      <p:cxnSp>
        <p:nvCxnSpPr>
          <p:cNvPr id="530" name="Google Shape;530;p32"/>
          <p:cNvCxnSpPr/>
          <p:nvPr/>
        </p:nvCxnSpPr>
        <p:spPr>
          <a:xfrm>
            <a:off x="2209675" y="3062100"/>
            <a:ext cx="18000" cy="736200"/>
          </a:xfrm>
          <a:prstGeom prst="straightConnector1">
            <a:avLst/>
          </a:prstGeom>
          <a:noFill/>
          <a:ln w="28575" cap="flat" cmpd="sng">
            <a:solidFill>
              <a:srgbClr val="FFFFFF"/>
            </a:solidFill>
            <a:prstDash val="solid"/>
            <a:round/>
            <a:headEnd type="none" w="sm" len="sm"/>
            <a:tailEnd type="triangle" w="med" len="med"/>
          </a:ln>
        </p:spPr>
      </p:cxnSp>
      <p:sp>
        <p:nvSpPr>
          <p:cNvPr id="531" name="Google Shape;531;p32"/>
          <p:cNvSpPr txBox="1"/>
          <p:nvPr/>
        </p:nvSpPr>
        <p:spPr>
          <a:xfrm>
            <a:off x="1465825" y="1066500"/>
            <a:ext cx="1505700" cy="4311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Input Data</a:t>
            </a:r>
            <a:endParaRPr sz="1600" b="1" i="0" u="none" strike="noStrike" cap="none">
              <a:solidFill>
                <a:srgbClr val="FFFF00"/>
              </a:solidFill>
              <a:latin typeface="Comfortaa"/>
              <a:ea typeface="Comfortaa"/>
              <a:cs typeface="Comfortaa"/>
              <a:sym typeface="Comfortaa"/>
            </a:endParaRPr>
          </a:p>
        </p:txBody>
      </p:sp>
      <p:sp>
        <p:nvSpPr>
          <p:cNvPr id="532" name="Google Shape;532;p32"/>
          <p:cNvSpPr txBox="1"/>
          <p:nvPr/>
        </p:nvSpPr>
        <p:spPr>
          <a:xfrm>
            <a:off x="1456800" y="3798300"/>
            <a:ext cx="1505700" cy="4311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00"/>
                </a:solidFill>
                <a:latin typeface="Comfortaa"/>
                <a:ea typeface="Comfortaa"/>
                <a:cs typeface="Comfortaa"/>
                <a:sym typeface="Comfortaa"/>
              </a:rPr>
              <a:t>Results</a:t>
            </a:r>
            <a:endParaRPr sz="1600" b="1" i="0" u="none" strike="noStrike" cap="none">
              <a:solidFill>
                <a:srgbClr val="FFFF00"/>
              </a:solidFill>
              <a:latin typeface="Comfortaa"/>
              <a:ea typeface="Comfortaa"/>
              <a:cs typeface="Comfortaa"/>
              <a:sym typeface="Comfortaa"/>
            </a:endParaRPr>
          </a:p>
        </p:txBody>
      </p:sp>
      <p:sp>
        <p:nvSpPr>
          <p:cNvPr id="533" name="Google Shape;533;p32"/>
          <p:cNvSpPr txBox="1"/>
          <p:nvPr/>
        </p:nvSpPr>
        <p:spPr>
          <a:xfrm>
            <a:off x="311700" y="2340150"/>
            <a:ext cx="1230300" cy="615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Computer</a:t>
            </a:r>
            <a:endParaRPr sz="14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Root Node</a:t>
            </a:r>
            <a:endParaRPr sz="1400" b="1" i="0" u="none" strike="noStrike" cap="none">
              <a:solidFill>
                <a:srgbClr val="FFFF00"/>
              </a:solidFill>
              <a:latin typeface="Comfortaa"/>
              <a:ea typeface="Comfortaa"/>
              <a:cs typeface="Comfortaa"/>
              <a:sym typeface="Comfortaa"/>
            </a:endParaRPr>
          </a:p>
        </p:txBody>
      </p:sp>
      <p:sp>
        <p:nvSpPr>
          <p:cNvPr id="534" name="Google Shape;534;p32"/>
          <p:cNvSpPr txBox="1"/>
          <p:nvPr/>
        </p:nvSpPr>
        <p:spPr>
          <a:xfrm>
            <a:off x="3326463" y="4399825"/>
            <a:ext cx="1681200" cy="615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Computer</a:t>
            </a:r>
            <a:endParaRPr sz="14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Slave  Node 1</a:t>
            </a:r>
            <a:endParaRPr sz="1400" b="1" i="0" u="none" strike="noStrike" cap="none">
              <a:solidFill>
                <a:srgbClr val="FFFF00"/>
              </a:solidFill>
              <a:latin typeface="Comfortaa"/>
              <a:ea typeface="Comfortaa"/>
              <a:cs typeface="Comfortaa"/>
              <a:sym typeface="Comfortaa"/>
            </a:endParaRPr>
          </a:p>
        </p:txBody>
      </p:sp>
      <p:sp>
        <p:nvSpPr>
          <p:cNvPr id="535" name="Google Shape;535;p32"/>
          <p:cNvSpPr txBox="1"/>
          <p:nvPr/>
        </p:nvSpPr>
        <p:spPr>
          <a:xfrm>
            <a:off x="4826863" y="4399825"/>
            <a:ext cx="1681200" cy="615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Computer</a:t>
            </a:r>
            <a:endParaRPr sz="14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Slave  Node 2</a:t>
            </a:r>
            <a:endParaRPr sz="1400" b="1" i="0" u="none" strike="noStrike" cap="none">
              <a:solidFill>
                <a:srgbClr val="FFFF00"/>
              </a:solidFill>
              <a:latin typeface="Comfortaa"/>
              <a:ea typeface="Comfortaa"/>
              <a:cs typeface="Comfortaa"/>
              <a:sym typeface="Comfortaa"/>
            </a:endParaRPr>
          </a:p>
        </p:txBody>
      </p:sp>
      <p:sp>
        <p:nvSpPr>
          <p:cNvPr id="536" name="Google Shape;536;p32"/>
          <p:cNvSpPr txBox="1"/>
          <p:nvPr/>
        </p:nvSpPr>
        <p:spPr>
          <a:xfrm>
            <a:off x="6413763" y="4399825"/>
            <a:ext cx="1681200" cy="615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Computer</a:t>
            </a:r>
            <a:endParaRPr sz="14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Slave  Node N</a:t>
            </a:r>
            <a:endParaRPr sz="1400" b="1" i="0" u="none" strike="noStrike" cap="none">
              <a:solidFill>
                <a:srgbClr val="FFFF00"/>
              </a:solidFill>
              <a:latin typeface="Comfortaa"/>
              <a:ea typeface="Comfortaa"/>
              <a:cs typeface="Comfortaa"/>
              <a:sym typeface="Comfortaa"/>
            </a:endParaRPr>
          </a:p>
        </p:txBody>
      </p:sp>
      <p:sp>
        <p:nvSpPr>
          <p:cNvPr id="537" name="Google Shape;537;p32"/>
          <p:cNvSpPr/>
          <p:nvPr/>
        </p:nvSpPr>
        <p:spPr>
          <a:xfrm>
            <a:off x="7178300" y="1072950"/>
            <a:ext cx="1230300" cy="1585500"/>
          </a:xfrm>
          <a:prstGeom prst="can">
            <a:avLst>
              <a:gd name="adj" fmla="val 25000"/>
            </a:avLst>
          </a:prstGeom>
          <a:gradFill>
            <a:gsLst>
              <a:gs pos="0">
                <a:srgbClr val="DCECD5"/>
              </a:gs>
              <a:gs pos="100000">
                <a:srgbClr val="93BC81"/>
              </a:gs>
            </a:gsLst>
            <a:path path="circle">
              <a:fillToRect l="50000" t="50000" r="50000" b="50000"/>
            </a:path>
            <a:tileRect/>
          </a:gra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p32"/>
          <p:cNvSpPr txBox="1"/>
          <p:nvPr/>
        </p:nvSpPr>
        <p:spPr>
          <a:xfrm>
            <a:off x="7178300" y="2713675"/>
            <a:ext cx="1230300" cy="615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Storage</a:t>
            </a:r>
            <a:endParaRPr sz="1400" b="1" i="0" u="none" strike="noStrike" cap="none">
              <a:solidFill>
                <a:srgbClr val="FFFF00"/>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00"/>
                </a:solidFill>
                <a:latin typeface="Comfortaa"/>
                <a:ea typeface="Comfortaa"/>
                <a:cs typeface="Comfortaa"/>
                <a:sym typeface="Comfortaa"/>
              </a:rPr>
              <a:t>Node</a:t>
            </a:r>
            <a:endParaRPr sz="1400" b="1" i="0" u="none" strike="noStrike" cap="none">
              <a:solidFill>
                <a:srgbClr val="FFFF00"/>
              </a:solidFill>
              <a:latin typeface="Comfortaa"/>
              <a:ea typeface="Comfortaa"/>
              <a:cs typeface="Comfortaa"/>
              <a:sym typeface="Comfortaa"/>
            </a:endParaRPr>
          </a:p>
        </p:txBody>
      </p:sp>
      <p:cxnSp>
        <p:nvCxnSpPr>
          <p:cNvPr id="539" name="Google Shape;539;p32"/>
          <p:cNvCxnSpPr/>
          <p:nvPr/>
        </p:nvCxnSpPr>
        <p:spPr>
          <a:xfrm rot="10800000" flipH="1">
            <a:off x="2736050" y="1887513"/>
            <a:ext cx="4442100" cy="782100"/>
          </a:xfrm>
          <a:prstGeom prst="curvedConnector3">
            <a:avLst>
              <a:gd name="adj1" fmla="val 50000"/>
            </a:avLst>
          </a:prstGeom>
          <a:noFill/>
          <a:ln w="28575" cap="flat" cmpd="sng">
            <a:solidFill>
              <a:schemeClr val="dk1"/>
            </a:solidFill>
            <a:prstDash val="solid"/>
            <a:round/>
            <a:headEnd type="triangle" w="med" len="med"/>
            <a:tailEnd type="triangle" w="med" len="med"/>
          </a:ln>
        </p:spPr>
      </p:cxnSp>
      <p:cxnSp>
        <p:nvCxnSpPr>
          <p:cNvPr id="540" name="Google Shape;540;p32"/>
          <p:cNvCxnSpPr>
            <a:endCxn id="538" idx="0"/>
          </p:cNvCxnSpPr>
          <p:nvPr/>
        </p:nvCxnSpPr>
        <p:spPr>
          <a:xfrm rot="-5400000">
            <a:off x="7072850" y="2818975"/>
            <a:ext cx="825900" cy="615300"/>
          </a:xfrm>
          <a:prstGeom prst="curvedConnector5">
            <a:avLst>
              <a:gd name="adj1" fmla="val 12732"/>
              <a:gd name="adj2" fmla="val -38676"/>
              <a:gd name="adj3" fmla="val 128832"/>
            </a:avLst>
          </a:prstGeom>
          <a:noFill/>
          <a:ln w="28575" cap="flat" cmpd="sng">
            <a:solidFill>
              <a:schemeClr val="dk1"/>
            </a:solidFill>
            <a:prstDash val="solid"/>
            <a:round/>
            <a:headEnd type="triangle" w="med" len="med"/>
            <a:tailEnd type="triangle" w="med" len="med"/>
          </a:ln>
        </p:spPr>
      </p:cxnSp>
      <p:cxnSp>
        <p:nvCxnSpPr>
          <p:cNvPr id="541" name="Google Shape;541;p32"/>
          <p:cNvCxnSpPr>
            <a:stCxn id="520" idx="0"/>
            <a:endCxn id="537" idx="2"/>
          </p:cNvCxnSpPr>
          <p:nvPr/>
        </p:nvCxnSpPr>
        <p:spPr>
          <a:xfrm rot="-5400000">
            <a:off x="5588462" y="1949850"/>
            <a:ext cx="1674000" cy="1505700"/>
          </a:xfrm>
          <a:prstGeom prst="curvedConnector2">
            <a:avLst/>
          </a:prstGeom>
          <a:noFill/>
          <a:ln w="28575" cap="flat" cmpd="sng">
            <a:solidFill>
              <a:schemeClr val="dk1"/>
            </a:solidFill>
            <a:prstDash val="solid"/>
            <a:round/>
            <a:headEnd type="triangle" w="med" len="med"/>
            <a:tailEnd type="triangle" w="med" len="med"/>
          </a:ln>
        </p:spPr>
      </p:cxnSp>
      <p:cxnSp>
        <p:nvCxnSpPr>
          <p:cNvPr id="542" name="Google Shape;542;p32"/>
          <p:cNvCxnSpPr>
            <a:stCxn id="519" idx="0"/>
            <a:endCxn id="537" idx="2"/>
          </p:cNvCxnSpPr>
          <p:nvPr/>
        </p:nvCxnSpPr>
        <p:spPr>
          <a:xfrm rot="-5400000">
            <a:off x="4835612" y="1197150"/>
            <a:ext cx="1674000" cy="3011100"/>
          </a:xfrm>
          <a:prstGeom prst="curvedConnector2">
            <a:avLst/>
          </a:prstGeom>
          <a:noFill/>
          <a:ln w="28575" cap="flat" cmpd="sng">
            <a:solidFill>
              <a:schemeClr val="dk1"/>
            </a:solidFill>
            <a:prstDash val="solid"/>
            <a:round/>
            <a:headEnd type="triangle" w="med" len="med"/>
            <a:tailEnd type="triangle" w="med" len="med"/>
          </a:ln>
        </p:spPr>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55"/>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50</a:t>
            </a:fld>
            <a:endParaRPr/>
          </a:p>
        </p:txBody>
      </p:sp>
      <p:pic>
        <p:nvPicPr>
          <p:cNvPr id="722" name="Google Shape;722;p55"/>
          <p:cNvPicPr preferRelativeResize="0"/>
          <p:nvPr/>
        </p:nvPicPr>
        <p:blipFill rotWithShape="1">
          <a:blip r:embed="rId3">
            <a:alphaModFix/>
          </a:blip>
          <a:srcRect/>
          <a:stretch/>
        </p:blipFill>
        <p:spPr>
          <a:xfrm>
            <a:off x="3640863" y="1429963"/>
            <a:ext cx="1862275" cy="1489825"/>
          </a:xfrm>
          <a:prstGeom prst="rect">
            <a:avLst/>
          </a:prstGeom>
          <a:noFill/>
          <a:ln>
            <a:noFill/>
          </a:ln>
        </p:spPr>
      </p:pic>
      <p:sp>
        <p:nvSpPr>
          <p:cNvPr id="723" name="Google Shape;723;p55"/>
          <p:cNvSpPr txBox="1"/>
          <p:nvPr/>
        </p:nvSpPr>
        <p:spPr>
          <a:xfrm>
            <a:off x="3075607" y="3417000"/>
            <a:ext cx="2992800" cy="800400"/>
          </a:xfrm>
          <a:prstGeom prst="rect">
            <a:avLst/>
          </a:prstGeom>
          <a:noFill/>
          <a:ln>
            <a:noFill/>
          </a:ln>
          <a:effectLst>
            <a:outerShdw blurRad="57150" dist="47625" dir="5400000" algn="bl" rotWithShape="0">
              <a:srgbClr val="FFFFFF">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 sz="4000" b="1" i="0" u="none" strike="noStrike" cap="none" dirty="0">
                <a:solidFill>
                  <a:srgbClr val="FFFF00"/>
                </a:solidFill>
                <a:latin typeface="Pacifico"/>
                <a:ea typeface="Pacifico"/>
                <a:cs typeface="Pacifico"/>
                <a:sym typeface="Pacifico"/>
              </a:rPr>
              <a:t>Thank you</a:t>
            </a:r>
            <a:endParaRPr sz="4000" b="1" i="0" u="none" strike="noStrike" cap="none" dirty="0">
              <a:solidFill>
                <a:srgbClr val="FFFF00"/>
              </a:solidFill>
              <a:latin typeface="Pacifico"/>
              <a:ea typeface="Pacifico"/>
              <a:cs typeface="Pacifico"/>
              <a:sym typeface="Pacifico"/>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3668</TotalTime>
  <Words>2984</Words>
  <Application>Microsoft Office PowerPoint</Application>
  <PresentationFormat>On-screen Show (16:9)</PresentationFormat>
  <Paragraphs>509</Paragraphs>
  <Slides>50</Slides>
  <Notes>50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Century Gothic</vt:lpstr>
      <vt:lpstr>Comfortaa</vt:lpstr>
      <vt:lpstr>Arial</vt:lpstr>
      <vt:lpstr>Pacifico</vt:lpstr>
      <vt:lpstr>Georgia</vt:lpstr>
      <vt:lpstr>Wingdings 3</vt:lpstr>
      <vt:lpstr>Ion</vt:lpstr>
      <vt:lpstr>Operating System</vt:lpstr>
      <vt:lpstr>Syllabus, Course Outcomes, Objectives, Exam pattern</vt:lpstr>
      <vt:lpstr>Operating System</vt:lpstr>
      <vt:lpstr>Operating System - Goals</vt:lpstr>
      <vt:lpstr>Computer System - Structure</vt:lpstr>
      <vt:lpstr>Computer System - Structure</vt:lpstr>
      <vt:lpstr>Computer System - Structure</vt:lpstr>
      <vt:lpstr>Computer System - Structure</vt:lpstr>
      <vt:lpstr>Computer System - Structure</vt:lpstr>
      <vt:lpstr>Computer System - Structure</vt:lpstr>
      <vt:lpstr>What Operating System Do?</vt:lpstr>
      <vt:lpstr>User’s view of Operating System</vt:lpstr>
      <vt:lpstr>User’s view of Operating System</vt:lpstr>
      <vt:lpstr>User’s view of Operating System</vt:lpstr>
      <vt:lpstr>User’s view of Operating System</vt:lpstr>
      <vt:lpstr>System view of Operating System</vt:lpstr>
      <vt:lpstr>More common definition of OS</vt:lpstr>
      <vt:lpstr>How computer starts?</vt:lpstr>
      <vt:lpstr>Storage Structure</vt:lpstr>
      <vt:lpstr>Storage Device Hierarchy</vt:lpstr>
      <vt:lpstr>Performance of various levels of storage</vt:lpstr>
      <vt:lpstr>IO structure</vt:lpstr>
      <vt:lpstr>Computer System Architecture</vt:lpstr>
      <vt:lpstr>Operating System Operations</vt:lpstr>
      <vt:lpstr>Operating System Operations</vt:lpstr>
      <vt:lpstr>Operating System Operations</vt:lpstr>
      <vt:lpstr>Operating System Operations</vt:lpstr>
      <vt:lpstr>Operating System Operations</vt:lpstr>
      <vt:lpstr>Operating System Operations</vt:lpstr>
      <vt:lpstr>Operating System Operations</vt:lpstr>
      <vt:lpstr>Operating System Operations</vt:lpstr>
      <vt:lpstr>Operating System Operations</vt:lpstr>
      <vt:lpstr>Types of Operating System</vt:lpstr>
      <vt:lpstr>Types of Operating System</vt:lpstr>
      <vt:lpstr>Types of Operating System</vt:lpstr>
      <vt:lpstr>Types of Operating System</vt:lpstr>
      <vt:lpstr>Types of Operating System</vt:lpstr>
      <vt:lpstr>Types of Operating System</vt:lpstr>
      <vt:lpstr>Types of Operating System</vt:lpstr>
      <vt:lpstr>Types of Operating System</vt:lpstr>
      <vt:lpstr>Types of Operating System</vt:lpstr>
      <vt:lpstr>Types of Operating System</vt:lpstr>
      <vt:lpstr>Types of Operating System</vt:lpstr>
      <vt:lpstr>Types of Operating System</vt:lpstr>
      <vt:lpstr>Modern Computer System</vt:lpstr>
      <vt:lpstr>Computer System Architecture</vt:lpstr>
      <vt:lpstr>Computer System Architecture</vt:lpstr>
      <vt:lpstr>How a Modern Computer Works?</vt:lpstr>
      <vt:lpstr>Clustered Systems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Varsha Kushwah</cp:lastModifiedBy>
  <cp:revision>4</cp:revision>
  <dcterms:modified xsi:type="dcterms:W3CDTF">2025-01-13T08:54:12Z</dcterms:modified>
</cp:coreProperties>
</file>