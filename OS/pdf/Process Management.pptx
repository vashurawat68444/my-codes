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481" r:id="rId51"/>
  </p:sldIdLst>
  <p:sldSz cx="9144000" cy="5143500" type="screen16x9"/>
  <p:notesSz cx="6858000" cy="9144000"/>
  <p:embeddedFontLst>
    <p:embeddedFont>
      <p:font typeface="Alfa Slab One" panose="020B0604020202020204" charset="0"/>
      <p:regular r:id="rId53"/>
    </p:embeddedFont>
    <p:embeddedFont>
      <p:font typeface="Amatic SC" panose="00000500000000000000" pitchFamily="2" charset="-79"/>
      <p:regular r:id="rId54"/>
      <p:bold r:id="rId55"/>
    </p:embeddedFont>
    <p:embeddedFont>
      <p:font typeface="Caveat" panose="020B0604020202020204" charset="0"/>
      <p:regular r:id="rId56"/>
      <p:bold r:id="rId57"/>
    </p:embeddedFont>
    <p:embeddedFont>
      <p:font typeface="Comfortaa" panose="020B0604020202020204" charset="0"/>
      <p:regular r:id="rId58"/>
      <p:bold r:id="rId59"/>
    </p:embeddedFont>
    <p:embeddedFont>
      <p:font typeface="Oswald" panose="00000500000000000000" pitchFamily="2" charset="0"/>
      <p:regular r:id="rId60"/>
      <p:bold r:id="rId61"/>
    </p:embeddedFont>
    <p:embeddedFont>
      <p:font typeface="Oswald Light" panose="00000400000000000000" pitchFamily="2" charset="0"/>
      <p:regular r:id="rId62"/>
      <p:bold r:id="rId63"/>
    </p:embeddedFont>
    <p:embeddedFont>
      <p:font typeface="Proxima Nova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8" roundtripDataSignature="AMtx7mjhsVwcNYk3d3PKhU2phvRok1xA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C44F84-91B3-428D-9E15-672F8DD466A0}">
  <a:tblStyle styleId="{BEC44F84-91B3-428D-9E15-672F8DD466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52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250" Type="http://schemas.openxmlformats.org/officeDocument/2006/relationships/viewProps" Target="view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248" Type="http://customschemas.google.com/relationships/presentationmetadata" Target="metadata"/><Relationship Id="rId251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49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3" name="Google Shape;3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0" name="Google Shape;63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8" name="Google Shape;65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2" name="Google Shape;67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9" name="Google Shape;689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6" name="Google Shape;696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6" name="Google Shape;72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1" name="Google Shape;781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9" name="Google Shape;78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6" name="Google Shape;796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3" name="Google Shape;803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4" name="Google Shape;4554;p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5" name="Google Shape;4555;p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27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27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2" name="Google Shape;12;p227"/>
          <p:cNvSpPr txBox="1">
            <a:spLocks noGrp="1"/>
          </p:cNvSpPr>
          <p:nvPr>
            <p:ph type="subTitle" idx="1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2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2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2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0"/>
          <p:cNvSpPr txBox="1">
            <a:spLocks noGrp="1"/>
          </p:cNvSpPr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2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232"/>
          <p:cNvSpPr txBox="1">
            <a:spLocks noGrp="1"/>
          </p:cNvSpPr>
          <p:nvPr>
            <p:ph type="body" idx="1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2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4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3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234"/>
          <p:cNvSpPr txBox="1">
            <a:spLocks noGrp="1"/>
          </p:cNvSpPr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0" name="Google Shape;40;p234"/>
          <p:cNvSpPr txBox="1">
            <a:spLocks noGrp="1"/>
          </p:cNvSpPr>
          <p:nvPr>
            <p:ph type="subTitle" idx="1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23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5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>
            <a:endParaRPr/>
          </a:p>
        </p:txBody>
      </p:sp>
      <p:sp>
        <p:nvSpPr>
          <p:cNvPr id="45" name="Google Shape;45;p2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6"/>
          <p:cNvSpPr txBox="1">
            <a:spLocks noGrp="1"/>
          </p:cNvSpPr>
          <p:nvPr>
            <p:ph type="title" hasCustomPrompt="1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36"/>
          <p:cNvSpPr txBox="1">
            <a:spLocks noGrp="1"/>
          </p:cNvSpPr>
          <p:nvPr>
            <p:ph type="body" idx="1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me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endParaRPr/>
          </a:p>
        </p:txBody>
      </p:sp>
      <p:sp>
        <p:nvSpPr>
          <p:cNvPr id="7" name="Google Shape;7;p2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2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  <a:effectLst>
            <a:outerShdw blurRad="57150" dist="952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4900" b="1">
                <a:latin typeface="Oswald"/>
                <a:ea typeface="Oswald"/>
                <a:cs typeface="Oswald"/>
                <a:sym typeface="Oswald"/>
              </a:rPr>
              <a:t>Operating System</a:t>
            </a:r>
            <a:endParaRPr sz="4900" b="1"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177" b="1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Process and Threads</a:t>
            </a:r>
            <a:endParaRPr sz="3177" b="1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xfrm>
            <a:off x="311700" y="3165826"/>
            <a:ext cx="8520600" cy="12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IN" sz="2000" dirty="0">
                <a:solidFill>
                  <a:srgbClr val="000000"/>
                </a:solidFill>
              </a:rPr>
              <a:t>Varsha Kushwah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000" dirty="0">
                <a:solidFill>
                  <a:srgbClr val="000000"/>
                </a:solidFill>
              </a:rPr>
              <a:t>Assistant Professor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2000" dirty="0">
                <a:solidFill>
                  <a:srgbClr val="000000"/>
                </a:solidFill>
              </a:rPr>
              <a:t>Indian Institute of Information Technology Nagpur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Contents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Program and process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Operations of process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Interprocess Communication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Concurrency 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Multithreading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scheduling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Process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is a </a:t>
            </a:r>
            <a:r>
              <a:rPr lang="en" b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program in execution</a:t>
            </a:r>
            <a:endParaRPr b="1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execution must progress in sequential fashion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Program is a </a:t>
            </a:r>
            <a:r>
              <a:rPr lang="en" b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passive entity 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stored on disk (executable file), process is </a:t>
            </a:r>
            <a:r>
              <a:rPr lang="en" b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active entity</a:t>
            </a:r>
            <a:endParaRPr b="1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Program becomes process when executable file loaded into memory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Executable program can be loaded into memory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By mouse click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By command line 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One program can be several processes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575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Char char="-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Consider a program being executed by multiple users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1" name="Google Shape;7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Process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62" y="1144827"/>
            <a:ext cx="2271575" cy="22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3042438" y="1144825"/>
            <a:ext cx="5330700" cy="22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214313" dist="76200" dir="2064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363" y="1830071"/>
            <a:ext cx="901049" cy="9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1688" y="1482908"/>
            <a:ext cx="1595450" cy="15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1413" y="1482886"/>
            <a:ext cx="1595450" cy="15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3138638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4821150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6850875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HDD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9025" y="11448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 txBox="1"/>
          <p:nvPr/>
        </p:nvSpPr>
        <p:spPr>
          <a:xfrm>
            <a:off x="870150" y="3616525"/>
            <a:ext cx="7503000" cy="10467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program is written using programming languages like Java, Python etc.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program is also referred to as source code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After compilation of source code a byte code (executable) is created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Bytecode is initially placed on disk like HDD/SSD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Process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62" y="1144827"/>
            <a:ext cx="2271575" cy="22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3042438" y="1144825"/>
            <a:ext cx="5330700" cy="22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214313" dist="76200" dir="2064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363" y="1830071"/>
            <a:ext cx="901049" cy="9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1688" y="1482908"/>
            <a:ext cx="1595450" cy="15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1413" y="1482886"/>
            <a:ext cx="1595450" cy="15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3138638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4821150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6850875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HDD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29300" y="15494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 txBox="1"/>
          <p:nvPr/>
        </p:nvSpPr>
        <p:spPr>
          <a:xfrm>
            <a:off x="870150" y="3616525"/>
            <a:ext cx="7503000" cy="8313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When user run executable file using mouse or command line interface, executable and data related to program brought into 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Memory gets allocated to code and data in RAM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Process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62" y="1144827"/>
            <a:ext cx="2271575" cy="22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3042438" y="1144825"/>
            <a:ext cx="5330700" cy="22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214313" dist="76200" dir="2064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363" y="1830071"/>
            <a:ext cx="901049" cy="9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1688" y="1482908"/>
            <a:ext cx="1595450" cy="15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1413" y="1482886"/>
            <a:ext cx="1595450" cy="15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 txBox="1"/>
          <p:nvPr/>
        </p:nvSpPr>
        <p:spPr>
          <a:xfrm>
            <a:off x="3138638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821150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6850875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HDD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46788" y="142987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870150" y="3616525"/>
            <a:ext cx="7503000" cy="8313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 reads the data and instructions from memory and perform computations.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Read/write happens on main memory.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Process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" name="Google Shape;12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862" y="1144827"/>
            <a:ext cx="2271575" cy="22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3042438" y="1144825"/>
            <a:ext cx="5330700" cy="227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214313" dist="76200" dir="2064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6363" y="1830071"/>
            <a:ext cx="901049" cy="90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1688" y="1482908"/>
            <a:ext cx="1595450" cy="15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1413" y="1482886"/>
            <a:ext cx="1595450" cy="15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3138638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4821150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6850875" y="3018600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HDD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9025" y="11448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870150" y="3616525"/>
            <a:ext cx="7503000" cy="8313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After program execution source code and data related to code is removed from memory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executable remains on HDD/SSD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Proxima Nova"/>
                <a:ea typeface="Proxima Nova"/>
                <a:cs typeface="Proxima Nova"/>
                <a:sym typeface="Proxima Nova"/>
              </a:rPr>
              <a:t>A C program execution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3597" y="903075"/>
            <a:ext cx="2614052" cy="234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369050" y="2651625"/>
            <a:ext cx="5098200" cy="192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500" y="2843425"/>
            <a:ext cx="1689551" cy="132491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5890975" y="2651625"/>
            <a:ext cx="2531100" cy="192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8876" y="2332949"/>
            <a:ext cx="915275" cy="9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/>
        </p:nvSpPr>
        <p:spPr>
          <a:xfrm>
            <a:off x="6548275" y="45634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2309900" y="45634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HDD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717025" y="39914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 program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2278125" y="39914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Compile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3746800" y="39914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Executable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10125" y="30296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2321226">
            <a:off x="5347543" y="3289658"/>
            <a:ext cx="651138" cy="651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8800" y="3029636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30750" y="3138973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07125" y="31389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86274" y="2651622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48263" y="903066"/>
            <a:ext cx="1216500" cy="12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996550">
            <a:off x="6830956" y="1951083"/>
            <a:ext cx="651138" cy="65113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7764775" y="1311225"/>
            <a:ext cx="121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Processor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7207125" y="3991425"/>
            <a:ext cx="952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Data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191350" y="1017725"/>
            <a:ext cx="2706300" cy="1216500"/>
          </a:xfrm>
          <a:prstGeom prst="cloudCallout">
            <a:avLst>
              <a:gd name="adj1" fmla="val -7576"/>
              <a:gd name="adj2" fmla="val 84312"/>
            </a:avLst>
          </a:prstGeom>
          <a:solidFill>
            <a:schemeClr val="lt1"/>
          </a:solidFill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Here it is a Program i.e passive entity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878800" y="1017725"/>
            <a:ext cx="2706300" cy="1216500"/>
          </a:xfrm>
          <a:prstGeom prst="cloudCallout">
            <a:avLst>
              <a:gd name="adj1" fmla="val 28566"/>
              <a:gd name="adj2" fmla="val 90717"/>
            </a:avLst>
          </a:prstGeom>
          <a:solidFill>
            <a:schemeClr val="lt1"/>
          </a:solidFill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Here it is a Process i.e active entity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structure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9" name="Google Shape;16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311700" y="1017725"/>
            <a:ext cx="33708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a,b,c,Result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call_func(int a, int b)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Int x = a*b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Int y = a-b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Return (y+x)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main()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 a,b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Result = Call_func(a,b)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print(Result)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Return 0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13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3992250" y="1541075"/>
            <a:ext cx="50289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A process is program under execution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A process is more than program code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It also includes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Process ID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program counter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registers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state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open files pointers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children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Comfortaa"/>
              <a:buChar char="●"/>
            </a:pPr>
            <a:r>
              <a:rPr lang="en" sz="17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Current directory, etc.</a:t>
            </a:r>
            <a:endParaRPr sz="17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72" name="Google Shape;172;p9"/>
          <p:cNvCxnSpPr/>
          <p:nvPr/>
        </p:nvCxnSpPr>
        <p:spPr>
          <a:xfrm>
            <a:off x="3670475" y="1066275"/>
            <a:ext cx="12000" cy="3673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in Memory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8" name="Google Shape;17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311700" y="1017725"/>
            <a:ext cx="33708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a,b,c,Result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call_func(int a, int b)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Int x = a*b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Int y = a-b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Return (y+x)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main()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 a,b,c,Result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Result = Call_func(a,b)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print(Results)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Return main</a:t>
            </a:r>
            <a:endParaRPr sz="17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AutoNum type="arabicPeriod"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13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334525" y="3698800"/>
            <a:ext cx="1835400" cy="4950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lin ang="5400012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Text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334525" y="3203800"/>
            <a:ext cx="1835400" cy="4950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lin ang="5400012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Data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334525" y="2708800"/>
            <a:ext cx="1835400" cy="4950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334525" y="1493250"/>
            <a:ext cx="1835400" cy="1269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334525" y="998250"/>
            <a:ext cx="1835400" cy="4950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3738375" y="3747400"/>
            <a:ext cx="499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3404850" y="949700"/>
            <a:ext cx="833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Max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67050" y="998250"/>
            <a:ext cx="2178000" cy="17640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04775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stack contains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Temporary data such as function parameters, return address, and local variables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563625" y="1171875"/>
            <a:ext cx="2178000" cy="16461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04775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Heap is the memory which is dynamically allocated during process runtime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654300" y="1319900"/>
            <a:ext cx="2178000" cy="16461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04775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Data section which contains global variables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770475" y="1493250"/>
            <a:ext cx="2178000" cy="16461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04775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program code is stored in a text section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59800" y="1493250"/>
            <a:ext cx="217200" cy="495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 rot="10800000">
            <a:off x="5059800" y="2267238"/>
            <a:ext cx="217200" cy="495000"/>
          </a:xfrm>
          <a:prstGeom prst="down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339975" y="3268175"/>
            <a:ext cx="2625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program counter register keep track current instruction being executed and processor registers holds the variable values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latin typeface="Comfortaa"/>
                <a:ea typeface="Comfortaa"/>
                <a:cs typeface="Comfortaa"/>
                <a:sym typeface="Comfortaa"/>
              </a:rPr>
              <a:t>Memory layout of a C program</a:t>
            </a:r>
            <a:endParaRPr sz="25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9" name="Google Shape;19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808950" y="1303975"/>
            <a:ext cx="2088900" cy="33594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15100" y="1303975"/>
            <a:ext cx="2076600" cy="393600"/>
          </a:xfrm>
          <a:prstGeom prst="rect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15100" y="1697575"/>
            <a:ext cx="2076600" cy="3936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15100" y="3081525"/>
            <a:ext cx="2076600" cy="393600"/>
          </a:xfrm>
          <a:prstGeom prst="rect">
            <a:avLst/>
          </a:prstGeom>
          <a:gradFill>
            <a:gsLst>
              <a:gs pos="0">
                <a:srgbClr val="878787"/>
              </a:gs>
              <a:gs pos="100000">
                <a:srgbClr val="464646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15100" y="3475125"/>
            <a:ext cx="2076600" cy="393600"/>
          </a:xfrm>
          <a:prstGeom prst="rect">
            <a:avLst/>
          </a:prstGeom>
          <a:gradFill>
            <a:gsLst>
              <a:gs pos="0">
                <a:srgbClr val="4E29AA"/>
              </a:gs>
              <a:gs pos="100000">
                <a:srgbClr val="1E123D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15100" y="3868725"/>
            <a:ext cx="2076600" cy="3936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225900" y="921175"/>
            <a:ext cx="36624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#include&lt;stdio.h&gt;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#include&lt;stdlib.h&gt;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x;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y = 15;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main(int argc, int *argv[])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*value;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 i;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= (int *)malloc(sizeof(int) * 5);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for(int i = 0; i &lt; 5; i++)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values[i] = i;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return 0;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1213500" y="4262325"/>
            <a:ext cx="127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Text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917700" y="3865425"/>
            <a:ext cx="187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Initialized data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917700" y="3471825"/>
            <a:ext cx="187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uninitialized data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917700" y="3078225"/>
            <a:ext cx="187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Heap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917700" y="1694275"/>
            <a:ext cx="187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Stack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917700" y="1300675"/>
            <a:ext cx="187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Argc, argv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738650" y="2094475"/>
            <a:ext cx="229500" cy="400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 rot="10800000">
            <a:off x="2023850" y="2678025"/>
            <a:ext cx="229500" cy="400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897750" y="1654125"/>
            <a:ext cx="1436800" cy="2111100"/>
          </a:xfrm>
          <a:custGeom>
            <a:avLst/>
            <a:gdLst/>
            <a:ahLst/>
            <a:cxnLst/>
            <a:rect l="l" t="t" r="r" b="b"/>
            <a:pathLst>
              <a:path w="57472" h="84444" extrusionOk="0">
                <a:moveTo>
                  <a:pt x="57472" y="0"/>
                </a:moveTo>
                <a:cubicBezTo>
                  <a:pt x="50630" y="2173"/>
                  <a:pt x="23906" y="-161"/>
                  <a:pt x="16420" y="13040"/>
                </a:cubicBezTo>
                <a:cubicBezTo>
                  <a:pt x="8934" y="26241"/>
                  <a:pt x="15294" y="68017"/>
                  <a:pt x="12557" y="79205"/>
                </a:cubicBezTo>
                <a:cubicBezTo>
                  <a:pt x="9820" y="90394"/>
                  <a:pt x="2093" y="80010"/>
                  <a:pt x="0" y="80171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2921900" y="1883525"/>
            <a:ext cx="1388500" cy="2280100"/>
          </a:xfrm>
          <a:custGeom>
            <a:avLst/>
            <a:gdLst/>
            <a:ahLst/>
            <a:cxnLst/>
            <a:rect l="l" t="t" r="r" b="b"/>
            <a:pathLst>
              <a:path w="55540" h="91204" extrusionOk="0">
                <a:moveTo>
                  <a:pt x="55540" y="0"/>
                </a:moveTo>
                <a:cubicBezTo>
                  <a:pt x="51596" y="3622"/>
                  <a:pt x="37751" y="7406"/>
                  <a:pt x="31875" y="21734"/>
                </a:cubicBezTo>
                <a:cubicBezTo>
                  <a:pt x="25999" y="36062"/>
                  <a:pt x="25597" y="75020"/>
                  <a:pt x="20284" y="85967"/>
                </a:cubicBezTo>
                <a:cubicBezTo>
                  <a:pt x="14972" y="96914"/>
                  <a:pt x="3381" y="87175"/>
                  <a:pt x="0" y="87416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2909825" y="3090925"/>
            <a:ext cx="1424725" cy="156975"/>
          </a:xfrm>
          <a:custGeom>
            <a:avLst/>
            <a:gdLst/>
            <a:ahLst/>
            <a:cxnLst/>
            <a:rect l="l" t="t" r="r" b="b"/>
            <a:pathLst>
              <a:path w="56989" h="6279" extrusionOk="0">
                <a:moveTo>
                  <a:pt x="56989" y="0"/>
                </a:moveTo>
                <a:cubicBezTo>
                  <a:pt x="47491" y="1047"/>
                  <a:pt x="9498" y="5233"/>
                  <a:pt x="0" y="6279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117225" y="2523450"/>
            <a:ext cx="193200" cy="393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2885675" y="1807881"/>
            <a:ext cx="1243625" cy="908750"/>
          </a:xfrm>
          <a:custGeom>
            <a:avLst/>
            <a:gdLst/>
            <a:ahLst/>
            <a:cxnLst/>
            <a:rect l="l" t="t" r="r" b="b"/>
            <a:pathLst>
              <a:path w="49745" h="36350" extrusionOk="0">
                <a:moveTo>
                  <a:pt x="49745" y="36350"/>
                </a:moveTo>
                <a:cubicBezTo>
                  <a:pt x="47572" y="30796"/>
                  <a:pt x="44996" y="8821"/>
                  <a:pt x="36705" y="3026"/>
                </a:cubicBezTo>
                <a:cubicBezTo>
                  <a:pt x="28414" y="-2769"/>
                  <a:pt x="6118" y="1819"/>
                  <a:pt x="0" y="1578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/>
          <p:nvPr/>
        </p:nvSpPr>
        <p:spPr>
          <a:xfrm rot="5400000">
            <a:off x="5782675" y="1126975"/>
            <a:ext cx="229500" cy="15348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921900" y="1390452"/>
            <a:ext cx="3027025" cy="396500"/>
          </a:xfrm>
          <a:custGeom>
            <a:avLst/>
            <a:gdLst/>
            <a:ahLst/>
            <a:cxnLst/>
            <a:rect l="l" t="t" r="r" b="b"/>
            <a:pathLst>
              <a:path w="121081" h="15860" extrusionOk="0">
                <a:moveTo>
                  <a:pt x="119290" y="15860"/>
                </a:moveTo>
                <a:cubicBezTo>
                  <a:pt x="117600" y="13365"/>
                  <a:pt x="129030" y="3222"/>
                  <a:pt x="109148" y="888"/>
                </a:cubicBezTo>
                <a:cubicBezTo>
                  <a:pt x="89266" y="-1446"/>
                  <a:pt x="18191" y="1693"/>
                  <a:pt x="0" y="1854"/>
                </a:cubicBez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7" name="Google Shape;22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1118050" y="1337550"/>
            <a:ext cx="1353300" cy="5727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118050" y="2001463"/>
            <a:ext cx="1353300" cy="5727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1031650" y="2665400"/>
            <a:ext cx="1526100" cy="6333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04100" y="4114450"/>
            <a:ext cx="1981200" cy="6333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Terminated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804100" y="33899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2861500" y="1400700"/>
            <a:ext cx="6087000" cy="4464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Process is being created</a:t>
            </a:r>
            <a:endParaRPr sz="17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2861500" y="2064625"/>
            <a:ext cx="6087000" cy="4464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process is waiting to be assigned to processor</a:t>
            </a:r>
            <a:endParaRPr sz="17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2861500" y="2727275"/>
            <a:ext cx="6087000" cy="446400"/>
          </a:xfrm>
          <a:prstGeom prst="rect">
            <a:avLst/>
          </a:prstGeom>
          <a:noFill/>
          <a:ln w="28575" cap="flat" cmpd="sng">
            <a:solidFill>
              <a:srgbClr val="674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Instructions are being executed</a:t>
            </a:r>
            <a:endParaRPr sz="17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2918350" y="3483375"/>
            <a:ext cx="6087000" cy="446400"/>
          </a:xfrm>
          <a:prstGeom prst="rect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process is waiting for some event to occur</a:t>
            </a:r>
            <a:endParaRPr sz="17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2918350" y="4190650"/>
            <a:ext cx="6087000" cy="446400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process completes its execution</a:t>
            </a:r>
            <a:endParaRPr sz="17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3" name="Google Shape;2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928350" y="1227763"/>
            <a:ext cx="1704600" cy="5025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Terminated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49" name="Google Shape;249;p13"/>
          <p:cNvCxnSpPr>
            <a:stCxn id="244" idx="6"/>
            <a:endCxn id="245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0" name="Google Shape;250;p13"/>
          <p:cNvCxnSpPr>
            <a:stCxn id="245" idx="4"/>
            <a:endCxn id="246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1" name="Google Shape;251;p13"/>
          <p:cNvCxnSpPr>
            <a:stCxn id="246" idx="0"/>
            <a:endCxn id="245" idx="0"/>
          </p:cNvCxnSpPr>
          <p:nvPr/>
        </p:nvCxnSpPr>
        <p:spPr>
          <a:xfrm rot="5400000">
            <a:off x="4632550" y="3309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2" name="Google Shape;252;p13"/>
          <p:cNvCxnSpPr>
            <a:stCxn id="246" idx="6"/>
            <a:endCxn id="247" idx="4"/>
          </p:cNvCxnSpPr>
          <p:nvPr/>
        </p:nvCxnSpPr>
        <p:spPr>
          <a:xfrm rot="10800000" flipH="1">
            <a:off x="6851050" y="1730150"/>
            <a:ext cx="929700" cy="3417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3" name="Google Shape;253;p13"/>
          <p:cNvCxnSpPr>
            <a:stCxn id="246" idx="5"/>
            <a:endCxn id="248" idx="6"/>
          </p:cNvCxnSpPr>
          <p:nvPr/>
        </p:nvCxnSpPr>
        <p:spPr>
          <a:xfrm rot="5400000">
            <a:off x="5633900" y="2159911"/>
            <a:ext cx="948900" cy="10914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4" name="Google Shape;254;p13"/>
          <p:cNvCxnSpPr>
            <a:stCxn id="248" idx="2"/>
            <a:endCxn id="245" idx="3"/>
          </p:cNvCxnSpPr>
          <p:nvPr/>
        </p:nvCxnSpPr>
        <p:spPr>
          <a:xfrm rot="10800000">
            <a:off x="2703900" y="2261575"/>
            <a:ext cx="877500" cy="9186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p13"/>
          <p:cNvSpPr txBox="1"/>
          <p:nvPr/>
        </p:nvSpPr>
        <p:spPr>
          <a:xfrm>
            <a:off x="1560000" y="2612250"/>
            <a:ext cx="162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event completion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6347475" y="27050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or event wait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3834525" y="12865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Interrupt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6851100" y="2106963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6" name="Google Shape;2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67" name="Google Shape;267;p14"/>
          <p:cNvSpPr txBox="1"/>
          <p:nvPr/>
        </p:nvSpPr>
        <p:spPr>
          <a:xfrm>
            <a:off x="584650" y="3616525"/>
            <a:ext cx="7118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When user clicks or run executable, data and source code of the program copied from disk into main memory after memory gets allocated.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process is just created and not assigned with any CPU resources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4" name="Google Shape;27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75" name="Google Shape;275;p15"/>
          <p:cNvSpPr txBox="1"/>
          <p:nvPr/>
        </p:nvSpPr>
        <p:spPr>
          <a:xfrm>
            <a:off x="584650" y="3616525"/>
            <a:ext cx="7118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After allocation of memory process is ready to execute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is placed into ready queue by a </a:t>
            </a:r>
            <a:r>
              <a:rPr lang="en" sz="1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long term scheduler</a:t>
            </a:r>
            <a:endParaRPr sz="14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process will get chance to CPU resource based on </a:t>
            </a:r>
            <a:r>
              <a:rPr lang="en" sz="1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short term scheduler</a:t>
            </a:r>
            <a:endParaRPr sz="14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may not get CPU for execution immediately as other process running on CPU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78" name="Google Shape;278;p15"/>
          <p:cNvCxnSpPr>
            <a:stCxn id="276" idx="6"/>
            <a:endCxn id="277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9" name="Google Shape;279;p15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5" name="Google Shape;28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584650" y="4039800"/>
            <a:ext cx="711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When scheduler (short term) decides to execute the process, process moves to running state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 running state process got the CPU and its executing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290" name="Google Shape;290;p16"/>
          <p:cNvCxnSpPr>
            <a:stCxn id="287" idx="6"/>
            <a:endCxn id="288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1" name="Google Shape;291;p16"/>
          <p:cNvCxnSpPr>
            <a:stCxn id="288" idx="4"/>
            <a:endCxn id="289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2" name="Google Shape;292;p16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99" name="Google Shape;2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04" name="Google Shape;304;p17"/>
          <p:cNvCxnSpPr>
            <a:stCxn id="300" idx="6"/>
            <a:endCxn id="301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5" name="Google Shape;305;p17"/>
          <p:cNvCxnSpPr>
            <a:stCxn id="301" idx="4"/>
            <a:endCxn id="302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6" name="Google Shape;306;p17"/>
          <p:cNvSpPr txBox="1"/>
          <p:nvPr/>
        </p:nvSpPr>
        <p:spPr>
          <a:xfrm>
            <a:off x="6347475" y="27050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or event wait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09" name="Google Shape;309;p17"/>
          <p:cNvCxnSpPr/>
          <p:nvPr/>
        </p:nvCxnSpPr>
        <p:spPr>
          <a:xfrm flipH="1">
            <a:off x="5562650" y="2231161"/>
            <a:ext cx="1091400" cy="9489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p17"/>
          <p:cNvSpPr txBox="1"/>
          <p:nvPr/>
        </p:nvSpPr>
        <p:spPr>
          <a:xfrm>
            <a:off x="584650" y="3887400"/>
            <a:ext cx="71184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During process execution process may expect IO operation such as read input from the user from keyboard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Users are much slower as compared to processor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should be kept in waiting state so that other processes get chance for CPU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6" name="Google Shape;31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21" name="Google Shape;321;p18"/>
          <p:cNvCxnSpPr>
            <a:stCxn id="317" idx="6"/>
            <a:endCxn id="318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2" name="Google Shape;322;p18"/>
          <p:cNvCxnSpPr>
            <a:stCxn id="318" idx="4"/>
            <a:endCxn id="319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3" name="Google Shape;323;p18"/>
          <p:cNvSpPr txBox="1"/>
          <p:nvPr/>
        </p:nvSpPr>
        <p:spPr>
          <a:xfrm>
            <a:off x="6347475" y="27050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or event wait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26" name="Google Shape;326;p18"/>
          <p:cNvCxnSpPr/>
          <p:nvPr/>
        </p:nvCxnSpPr>
        <p:spPr>
          <a:xfrm flipH="1">
            <a:off x="5562650" y="2231161"/>
            <a:ext cx="1091400" cy="9489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7" name="Google Shape;327;p18"/>
          <p:cNvSpPr txBox="1"/>
          <p:nvPr/>
        </p:nvSpPr>
        <p:spPr>
          <a:xfrm>
            <a:off x="584650" y="3887400"/>
            <a:ext cx="711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On completion of IO, process will again kept in ready state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Short term scheduler takes decision to keep process into running state again.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1560000" y="2612250"/>
            <a:ext cx="162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event completion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30" name="Google Shape;330;p18"/>
          <p:cNvCxnSpPr/>
          <p:nvPr/>
        </p:nvCxnSpPr>
        <p:spPr>
          <a:xfrm rot="5400000" flipH="1">
            <a:off x="2683350" y="2282125"/>
            <a:ext cx="918600" cy="8775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6" name="Google Shape;33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41" name="Google Shape;341;p19"/>
          <p:cNvCxnSpPr>
            <a:stCxn id="337" idx="6"/>
            <a:endCxn id="338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2" name="Google Shape;342;p19"/>
          <p:cNvCxnSpPr>
            <a:stCxn id="338" idx="4"/>
            <a:endCxn id="339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3" name="Google Shape;343;p19"/>
          <p:cNvSpPr txBox="1"/>
          <p:nvPr/>
        </p:nvSpPr>
        <p:spPr>
          <a:xfrm>
            <a:off x="6347475" y="27050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or event wait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46" name="Google Shape;346;p19"/>
          <p:cNvCxnSpPr/>
          <p:nvPr/>
        </p:nvCxnSpPr>
        <p:spPr>
          <a:xfrm flipH="1">
            <a:off x="5562650" y="2231161"/>
            <a:ext cx="1091400" cy="9489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7" name="Google Shape;347;p19"/>
          <p:cNvSpPr txBox="1"/>
          <p:nvPr/>
        </p:nvSpPr>
        <p:spPr>
          <a:xfrm>
            <a:off x="584650" y="3887400"/>
            <a:ext cx="711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Sometimes process is given with time quanta to execute on CPU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After completion of time quanta process gets interrupted and removed from running state to waiting state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1560000" y="2612250"/>
            <a:ext cx="162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event completion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50" name="Google Shape;350;p19"/>
          <p:cNvCxnSpPr/>
          <p:nvPr/>
        </p:nvCxnSpPr>
        <p:spPr>
          <a:xfrm rot="5400000" flipH="1">
            <a:off x="2683350" y="2282125"/>
            <a:ext cx="918600" cy="8775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1" name="Google Shape;351;p19"/>
          <p:cNvCxnSpPr/>
          <p:nvPr/>
        </p:nvCxnSpPr>
        <p:spPr>
          <a:xfrm flipH="1">
            <a:off x="3116950" y="1846550"/>
            <a:ext cx="3061500" cy="30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2" name="Google Shape;352;p19"/>
          <p:cNvSpPr txBox="1"/>
          <p:nvPr/>
        </p:nvSpPr>
        <p:spPr>
          <a:xfrm>
            <a:off x="3834525" y="12865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Interrupt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state diagram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58" name="Google Shape;35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1006750" y="1278925"/>
            <a:ext cx="931200" cy="400200"/>
          </a:xfrm>
          <a:prstGeom prst="ellipse">
            <a:avLst/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New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2532975" y="1876850"/>
            <a:ext cx="1167900" cy="4506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5505850" y="1846550"/>
            <a:ext cx="1345200" cy="4506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Running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63" name="Google Shape;363;p20"/>
          <p:cNvCxnSpPr>
            <a:stCxn id="359" idx="6"/>
            <a:endCxn id="360" idx="0"/>
          </p:cNvCxnSpPr>
          <p:nvPr/>
        </p:nvCxnSpPr>
        <p:spPr>
          <a:xfrm>
            <a:off x="1937950" y="1479025"/>
            <a:ext cx="1179000" cy="3978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4" name="Google Shape;364;p20"/>
          <p:cNvCxnSpPr>
            <a:stCxn id="360" idx="4"/>
            <a:endCxn id="361" idx="4"/>
          </p:cNvCxnSpPr>
          <p:nvPr/>
        </p:nvCxnSpPr>
        <p:spPr>
          <a:xfrm rot="-5400000">
            <a:off x="4632525" y="781550"/>
            <a:ext cx="30300" cy="3061500"/>
          </a:xfrm>
          <a:prstGeom prst="curvedConnector3">
            <a:avLst>
              <a:gd name="adj1" fmla="val -78589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5" name="Google Shape;365;p20"/>
          <p:cNvSpPr txBox="1"/>
          <p:nvPr/>
        </p:nvSpPr>
        <p:spPr>
          <a:xfrm>
            <a:off x="6347475" y="27050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or event wait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3391863" y="2467475"/>
            <a:ext cx="251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Scheduler dispatch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1889650" y="1207150"/>
            <a:ext cx="14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Admitted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68" name="Google Shape;368;p20"/>
          <p:cNvCxnSpPr/>
          <p:nvPr/>
        </p:nvCxnSpPr>
        <p:spPr>
          <a:xfrm flipH="1">
            <a:off x="5562650" y="2231161"/>
            <a:ext cx="1091400" cy="9489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9" name="Google Shape;369;p20"/>
          <p:cNvSpPr txBox="1"/>
          <p:nvPr/>
        </p:nvSpPr>
        <p:spPr>
          <a:xfrm>
            <a:off x="584650" y="3887400"/>
            <a:ext cx="711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After completion of process execution it moves to terminated state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3581400" y="2863525"/>
            <a:ext cx="1981200" cy="6333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Waiting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1560000" y="2612250"/>
            <a:ext cx="1626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IO event completion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72" name="Google Shape;372;p20"/>
          <p:cNvCxnSpPr/>
          <p:nvPr/>
        </p:nvCxnSpPr>
        <p:spPr>
          <a:xfrm rot="5400000" flipH="1">
            <a:off x="2683350" y="2282125"/>
            <a:ext cx="918600" cy="8775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3" name="Google Shape;373;p20"/>
          <p:cNvCxnSpPr/>
          <p:nvPr/>
        </p:nvCxnSpPr>
        <p:spPr>
          <a:xfrm flipH="1">
            <a:off x="3116950" y="1846550"/>
            <a:ext cx="3061500" cy="30300"/>
          </a:xfrm>
          <a:prstGeom prst="curvedConnector3">
            <a:avLst>
              <a:gd name="adj1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4" name="Google Shape;374;p20"/>
          <p:cNvSpPr txBox="1"/>
          <p:nvPr/>
        </p:nvSpPr>
        <p:spPr>
          <a:xfrm>
            <a:off x="3834525" y="1286575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Interrupt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928350" y="1227763"/>
            <a:ext cx="1704600" cy="5025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8760000" algn="bl" rotWithShape="0">
              <a:schemeClr val="accent3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Terminated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376" name="Google Shape;376;p20"/>
          <p:cNvCxnSpPr>
            <a:endCxn id="375" idx="4"/>
          </p:cNvCxnSpPr>
          <p:nvPr/>
        </p:nvCxnSpPr>
        <p:spPr>
          <a:xfrm rot="10800000" flipH="1">
            <a:off x="6850950" y="1730263"/>
            <a:ext cx="929700" cy="3417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7" name="Google Shape;377;p20"/>
          <p:cNvSpPr txBox="1"/>
          <p:nvPr/>
        </p:nvSpPr>
        <p:spPr>
          <a:xfrm>
            <a:off x="6851100" y="2106963"/>
            <a:ext cx="1626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Exit</a:t>
            </a:r>
            <a:endParaRPr sz="13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Control Block (PCB)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83" name="Google Shape;3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384" name="Google Shape;384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Every process has Process Control Block (PCB) and Information associated with a process is stored in PCB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Process state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Ready, running, terminated, etc.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Process ID - 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Unique identification number assigned when process gets created.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Program counter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Location of the next instruction to be executed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CPU registers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Contents of all process centric registers.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CPU scheduling information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Priorities, scheduling queue pointers, etc.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Memory management information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Memory allocation to process in code, data, stack and heap segment and their limits. 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Accounting information - 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CPU used, clock time elapsed since start, time limits.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432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mfortaa"/>
              <a:buAutoNum type="arabicPeriod"/>
            </a:pPr>
            <a:r>
              <a:rPr lang="en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I/O status information -</a:t>
            </a: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I/O devices allocated to process, list of open files, etc.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representation in Linux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0" name="Google Shape;39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391" name="Google Shape;39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Represented by C structure </a:t>
            </a:r>
            <a:r>
              <a:rPr lang="en">
                <a:solidFill>
                  <a:srgbClr val="000000"/>
                </a:solidFill>
                <a:latin typeface="Oswald Light"/>
                <a:ea typeface="Oswald Light"/>
                <a:cs typeface="Oswald Light"/>
                <a:sym typeface="Oswald Light"/>
              </a:rPr>
              <a:t>task_struct</a:t>
            </a:r>
            <a:endParaRPr>
              <a:solidFill>
                <a:srgbClr val="000000"/>
              </a:solidFill>
              <a:latin typeface="Oswald Light"/>
              <a:ea typeface="Oswald Light"/>
              <a:cs typeface="Oswald Light"/>
              <a:sym typeface="Oswald Ligh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state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/*denote state of the process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sched entity se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/*denote scheduling information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task </a:t>
            </a: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/*denotes this process’s parent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list head children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/*denotes this process’s children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files </a:t>
            </a: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files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 denotes list of open files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mm </a:t>
            </a: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mm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 denotes address space of this process */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task </a:t>
            </a:r>
            <a:r>
              <a:rPr lang="en" sz="1250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p_opptr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p_pptr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p_cptr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p_ysptr</a:t>
            </a:r>
            <a:r>
              <a:rPr lang="en" sz="1250">
                <a:solidFill>
                  <a:srgbClr val="666600"/>
                </a:solidFill>
                <a:latin typeface="Courier New"/>
                <a:ea typeface="Courier New"/>
                <a:cs typeface="Courier New"/>
                <a:sym typeface="Courier New"/>
              </a:rPr>
              <a:t>,*</a:t>
            </a:r>
            <a:r>
              <a:rPr lang="en" sz="125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p_osptr</a:t>
            </a:r>
            <a:endParaRPr sz="125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ts val="1800"/>
              <a:buNone/>
            </a:pPr>
            <a:r>
              <a:rPr lang="en" sz="125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/*denotes, op = original parent, p = parent, c = youngest child, ys = youngest sibling, os = older sibling */</a:t>
            </a:r>
            <a:endParaRPr sz="1900">
              <a:solidFill>
                <a:srgbClr val="000000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representation in Linux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397" name="Google Shape;39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398" name="Google Shape;398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sz="20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Table</a:t>
            </a:r>
            <a:endParaRPr sz="21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aphicFrame>
        <p:nvGraphicFramePr>
          <p:cNvPr id="399" name="Google Shape;399;p23"/>
          <p:cNvGraphicFramePr/>
          <p:nvPr/>
        </p:nvGraphicFramePr>
        <p:xfrm>
          <a:off x="638125" y="175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{BEC44F84-91B3-428D-9E15-672F8DD466A0}</a:tableStyleId>
              </a:tblPr>
              <a:tblGrid>
                <a:gridCol w="51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PID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PCB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1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2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3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u="none" strike="noStrike" cap="none">
                          <a:latin typeface="Comfortaa"/>
                          <a:ea typeface="Comfortaa"/>
                          <a:cs typeface="Comfortaa"/>
                          <a:sym typeface="Comfortaa"/>
                        </a:rPr>
                        <a:t>4</a:t>
                      </a: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latin typeface="Comfortaa"/>
                        <a:ea typeface="Comfortaa"/>
                        <a:cs typeface="Comfortaa"/>
                        <a:sym typeface="Comforta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0" name="Google Shape;400;p23"/>
          <p:cNvGraphicFramePr/>
          <p:nvPr/>
        </p:nvGraphicFramePr>
        <p:xfrm>
          <a:off x="2873975" y="29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{BEC44F84-91B3-428D-9E15-672F8DD466A0}</a:tableStyleId>
              </a:tblPr>
              <a:tblGrid>
                <a:gridCol w="169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PID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Status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1" name="Google Shape;401;p23"/>
          <p:cNvGraphicFramePr/>
          <p:nvPr/>
        </p:nvGraphicFramePr>
        <p:xfrm>
          <a:off x="5087200" y="29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{BEC44F84-91B3-428D-9E15-672F8DD466A0}</a:tableStyleId>
              </a:tblPr>
              <a:tblGrid>
                <a:gridCol w="1698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PID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PC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Status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02" name="Google Shape;402;p23"/>
          <p:cNvCxnSpPr/>
          <p:nvPr/>
        </p:nvCxnSpPr>
        <p:spPr>
          <a:xfrm>
            <a:off x="1937975" y="2333775"/>
            <a:ext cx="1774200" cy="614100"/>
          </a:xfrm>
          <a:prstGeom prst="bentConnector3">
            <a:avLst>
              <a:gd name="adj1" fmla="val 10000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" name="Google Shape;403;p23"/>
          <p:cNvCxnSpPr/>
          <p:nvPr/>
        </p:nvCxnSpPr>
        <p:spPr>
          <a:xfrm>
            <a:off x="1978925" y="2784150"/>
            <a:ext cx="3985200" cy="150000"/>
          </a:xfrm>
          <a:prstGeom prst="bentConnector3">
            <a:avLst>
              <a:gd name="adj1" fmla="val 10068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4" name="Google Shape;404;p23"/>
          <p:cNvSpPr txBox="1"/>
          <p:nvPr/>
        </p:nvSpPr>
        <p:spPr>
          <a:xfrm>
            <a:off x="7014950" y="2934150"/>
            <a:ext cx="80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PCB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1937975" y="4041900"/>
            <a:ext cx="80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PCB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Scheduling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1" name="Google Shape;4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412" name="Google Shape;412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At any point of time number of processes are ready for the execution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Operating system has to decide which process to be executed next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main objective of process scheduling is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to maximize CPU utilization.</a:t>
            </a:r>
            <a:endParaRPr b="1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“gives” up the CPU under two conditions,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IO request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and after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N units of time have elapsed</a:t>
            </a:r>
            <a:endParaRPr b="1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Once process “gives” up the CPU it is added to the ready queue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Process scheduler selects among available processes in the ready queue for the next execution on CPU.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Scheduling Queues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19" name="Google Shape;41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OS maintains scheduling queues of process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Job queue - 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of all processes in the system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Ready queue -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set of processes residing in the main memory, ready and waiting to execute.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Device queue - 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of processes waiting for an IO device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  Processes migrate among various queues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Scheduling Queues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5" name="Google Shape;42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26" name="Google Shape;426;p26"/>
          <p:cNvSpPr/>
          <p:nvPr/>
        </p:nvSpPr>
        <p:spPr>
          <a:xfrm>
            <a:off x="2357375" y="1617900"/>
            <a:ext cx="1931700" cy="2898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Ready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6770250" y="1476450"/>
            <a:ext cx="941700" cy="572700"/>
          </a:xfrm>
          <a:prstGeom prst="ellipse">
            <a:avLst/>
          </a:prstGeom>
          <a:gradFill>
            <a:gsLst>
              <a:gs pos="0">
                <a:srgbClr val="FFC002"/>
              </a:gs>
              <a:gs pos="100000">
                <a:srgbClr val="795B04"/>
              </a:gs>
            </a:gsLst>
            <a:lin ang="5400012" scaled="0"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6"/>
          <p:cNvCxnSpPr/>
          <p:nvPr/>
        </p:nvCxnSpPr>
        <p:spPr>
          <a:xfrm rot="10800000" flipH="1">
            <a:off x="7655816" y="1611895"/>
            <a:ext cx="1297200" cy="14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9" name="Google Shape;429;p26"/>
          <p:cNvSpPr/>
          <p:nvPr/>
        </p:nvSpPr>
        <p:spPr>
          <a:xfrm>
            <a:off x="5063275" y="2507875"/>
            <a:ext cx="1931700" cy="289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I/O request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5063275" y="3070775"/>
            <a:ext cx="1931700" cy="289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Time slice expired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5063275" y="3633675"/>
            <a:ext cx="1931700" cy="2898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Fork a child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063275" y="4287825"/>
            <a:ext cx="1931700" cy="466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Wait for an interrupt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2683375" y="2507875"/>
            <a:ext cx="1605600" cy="2898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I/O Queue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1705375" y="2455975"/>
            <a:ext cx="719700" cy="3936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25C"/>
              </a:gs>
            </a:gsLst>
            <a:lin ang="5400012" scaled="0"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I/O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26"/>
          <p:cNvCxnSpPr>
            <a:endCxn id="429" idx="3"/>
          </p:cNvCxnSpPr>
          <p:nvPr/>
        </p:nvCxnSpPr>
        <p:spPr>
          <a:xfrm rot="5400000">
            <a:off x="6914575" y="1855375"/>
            <a:ext cx="877800" cy="7170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6" name="Google Shape;436;p26"/>
          <p:cNvCxnSpPr>
            <a:stCxn id="426" idx="3"/>
            <a:endCxn id="427" idx="2"/>
          </p:cNvCxnSpPr>
          <p:nvPr/>
        </p:nvCxnSpPr>
        <p:spPr>
          <a:xfrm>
            <a:off x="4289075" y="1762800"/>
            <a:ext cx="2481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7" name="Google Shape;437;p26"/>
          <p:cNvCxnSpPr>
            <a:stCxn id="432" idx="1"/>
            <a:endCxn id="426" idx="1"/>
          </p:cNvCxnSpPr>
          <p:nvPr/>
        </p:nvCxnSpPr>
        <p:spPr>
          <a:xfrm rot="10800000">
            <a:off x="2357275" y="1762725"/>
            <a:ext cx="2706000" cy="2758500"/>
          </a:xfrm>
          <a:prstGeom prst="bentConnector3">
            <a:avLst>
              <a:gd name="adj1" fmla="val 143739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26"/>
          <p:cNvCxnSpPr>
            <a:stCxn id="431" idx="1"/>
          </p:cNvCxnSpPr>
          <p:nvPr/>
        </p:nvCxnSpPr>
        <p:spPr>
          <a:xfrm rot="10800000">
            <a:off x="1174075" y="3778575"/>
            <a:ext cx="3889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26"/>
          <p:cNvCxnSpPr>
            <a:stCxn id="430" idx="1"/>
          </p:cNvCxnSpPr>
          <p:nvPr/>
        </p:nvCxnSpPr>
        <p:spPr>
          <a:xfrm rot="10800000">
            <a:off x="1162075" y="3215675"/>
            <a:ext cx="3901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p26"/>
          <p:cNvCxnSpPr>
            <a:stCxn id="429" idx="1"/>
            <a:endCxn id="433" idx="3"/>
          </p:cNvCxnSpPr>
          <p:nvPr/>
        </p:nvCxnSpPr>
        <p:spPr>
          <a:xfrm rot="10800000">
            <a:off x="4288975" y="2652775"/>
            <a:ext cx="774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1" name="Google Shape;441;p26"/>
          <p:cNvCxnSpPr>
            <a:stCxn id="433" idx="1"/>
            <a:endCxn id="434" idx="6"/>
          </p:cNvCxnSpPr>
          <p:nvPr/>
        </p:nvCxnSpPr>
        <p:spPr>
          <a:xfrm rot="10800000">
            <a:off x="2425075" y="2652775"/>
            <a:ext cx="258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2" name="Google Shape;442;p26"/>
          <p:cNvCxnSpPr>
            <a:stCxn id="434" idx="2"/>
          </p:cNvCxnSpPr>
          <p:nvPr/>
        </p:nvCxnSpPr>
        <p:spPr>
          <a:xfrm rot="10800000">
            <a:off x="1186075" y="2652775"/>
            <a:ext cx="519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Google Shape;443;p26"/>
          <p:cNvSpPr txBox="1"/>
          <p:nvPr/>
        </p:nvSpPr>
        <p:spPr>
          <a:xfrm>
            <a:off x="422575" y="1180800"/>
            <a:ext cx="6954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Queuing Diagram</a:t>
            </a:r>
            <a:endParaRPr sz="16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44" name="Google Shape;444;p26"/>
          <p:cNvCxnSpPr>
            <a:stCxn id="427" idx="6"/>
            <a:endCxn id="430" idx="3"/>
          </p:cNvCxnSpPr>
          <p:nvPr/>
        </p:nvCxnSpPr>
        <p:spPr>
          <a:xfrm flipH="1">
            <a:off x="6994950" y="1762800"/>
            <a:ext cx="717000" cy="1452900"/>
          </a:xfrm>
          <a:prstGeom prst="bentConnector3">
            <a:avLst>
              <a:gd name="adj1" fmla="val -46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5" name="Google Shape;445;p26"/>
          <p:cNvCxnSpPr>
            <a:stCxn id="427" idx="6"/>
            <a:endCxn id="431" idx="3"/>
          </p:cNvCxnSpPr>
          <p:nvPr/>
        </p:nvCxnSpPr>
        <p:spPr>
          <a:xfrm flipH="1">
            <a:off x="6994950" y="1762800"/>
            <a:ext cx="717000" cy="2015700"/>
          </a:xfrm>
          <a:prstGeom prst="bentConnector3">
            <a:avLst>
              <a:gd name="adj1" fmla="val -46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46" name="Google Shape;446;p26"/>
          <p:cNvCxnSpPr>
            <a:stCxn id="427" idx="6"/>
            <a:endCxn id="432" idx="3"/>
          </p:cNvCxnSpPr>
          <p:nvPr/>
        </p:nvCxnSpPr>
        <p:spPr>
          <a:xfrm flipH="1">
            <a:off x="6994950" y="1762800"/>
            <a:ext cx="717000" cy="2758500"/>
          </a:xfrm>
          <a:prstGeom prst="bentConnector3">
            <a:avLst>
              <a:gd name="adj1" fmla="val -33211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7" name="Google Shape;447;p26"/>
          <p:cNvSpPr/>
          <p:nvPr/>
        </p:nvSpPr>
        <p:spPr>
          <a:xfrm>
            <a:off x="2552125" y="3492225"/>
            <a:ext cx="1419600" cy="5727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Child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2552125" y="4234875"/>
            <a:ext cx="1419600" cy="572700"/>
          </a:xfrm>
          <a:prstGeom prst="ellipse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Interrupt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occurs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- Context switching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54" name="Google Shape;45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455" name="Google Shape;455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When CPU switches to another process, the system must save the state of the old process and load the saved state of new process via a </a:t>
            </a:r>
            <a:r>
              <a:rPr lang="en" b="1">
                <a:solidFill>
                  <a:srgbClr val="FF0000"/>
                </a:solidFill>
                <a:latin typeface="Comfortaa"/>
                <a:ea typeface="Comfortaa"/>
                <a:cs typeface="Comfortaa"/>
                <a:sym typeface="Comfortaa"/>
              </a:rPr>
              <a:t>context switch</a:t>
            </a:r>
            <a:endParaRPr b="1">
              <a:solidFill>
                <a:srgbClr val="FF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Context of the process is represented by PCB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Context switch time is pure overhead, the system does no useful work while switching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More complex OS and PCB implies more overheads of switch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Time depends on hardware support - some hardware provides multiple set of registers so that multiple process contexts loaded/stored</a:t>
            </a:r>
            <a:endParaRPr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"/>
          <p:cNvSpPr txBox="1">
            <a:spLocks noGrp="1"/>
          </p:cNvSpPr>
          <p:nvPr>
            <p:ph type="title"/>
          </p:nvPr>
        </p:nvSpPr>
        <p:spPr>
          <a:xfrm>
            <a:off x="251350" y="0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- Context switching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61" name="Google Shape;46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462" name="Google Shape;462;p28"/>
          <p:cNvSpPr/>
          <p:nvPr/>
        </p:nvSpPr>
        <p:spPr>
          <a:xfrm>
            <a:off x="1605850" y="709900"/>
            <a:ext cx="1207500" cy="277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dist="66675" dir="888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P0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3480550" y="652000"/>
            <a:ext cx="2062500" cy="507000"/>
          </a:xfrm>
          <a:prstGeom prst="rect">
            <a:avLst/>
          </a:prstGeom>
          <a:gradFill>
            <a:gsLst>
              <a:gs pos="0">
                <a:srgbClr val="F48208"/>
              </a:gs>
              <a:gs pos="100000">
                <a:srgbClr val="703E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38100" dir="1032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Operating 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6209950" y="709900"/>
            <a:ext cx="1207500" cy="277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102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P1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2131150" y="987700"/>
            <a:ext cx="156900" cy="507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3480400" y="1657775"/>
            <a:ext cx="2062500" cy="2778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state into PCB0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3418450" y="2434350"/>
            <a:ext cx="2186400" cy="277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Reload state from PCB1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3418450" y="3408000"/>
            <a:ext cx="2186400" cy="2778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25C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state into PCB1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3418450" y="4188050"/>
            <a:ext cx="2186400" cy="2778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Reload state from PCB0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28"/>
          <p:cNvCxnSpPr>
            <a:stCxn id="465" idx="3"/>
            <a:endCxn id="466" idx="1"/>
          </p:cNvCxnSpPr>
          <p:nvPr/>
        </p:nvCxnSpPr>
        <p:spPr>
          <a:xfrm>
            <a:off x="2288050" y="1416250"/>
            <a:ext cx="1192500" cy="380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1" name="Google Shape;471;p28"/>
          <p:cNvCxnSpPr>
            <a:stCxn id="466" idx="2"/>
            <a:endCxn id="467" idx="0"/>
          </p:cNvCxnSpPr>
          <p:nvPr/>
        </p:nvCxnSpPr>
        <p:spPr>
          <a:xfrm>
            <a:off x="4511650" y="1935575"/>
            <a:ext cx="0" cy="498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72" name="Google Shape;472;p28"/>
          <p:cNvSpPr txBox="1"/>
          <p:nvPr/>
        </p:nvSpPr>
        <p:spPr>
          <a:xfrm>
            <a:off x="2407275" y="1162838"/>
            <a:ext cx="21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Interrupt or system call</a:t>
            </a:r>
            <a:endParaRPr sz="10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6692050" y="2485000"/>
            <a:ext cx="156900" cy="1050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6735250" y="987700"/>
            <a:ext cx="70500" cy="14973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2174350" y="1501550"/>
            <a:ext cx="70500" cy="28089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6735250" y="3535600"/>
            <a:ext cx="70500" cy="1127700"/>
          </a:xfrm>
          <a:prstGeom prst="rect">
            <a:avLst/>
          </a:prstGeom>
          <a:solidFill>
            <a:schemeClr val="accent4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2131150" y="4310450"/>
            <a:ext cx="156900" cy="380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8"/>
          <p:cNvCxnSpPr/>
          <p:nvPr/>
        </p:nvCxnSpPr>
        <p:spPr>
          <a:xfrm>
            <a:off x="615775" y="4690850"/>
            <a:ext cx="732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9" name="Google Shape;479;p28"/>
          <p:cNvSpPr/>
          <p:nvPr/>
        </p:nvSpPr>
        <p:spPr>
          <a:xfrm>
            <a:off x="1733275" y="1511025"/>
            <a:ext cx="321600" cy="28089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6911450" y="996275"/>
            <a:ext cx="156900" cy="1497300"/>
          </a:xfrm>
          <a:prstGeom prst="rightBrace">
            <a:avLst>
              <a:gd name="adj1" fmla="val 50000"/>
              <a:gd name="adj2" fmla="val 528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/>
          <p:nvPr/>
        </p:nvSpPr>
        <p:spPr>
          <a:xfrm>
            <a:off x="6915950" y="3535600"/>
            <a:ext cx="156900" cy="1127700"/>
          </a:xfrm>
          <a:prstGeom prst="rightBrace">
            <a:avLst>
              <a:gd name="adj1" fmla="val 50000"/>
              <a:gd name="adj2" fmla="val 528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8"/>
          <p:cNvSpPr txBox="1"/>
          <p:nvPr/>
        </p:nvSpPr>
        <p:spPr>
          <a:xfrm>
            <a:off x="7124125" y="16240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Idle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7183050" y="389935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Idle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4" name="Google Shape;484;p28"/>
          <p:cNvSpPr txBox="1"/>
          <p:nvPr/>
        </p:nvSpPr>
        <p:spPr>
          <a:xfrm>
            <a:off x="1065100" y="2674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Idle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6915950" y="2814475"/>
            <a:ext cx="127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Executing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6" name="Google Shape;486;p28"/>
          <p:cNvSpPr txBox="1"/>
          <p:nvPr/>
        </p:nvSpPr>
        <p:spPr>
          <a:xfrm>
            <a:off x="700900" y="1049250"/>
            <a:ext cx="127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Executing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700900" y="4300538"/>
            <a:ext cx="127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Executing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488" name="Google Shape;488;p28"/>
          <p:cNvCxnSpPr>
            <a:stCxn id="467" idx="3"/>
            <a:endCxn id="474" idx="2"/>
          </p:cNvCxnSpPr>
          <p:nvPr/>
        </p:nvCxnSpPr>
        <p:spPr>
          <a:xfrm rot="10800000" flipH="1">
            <a:off x="5604850" y="2485050"/>
            <a:ext cx="1165800" cy="8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9" name="Google Shape;489;p28"/>
          <p:cNvCxnSpPr>
            <a:endCxn id="469" idx="0"/>
          </p:cNvCxnSpPr>
          <p:nvPr/>
        </p:nvCxnSpPr>
        <p:spPr>
          <a:xfrm>
            <a:off x="4511650" y="3724550"/>
            <a:ext cx="0" cy="463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90" name="Google Shape;490;p28"/>
          <p:cNvCxnSpPr>
            <a:stCxn id="473" idx="1"/>
            <a:endCxn id="468" idx="3"/>
          </p:cNvCxnSpPr>
          <p:nvPr/>
        </p:nvCxnSpPr>
        <p:spPr>
          <a:xfrm flipH="1">
            <a:off x="5604850" y="3457150"/>
            <a:ext cx="1087200" cy="89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1" name="Google Shape;491;p28"/>
          <p:cNvCxnSpPr>
            <a:stCxn id="469" idx="1"/>
            <a:endCxn id="477" idx="0"/>
          </p:cNvCxnSpPr>
          <p:nvPr/>
        </p:nvCxnSpPr>
        <p:spPr>
          <a:xfrm rot="10800000">
            <a:off x="2209450" y="4310450"/>
            <a:ext cx="1209000" cy="16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2" name="Google Shape;492;p28"/>
          <p:cNvSpPr txBox="1"/>
          <p:nvPr/>
        </p:nvSpPr>
        <p:spPr>
          <a:xfrm>
            <a:off x="4023550" y="2915288"/>
            <a:ext cx="21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Interrupt or system call</a:t>
            </a:r>
            <a:endParaRPr sz="10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 b="1">
                <a:latin typeface="Comfortaa"/>
                <a:ea typeface="Comfortaa"/>
                <a:cs typeface="Comfortaa"/>
                <a:sym typeface="Comfortaa"/>
              </a:rPr>
              <a:t>CPU bound vs IO bound process</a:t>
            </a:r>
            <a:endParaRPr sz="25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8" name="Google Shape;498;p29"/>
          <p:cNvSpPr txBox="1">
            <a:spLocks noGrp="1"/>
          </p:cNvSpPr>
          <p:nvPr>
            <p:ph type="body" idx="1"/>
          </p:nvPr>
        </p:nvSpPr>
        <p:spPr>
          <a:xfrm>
            <a:off x="311700" y="1132275"/>
            <a:ext cx="4131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</a:t>
            </a:r>
            <a:r>
              <a:rPr lang="en" b="1">
                <a:solidFill>
                  <a:srgbClr val="FF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CPU-bound</a:t>
            </a: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process requires more CPU time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Spends more time in the running state.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CPU bound means the program is bottlenecked by the CPU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Spends more time doing computations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In a CPU-bound environment, most times, the processor is the only component being used for execution. 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99" name="Google Shape;49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500" name="Google Shape;500;p29"/>
          <p:cNvSpPr txBox="1">
            <a:spLocks noGrp="1"/>
          </p:cNvSpPr>
          <p:nvPr>
            <p:ph type="body" idx="2"/>
          </p:nvPr>
        </p:nvSpPr>
        <p:spPr>
          <a:xfrm>
            <a:off x="4572000" y="11322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An </a:t>
            </a:r>
            <a:r>
              <a:rPr lang="en" b="1">
                <a:solidFill>
                  <a:schemeClr val="accent3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IO bound </a:t>
            </a: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process requires less CPU time</a:t>
            </a:r>
            <a:endParaRPr b="1">
              <a:solidFill>
                <a:srgbClr val="000000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chemeClr val="lt1"/>
                </a:highlight>
                <a:latin typeface="Comfortaa"/>
                <a:ea typeface="Comfortaa"/>
                <a:cs typeface="Comfortaa"/>
                <a:sym typeface="Comfortaa"/>
              </a:rPr>
              <a:t>An I/O-bound process spends more time in the waiting state. </a:t>
            </a:r>
            <a:endParaRPr b="1">
              <a:solidFill>
                <a:srgbClr val="000000"/>
              </a:solidFill>
              <a:highlight>
                <a:schemeClr val="lt1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I/O bound means the program is bottlenecked by the IO operations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Spends more time on IO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I/O bound operations are characterized by many and fewer CPU bursts during execution</a:t>
            </a:r>
            <a:endParaRPr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01" name="Google Shape;501;p29"/>
          <p:cNvCxnSpPr/>
          <p:nvPr/>
        </p:nvCxnSpPr>
        <p:spPr>
          <a:xfrm>
            <a:off x="422600" y="4732175"/>
            <a:ext cx="4274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2" name="Google Shape;502;p29"/>
          <p:cNvCxnSpPr/>
          <p:nvPr/>
        </p:nvCxnSpPr>
        <p:spPr>
          <a:xfrm>
            <a:off x="4769125" y="4732175"/>
            <a:ext cx="4274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p29"/>
          <p:cNvSpPr/>
          <p:nvPr/>
        </p:nvSpPr>
        <p:spPr>
          <a:xfrm>
            <a:off x="555400" y="4551875"/>
            <a:ext cx="9297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/>
          <p:nvPr/>
        </p:nvSpPr>
        <p:spPr>
          <a:xfrm>
            <a:off x="1770325" y="4551875"/>
            <a:ext cx="9297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2985250" y="4551875"/>
            <a:ext cx="9297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4969900" y="4551875"/>
            <a:ext cx="4392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/>
          <p:nvPr/>
        </p:nvSpPr>
        <p:spPr>
          <a:xfrm>
            <a:off x="6686575" y="4551875"/>
            <a:ext cx="4392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/>
          <p:nvPr/>
        </p:nvSpPr>
        <p:spPr>
          <a:xfrm>
            <a:off x="8393100" y="4551875"/>
            <a:ext cx="439200" cy="1803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9"/>
          <p:cNvSpPr txBox="1"/>
          <p:nvPr/>
        </p:nvSpPr>
        <p:spPr>
          <a:xfrm>
            <a:off x="5517800" y="3996500"/>
            <a:ext cx="19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Short CPU burst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1393500" y="3996500"/>
            <a:ext cx="19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Short IO  burst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11" name="Google Shape;511;p29"/>
          <p:cNvCxnSpPr>
            <a:stCxn id="510" idx="2"/>
          </p:cNvCxnSpPr>
          <p:nvPr/>
        </p:nvCxnSpPr>
        <p:spPr>
          <a:xfrm flipH="1">
            <a:off x="1642200" y="4365800"/>
            <a:ext cx="735300" cy="222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2" name="Google Shape;512;p29"/>
          <p:cNvCxnSpPr>
            <a:stCxn id="510" idx="2"/>
          </p:cNvCxnSpPr>
          <p:nvPr/>
        </p:nvCxnSpPr>
        <p:spPr>
          <a:xfrm>
            <a:off x="2377500" y="4365800"/>
            <a:ext cx="459900" cy="186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3" name="Google Shape;513;p29"/>
          <p:cNvCxnSpPr>
            <a:stCxn id="509" idx="2"/>
          </p:cNvCxnSpPr>
          <p:nvPr/>
        </p:nvCxnSpPr>
        <p:spPr>
          <a:xfrm flipH="1">
            <a:off x="5457500" y="4365800"/>
            <a:ext cx="1044300" cy="16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p29"/>
          <p:cNvCxnSpPr/>
          <p:nvPr/>
        </p:nvCxnSpPr>
        <p:spPr>
          <a:xfrm>
            <a:off x="6507850" y="4370775"/>
            <a:ext cx="386400" cy="16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5" name="Google Shape;515;p29"/>
          <p:cNvSpPr txBox="1"/>
          <p:nvPr/>
        </p:nvSpPr>
        <p:spPr>
          <a:xfrm>
            <a:off x="6603900" y="3750450"/>
            <a:ext cx="196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Long IO operation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16" name="Google Shape;516;p29"/>
          <p:cNvCxnSpPr>
            <a:stCxn id="515" idx="2"/>
          </p:cNvCxnSpPr>
          <p:nvPr/>
        </p:nvCxnSpPr>
        <p:spPr>
          <a:xfrm>
            <a:off x="7587900" y="4119750"/>
            <a:ext cx="66900" cy="468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7" name="Google Shape;517;p29"/>
          <p:cNvSpPr txBox="1"/>
          <p:nvPr/>
        </p:nvSpPr>
        <p:spPr>
          <a:xfrm>
            <a:off x="1770325" y="4717150"/>
            <a:ext cx="9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Time -&gt;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6393850" y="4655975"/>
            <a:ext cx="92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Time -&gt;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4" name="Google Shape;52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cxnSp>
        <p:nvCxnSpPr>
          <p:cNvPr id="525" name="Google Shape;525;p33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6" name="Google Shape;526;p33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3073350" y="13080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29" name="Google Shape;529;p33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30" name="Google Shape;530;p33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37" name="Google Shape;53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cxnSp>
        <p:nvCxnSpPr>
          <p:cNvPr id="538" name="Google Shape;538;p34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9" name="Google Shape;539;p34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0" name="Google Shape;540;p34"/>
          <p:cNvSpPr/>
          <p:nvPr/>
        </p:nvSpPr>
        <p:spPr>
          <a:xfrm>
            <a:off x="3073350" y="14604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4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42" name="Google Shape;542;p34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44" name="Google Shape;544;p34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0" name="Google Shape;55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cxnSp>
        <p:nvCxnSpPr>
          <p:cNvPr id="551" name="Google Shape;551;p35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2" name="Google Shape;552;p35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3073350" y="16890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3" name="Google Shape;56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cxnSp>
        <p:nvCxnSpPr>
          <p:cNvPr id="564" name="Google Shape;564;p36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5" name="Google Shape;565;p36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3073350" y="19176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6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8" name="Google Shape;568;p36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9" name="Google Shape;569;p36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70" name="Google Shape;570;p36"/>
          <p:cNvCxnSpPr>
            <a:stCxn id="567" idx="3"/>
          </p:cNvCxnSpPr>
          <p:nvPr/>
        </p:nvCxnSpPr>
        <p:spPr>
          <a:xfrm>
            <a:off x="2997325" y="3259850"/>
            <a:ext cx="53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36"/>
          <p:cNvSpPr/>
          <p:nvPr/>
        </p:nvSpPr>
        <p:spPr>
          <a:xfrm>
            <a:off x="3533250" y="2962488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Calls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78" name="Google Shape;5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cxnSp>
        <p:nvCxnSpPr>
          <p:cNvPr id="579" name="Google Shape;579;p37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0" name="Google Shape;580;p37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1" name="Google Shape;581;p37"/>
          <p:cNvSpPr/>
          <p:nvPr/>
        </p:nvSpPr>
        <p:spPr>
          <a:xfrm>
            <a:off x="3073350" y="19176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3" name="Google Shape;583;p37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4" name="Google Shape;584;p37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85" name="Google Shape;585;p37"/>
          <p:cNvCxnSpPr>
            <a:stCxn id="582" idx="3"/>
          </p:cNvCxnSpPr>
          <p:nvPr/>
        </p:nvCxnSpPr>
        <p:spPr>
          <a:xfrm>
            <a:off x="2997325" y="3259850"/>
            <a:ext cx="53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6" name="Google Shape;586;p37"/>
          <p:cNvSpPr/>
          <p:nvPr/>
        </p:nvSpPr>
        <p:spPr>
          <a:xfrm>
            <a:off x="3533250" y="2962488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Calls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87" name="Google Shape;587;p37"/>
          <p:cNvCxnSpPr>
            <a:stCxn id="586" idx="2"/>
          </p:cNvCxnSpPr>
          <p:nvPr/>
        </p:nvCxnSpPr>
        <p:spPr>
          <a:xfrm>
            <a:off x="4414800" y="3550188"/>
            <a:ext cx="266400" cy="68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88" name="Google Shape;588;p37"/>
          <p:cNvSpPr txBox="1"/>
          <p:nvPr/>
        </p:nvSpPr>
        <p:spPr>
          <a:xfrm>
            <a:off x="250937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0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0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95" name="Google Shape;59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cxnSp>
        <p:nvCxnSpPr>
          <p:cNvPr id="596" name="Google Shape;596;p38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7" name="Google Shape;597;p38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3073350" y="19176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0" name="Google Shape;600;p38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02" name="Google Shape;602;p38"/>
          <p:cNvCxnSpPr>
            <a:stCxn id="599" idx="3"/>
          </p:cNvCxnSpPr>
          <p:nvPr/>
        </p:nvCxnSpPr>
        <p:spPr>
          <a:xfrm>
            <a:off x="2997325" y="3259850"/>
            <a:ext cx="53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3" name="Google Shape;603;p38"/>
          <p:cNvSpPr/>
          <p:nvPr/>
        </p:nvSpPr>
        <p:spPr>
          <a:xfrm>
            <a:off x="3533250" y="2962488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Calls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04" name="Google Shape;604;p38"/>
          <p:cNvCxnSpPr>
            <a:stCxn id="603" idx="2"/>
          </p:cNvCxnSpPr>
          <p:nvPr/>
        </p:nvCxnSpPr>
        <p:spPr>
          <a:xfrm>
            <a:off x="4414800" y="3550188"/>
            <a:ext cx="266400" cy="68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5" name="Google Shape;605;p38"/>
          <p:cNvSpPr/>
          <p:nvPr/>
        </p:nvSpPr>
        <p:spPr>
          <a:xfrm>
            <a:off x="4272500" y="4230888"/>
            <a:ext cx="1763100" cy="587700"/>
          </a:xfrm>
          <a:prstGeom prst="rect">
            <a:avLst/>
          </a:prstGeom>
          <a:gradFill>
            <a:gsLst>
              <a:gs pos="0">
                <a:srgbClr val="00FF00"/>
              </a:gs>
              <a:gs pos="100000">
                <a:srgbClr val="73737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Execute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51AB2A"/>
              </a:gs>
              <a:gs pos="100000">
                <a:srgbClr val="203E1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0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07" name="Google Shape;607;p38"/>
          <p:cNvSpPr txBox="1"/>
          <p:nvPr/>
        </p:nvSpPr>
        <p:spPr>
          <a:xfrm>
            <a:off x="250937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0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3" name="Google Shape;613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cxnSp>
        <p:nvCxnSpPr>
          <p:cNvPr id="614" name="Google Shape;614;p39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5" name="Google Shape;615;p39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6" name="Google Shape;616;p39"/>
          <p:cNvSpPr/>
          <p:nvPr/>
        </p:nvSpPr>
        <p:spPr>
          <a:xfrm>
            <a:off x="3073350" y="19176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9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8" name="Google Shape;618;p39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9" name="Google Shape;619;p39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20" name="Google Shape;620;p39"/>
          <p:cNvCxnSpPr>
            <a:stCxn id="617" idx="3"/>
          </p:cNvCxnSpPr>
          <p:nvPr/>
        </p:nvCxnSpPr>
        <p:spPr>
          <a:xfrm>
            <a:off x="2997325" y="3259850"/>
            <a:ext cx="53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1" name="Google Shape;621;p39"/>
          <p:cNvSpPr/>
          <p:nvPr/>
        </p:nvSpPr>
        <p:spPr>
          <a:xfrm>
            <a:off x="3533250" y="2962488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Calls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22" name="Google Shape;622;p39"/>
          <p:cNvCxnSpPr>
            <a:stCxn id="621" idx="2"/>
          </p:cNvCxnSpPr>
          <p:nvPr/>
        </p:nvCxnSpPr>
        <p:spPr>
          <a:xfrm>
            <a:off x="4414800" y="3550188"/>
            <a:ext cx="266400" cy="68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3" name="Google Shape;623;p39"/>
          <p:cNvSpPr/>
          <p:nvPr/>
        </p:nvSpPr>
        <p:spPr>
          <a:xfrm>
            <a:off x="4272500" y="4230888"/>
            <a:ext cx="1763100" cy="587700"/>
          </a:xfrm>
          <a:prstGeom prst="rect">
            <a:avLst/>
          </a:prstGeom>
          <a:gradFill>
            <a:gsLst>
              <a:gs pos="0">
                <a:srgbClr val="00FF00"/>
              </a:gs>
              <a:gs pos="100000">
                <a:srgbClr val="73737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Execute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5" name="Google Shape;625;p39"/>
          <p:cNvSpPr txBox="1"/>
          <p:nvPr/>
        </p:nvSpPr>
        <p:spPr>
          <a:xfrm>
            <a:off x="250937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0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26" name="Google Shape;626;p39"/>
          <p:cNvCxnSpPr/>
          <p:nvPr/>
        </p:nvCxnSpPr>
        <p:spPr>
          <a:xfrm rot="10800000" flipH="1">
            <a:off x="5732050" y="3480200"/>
            <a:ext cx="737100" cy="777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27" name="Google Shape;627;p39"/>
          <p:cNvSpPr txBox="1"/>
          <p:nvPr/>
        </p:nvSpPr>
        <p:spPr>
          <a:xfrm>
            <a:off x="622382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1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 b="1">
                <a:latin typeface="Comfortaa"/>
                <a:ea typeface="Comfortaa"/>
                <a:cs typeface="Comfortaa"/>
                <a:sym typeface="Comfortaa"/>
              </a:rPr>
              <a:t>User mode and kernel mode of execution</a:t>
            </a:r>
            <a:endParaRPr sz="2000"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3" name="Google Shape;63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cxnSp>
        <p:nvCxnSpPr>
          <p:cNvPr id="634" name="Google Shape;634;p40"/>
          <p:cNvCxnSpPr/>
          <p:nvPr/>
        </p:nvCxnSpPr>
        <p:spPr>
          <a:xfrm>
            <a:off x="1216475" y="3717700"/>
            <a:ext cx="6711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5" name="Google Shape;635;p40"/>
          <p:cNvSpPr txBox="1"/>
          <p:nvPr/>
        </p:nvSpPr>
        <p:spPr>
          <a:xfrm>
            <a:off x="3622050" y="962575"/>
            <a:ext cx="1585500" cy="1908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x = 5;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y = 7;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z = x+y;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printf(“z = %d”,z);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int w = z/2;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3073350" y="2146250"/>
            <a:ext cx="548700" cy="240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12342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232375" y="3028250"/>
            <a:ext cx="76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28425" y="4047625"/>
            <a:ext cx="973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Kernel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mode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40" name="Google Shape;640;p40"/>
          <p:cNvCxnSpPr>
            <a:stCxn id="637" idx="3"/>
          </p:cNvCxnSpPr>
          <p:nvPr/>
        </p:nvCxnSpPr>
        <p:spPr>
          <a:xfrm>
            <a:off x="2997325" y="3259850"/>
            <a:ext cx="53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1" name="Google Shape;641;p40"/>
          <p:cNvSpPr/>
          <p:nvPr/>
        </p:nvSpPr>
        <p:spPr>
          <a:xfrm>
            <a:off x="3533250" y="2962488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Calls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42" name="Google Shape;642;p40"/>
          <p:cNvCxnSpPr>
            <a:stCxn id="641" idx="2"/>
          </p:cNvCxnSpPr>
          <p:nvPr/>
        </p:nvCxnSpPr>
        <p:spPr>
          <a:xfrm>
            <a:off x="4414800" y="3550188"/>
            <a:ext cx="266400" cy="680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3" name="Google Shape;643;p40"/>
          <p:cNvSpPr/>
          <p:nvPr/>
        </p:nvSpPr>
        <p:spPr>
          <a:xfrm>
            <a:off x="4272500" y="4230888"/>
            <a:ext cx="1763100" cy="587700"/>
          </a:xfrm>
          <a:prstGeom prst="rect">
            <a:avLst/>
          </a:prstGeom>
          <a:gradFill>
            <a:gsLst>
              <a:gs pos="0">
                <a:srgbClr val="00FF00"/>
              </a:gs>
              <a:gs pos="100000">
                <a:srgbClr val="73737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Execute system call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4" name="Google Shape;644;p40"/>
          <p:cNvSpPr/>
          <p:nvPr/>
        </p:nvSpPr>
        <p:spPr>
          <a:xfrm>
            <a:off x="6523625" y="1609075"/>
            <a:ext cx="1585500" cy="615600"/>
          </a:xfrm>
          <a:prstGeom prst="rect">
            <a:avLst/>
          </a:prstGeom>
          <a:gradFill>
            <a:gsLst>
              <a:gs pos="0">
                <a:srgbClr val="DB0000"/>
              </a:gs>
              <a:gs pos="100000">
                <a:srgbClr val="540303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76200" dir="87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Mode = 1</a:t>
            </a:r>
            <a:endParaRPr sz="16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5" name="Google Shape;645;p40"/>
          <p:cNvSpPr txBox="1"/>
          <p:nvPr/>
        </p:nvSpPr>
        <p:spPr>
          <a:xfrm>
            <a:off x="250937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0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46" name="Google Shape;646;p40"/>
          <p:cNvCxnSpPr/>
          <p:nvPr/>
        </p:nvCxnSpPr>
        <p:spPr>
          <a:xfrm rot="10800000" flipH="1">
            <a:off x="5680225" y="3548400"/>
            <a:ext cx="638700" cy="68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7" name="Google Shape;647;p40"/>
          <p:cNvSpPr txBox="1"/>
          <p:nvPr/>
        </p:nvSpPr>
        <p:spPr>
          <a:xfrm>
            <a:off x="6223825" y="3881700"/>
            <a:ext cx="176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Set mode bit = 1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6340325" y="2966000"/>
            <a:ext cx="1763100" cy="587700"/>
          </a:xfrm>
          <a:prstGeom prst="rect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User process executable running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System Call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4" name="Google Shape;65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mfortaa"/>
              <a:buChar char="●"/>
            </a:pPr>
            <a:r>
              <a:rPr lang="en" sz="17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system call </a:t>
            </a: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is the programmatic way in which a computer program requests a service from the kernel of the operating system it is executed on.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A system call is a way for programs to </a:t>
            </a:r>
            <a:r>
              <a:rPr lang="en" sz="17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interact with the operating system</a:t>
            </a:r>
            <a:r>
              <a:rPr lang="en" sz="1700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.</a:t>
            </a:r>
            <a:endParaRPr sz="1700">
              <a:solidFill>
                <a:schemeClr val="accent3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omfortaa"/>
              <a:buChar char="●"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computer program makes a system call when it makes a request to the operating system’s kernel. 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System call </a:t>
            </a:r>
            <a:r>
              <a:rPr lang="en" sz="17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provides</a:t>
            </a: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the services of the operating system to the user programs via </a:t>
            </a:r>
            <a:r>
              <a:rPr lang="en" sz="17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Application Program Interface(API).</a:t>
            </a:r>
            <a:endParaRPr sz="1700" b="1">
              <a:solidFill>
                <a:schemeClr val="accent3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55" name="Google Shape;655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System Call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1" name="Google Shape;661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1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For example, the C programming language gives you </a:t>
            </a:r>
            <a:r>
              <a:rPr lang="en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printf()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that lets you write data in many different formats.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So, </a:t>
            </a:r>
            <a:r>
              <a:rPr lang="en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printf()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is a function that convert data into a formatted sequence of bytes.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Then it calls </a:t>
            </a:r>
            <a:r>
              <a:rPr lang="en" sz="16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to write those bytes onto the output device. 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Application programs don’t have direct access to system calls, it requests OS provide access to the call</a:t>
            </a:r>
            <a:endParaRPr sz="16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2" name="Google Shape;66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663" name="Google Shape;66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8125" y="3360575"/>
            <a:ext cx="1234300" cy="12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2475" y="3360575"/>
            <a:ext cx="1234300" cy="123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/>
          <p:nvPr/>
        </p:nvSpPr>
        <p:spPr>
          <a:xfrm>
            <a:off x="1052525" y="4512875"/>
            <a:ext cx="123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Program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6" name="Google Shape;666;p42"/>
          <p:cNvSpPr txBox="1"/>
          <p:nvPr/>
        </p:nvSpPr>
        <p:spPr>
          <a:xfrm>
            <a:off x="6998175" y="4512875"/>
            <a:ext cx="123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OS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2286775" y="3530575"/>
            <a:ext cx="2702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printf() in C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Cout in C++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system.out.println() in Java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print() in Python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68" name="Google Shape;668;p42"/>
          <p:cNvSpPr/>
          <p:nvPr/>
        </p:nvSpPr>
        <p:spPr>
          <a:xfrm>
            <a:off x="4988875" y="3777625"/>
            <a:ext cx="874800" cy="400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5934125" y="3777625"/>
            <a:ext cx="123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write()</a:t>
            </a:r>
            <a:endParaRPr sz="16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5" name="Google Shape;675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process may create other processes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Parent process creates children processes, which in turn create other processes, forming a tree of processes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Generally a process is identified and managed via process identifier (PID)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6" name="Google Shape;67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677" name="Google Shape;677;p43"/>
          <p:cNvSpPr/>
          <p:nvPr/>
        </p:nvSpPr>
        <p:spPr>
          <a:xfrm>
            <a:off x="4109100" y="2463075"/>
            <a:ext cx="925800" cy="4881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Init</a:t>
            </a:r>
            <a:endParaRPr sz="11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Pid = 1</a:t>
            </a:r>
            <a:endParaRPr sz="11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8" name="Google Shape;678;p43"/>
          <p:cNvSpPr/>
          <p:nvPr/>
        </p:nvSpPr>
        <p:spPr>
          <a:xfrm>
            <a:off x="3183300" y="3231250"/>
            <a:ext cx="925800" cy="4881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login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Pid = 1234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79" name="Google Shape;679;p43"/>
          <p:cNvSpPr/>
          <p:nvPr/>
        </p:nvSpPr>
        <p:spPr>
          <a:xfrm>
            <a:off x="5034900" y="3231250"/>
            <a:ext cx="925800" cy="4881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sshd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Pid = 3451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0" name="Google Shape;680;p43"/>
          <p:cNvSpPr/>
          <p:nvPr/>
        </p:nvSpPr>
        <p:spPr>
          <a:xfrm>
            <a:off x="2257500" y="3999400"/>
            <a:ext cx="925800" cy="4881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bash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Pid = 1434</a:t>
            </a:r>
            <a:endParaRPr sz="11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1" name="Google Shape;681;p43"/>
          <p:cNvSpPr/>
          <p:nvPr/>
        </p:nvSpPr>
        <p:spPr>
          <a:xfrm>
            <a:off x="5960700" y="3999400"/>
            <a:ext cx="925800" cy="4881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rgbClr val="23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Sshd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Pid = 8976</a:t>
            </a:r>
            <a:endParaRPr sz="7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682" name="Google Shape;682;p43"/>
          <p:cNvCxnSpPr>
            <a:stCxn id="677" idx="4"/>
            <a:endCxn id="678" idx="7"/>
          </p:cNvCxnSpPr>
          <p:nvPr/>
        </p:nvCxnSpPr>
        <p:spPr>
          <a:xfrm flipH="1">
            <a:off x="3973500" y="2951175"/>
            <a:ext cx="598500" cy="3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3" name="Google Shape;683;p43"/>
          <p:cNvCxnSpPr>
            <a:stCxn id="677" idx="4"/>
            <a:endCxn id="679" idx="1"/>
          </p:cNvCxnSpPr>
          <p:nvPr/>
        </p:nvCxnSpPr>
        <p:spPr>
          <a:xfrm>
            <a:off x="4572000" y="2951175"/>
            <a:ext cx="598500" cy="3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4" name="Google Shape;684;p43"/>
          <p:cNvCxnSpPr>
            <a:stCxn id="678" idx="4"/>
            <a:endCxn id="680" idx="7"/>
          </p:cNvCxnSpPr>
          <p:nvPr/>
        </p:nvCxnSpPr>
        <p:spPr>
          <a:xfrm flipH="1">
            <a:off x="3047700" y="3719350"/>
            <a:ext cx="598500" cy="3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85" name="Google Shape;685;p43"/>
          <p:cNvCxnSpPr>
            <a:stCxn id="679" idx="4"/>
            <a:endCxn id="681" idx="1"/>
          </p:cNvCxnSpPr>
          <p:nvPr/>
        </p:nvCxnSpPr>
        <p:spPr>
          <a:xfrm>
            <a:off x="5497800" y="3719350"/>
            <a:ext cx="598500" cy="351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86" name="Google Shape;686;p43"/>
          <p:cNvSpPr txBox="1"/>
          <p:nvPr/>
        </p:nvSpPr>
        <p:spPr>
          <a:xfrm>
            <a:off x="3348450" y="4487500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tree of processes in Unix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92" name="Google Shape;692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693" name="Google Shape;693;p44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5206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Fork system call is used for creating a new process, which is called </a:t>
            </a:r>
            <a:r>
              <a:rPr lang="en" sz="1600" b="1" i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child process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, which runs concurrently with the process that makes the fork() call (parent process).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After a new child process is created, both processes will execute the next instruction following the fork() system call. 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A child process uses the same pc(program counter), same CPU registers, same open files which use in the parent process.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It takes no parameters and returns an integer value. Below are different values returned by fork().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 b="1" i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Negative Value</a:t>
            </a:r>
            <a:r>
              <a:rPr lang="en" sz="16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: 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creation of a child process was unsuccessful.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600" b="1" i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Zero</a:t>
            </a:r>
            <a:r>
              <a:rPr lang="en" sz="16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Returned to the newly created child process.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</a:pPr>
            <a:r>
              <a:rPr lang="en" sz="1600" b="1" i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Positive value</a:t>
            </a:r>
            <a:r>
              <a:rPr lang="en" sz="1600" b="1">
                <a:solidFill>
                  <a:schemeClr val="accent3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:</a:t>
            </a:r>
            <a:r>
              <a:rPr lang="en" sz="1600" b="1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Returned to parent or caller. The value contains process ID of newly created child process.</a:t>
            </a:r>
            <a:endParaRPr sz="1600" b="1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 - fork()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99" name="Google Shape;699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700" name="Google Shape;700;p45"/>
          <p:cNvSpPr/>
          <p:nvPr/>
        </p:nvSpPr>
        <p:spPr>
          <a:xfrm>
            <a:off x="1939888" y="1364325"/>
            <a:ext cx="688200" cy="6762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P0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01" name="Google Shape;701;p45"/>
          <p:cNvCxnSpPr>
            <a:stCxn id="700" idx="6"/>
            <a:endCxn id="702" idx="2"/>
          </p:cNvCxnSpPr>
          <p:nvPr/>
        </p:nvCxnSpPr>
        <p:spPr>
          <a:xfrm>
            <a:off x="2628088" y="1702425"/>
            <a:ext cx="3887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02" name="Google Shape;702;p45"/>
          <p:cNvSpPr/>
          <p:nvPr/>
        </p:nvSpPr>
        <p:spPr>
          <a:xfrm>
            <a:off x="6515913" y="1364325"/>
            <a:ext cx="688200" cy="6762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P1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4185600" y="1302225"/>
            <a:ext cx="7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fork()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704" name="Google Shape;704;p45"/>
          <p:cNvGrpSpPr/>
          <p:nvPr/>
        </p:nvGrpSpPr>
        <p:grpSpPr>
          <a:xfrm>
            <a:off x="1698388" y="2399200"/>
            <a:ext cx="1171200" cy="1773730"/>
            <a:chOff x="4346600" y="1017725"/>
            <a:chExt cx="1171200" cy="1773730"/>
          </a:xfrm>
        </p:grpSpPr>
        <p:sp>
          <p:nvSpPr>
            <p:cNvPr id="705" name="Google Shape;705;p45"/>
            <p:cNvSpPr/>
            <p:nvPr/>
          </p:nvSpPr>
          <p:spPr>
            <a:xfrm>
              <a:off x="4346600" y="2516655"/>
              <a:ext cx="1171200" cy="274800"/>
            </a:xfrm>
            <a:prstGeom prst="rect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Text</a:t>
              </a:r>
              <a:endParaRPr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06" name="Google Shape;706;p45"/>
            <p:cNvSpPr/>
            <p:nvPr/>
          </p:nvSpPr>
          <p:spPr>
            <a:xfrm>
              <a:off x="4346600" y="2241907"/>
              <a:ext cx="1171200" cy="2748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Data</a:t>
              </a:r>
              <a:endParaRPr sz="11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07" name="Google Shape;707;p45"/>
            <p:cNvSpPr/>
            <p:nvPr/>
          </p:nvSpPr>
          <p:spPr>
            <a:xfrm>
              <a:off x="4346600" y="1967159"/>
              <a:ext cx="1171200" cy="2748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Heap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45"/>
            <p:cNvSpPr/>
            <p:nvPr/>
          </p:nvSpPr>
          <p:spPr>
            <a:xfrm>
              <a:off x="4346600" y="1292473"/>
              <a:ext cx="1171200" cy="7044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45"/>
            <p:cNvSpPr/>
            <p:nvPr/>
          </p:nvSpPr>
          <p:spPr>
            <a:xfrm>
              <a:off x="4346600" y="1017725"/>
              <a:ext cx="1171200" cy="2748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Stack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5"/>
            <p:cNvSpPr/>
            <p:nvPr/>
          </p:nvSpPr>
          <p:spPr>
            <a:xfrm>
              <a:off x="4809451" y="1292473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45"/>
            <p:cNvSpPr/>
            <p:nvPr/>
          </p:nvSpPr>
          <p:spPr>
            <a:xfrm rot="10800000">
              <a:off x="4809462" y="1722019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45"/>
          <p:cNvGrpSpPr/>
          <p:nvPr/>
        </p:nvGrpSpPr>
        <p:grpSpPr>
          <a:xfrm>
            <a:off x="6274413" y="2310125"/>
            <a:ext cx="1171200" cy="1773730"/>
            <a:chOff x="4346600" y="1017725"/>
            <a:chExt cx="1171200" cy="1773730"/>
          </a:xfrm>
        </p:grpSpPr>
        <p:sp>
          <p:nvSpPr>
            <p:cNvPr id="713" name="Google Shape;713;p45"/>
            <p:cNvSpPr/>
            <p:nvPr/>
          </p:nvSpPr>
          <p:spPr>
            <a:xfrm>
              <a:off x="4346600" y="2516655"/>
              <a:ext cx="1171200" cy="274800"/>
            </a:xfrm>
            <a:prstGeom prst="rect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Text</a:t>
              </a:r>
              <a:endParaRPr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4346600" y="2241907"/>
              <a:ext cx="1171200" cy="2748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Data</a:t>
              </a:r>
              <a:endParaRPr sz="11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15" name="Google Shape;715;p45"/>
            <p:cNvSpPr/>
            <p:nvPr/>
          </p:nvSpPr>
          <p:spPr>
            <a:xfrm>
              <a:off x="4346600" y="1967159"/>
              <a:ext cx="1171200" cy="2748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Heap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45"/>
            <p:cNvSpPr/>
            <p:nvPr/>
          </p:nvSpPr>
          <p:spPr>
            <a:xfrm>
              <a:off x="4346600" y="1292473"/>
              <a:ext cx="1171200" cy="7044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45"/>
            <p:cNvSpPr/>
            <p:nvPr/>
          </p:nvSpPr>
          <p:spPr>
            <a:xfrm>
              <a:off x="4346600" y="1017725"/>
              <a:ext cx="1171200" cy="2748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Stack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45"/>
            <p:cNvSpPr/>
            <p:nvPr/>
          </p:nvSpPr>
          <p:spPr>
            <a:xfrm>
              <a:off x="4809451" y="1292473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45"/>
            <p:cNvSpPr/>
            <p:nvPr/>
          </p:nvSpPr>
          <p:spPr>
            <a:xfrm rot="10800000">
              <a:off x="4809462" y="1722019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45"/>
          <p:cNvSpPr/>
          <p:nvPr/>
        </p:nvSpPr>
        <p:spPr>
          <a:xfrm>
            <a:off x="3074863" y="3580600"/>
            <a:ext cx="2976300" cy="78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COPY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1" name="Google Shape;721;p45"/>
          <p:cNvSpPr txBox="1"/>
          <p:nvPr/>
        </p:nvSpPr>
        <p:spPr>
          <a:xfrm>
            <a:off x="926050" y="4312675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Parent process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address space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2" name="Google Shape;722;p45"/>
          <p:cNvSpPr txBox="1"/>
          <p:nvPr/>
        </p:nvSpPr>
        <p:spPr>
          <a:xfrm>
            <a:off x="5377500" y="4312675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Child process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address space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3129150" y="2453025"/>
            <a:ext cx="2885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Both processes P0 and P1 share the address space and P1 also executes same program.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 - fork() program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29" name="Google Shape;72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730" name="Google Shape;730;p46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4083300" cy="39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#include &lt;stdio.h&gt;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#include &lt;sys/types.h&gt;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#include &lt;unistd.h&gt;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int main()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// make two process which run same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// program after this instruction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</a:t>
            </a:r>
            <a:r>
              <a:rPr lang="en" sz="1300">
                <a:solidFill>
                  <a:srgbClr val="000000"/>
                </a:solidFill>
                <a:highlight>
                  <a:srgbClr val="FF9900"/>
                </a:highlight>
                <a:latin typeface="Comfortaa"/>
                <a:ea typeface="Comfortaa"/>
                <a:cs typeface="Comfortaa"/>
                <a:sym typeface="Comfortaa"/>
              </a:rPr>
              <a:t>fork();</a:t>
            </a:r>
            <a:endParaRPr sz="1300">
              <a:solidFill>
                <a:srgbClr val="000000"/>
              </a:solidFill>
              <a:highlight>
                <a:srgbClr val="FF9900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printf("Hello world!\n");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    return 0;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mfortaa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 }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mfortaa"/>
                <a:ea typeface="Comfortaa"/>
                <a:cs typeface="Comfortaa"/>
                <a:sym typeface="Comfortaa"/>
              </a:rPr>
              <a:t>Output: -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Hello world!</a:t>
            </a:r>
            <a:endParaRPr sz="12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Hello world!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1" name="Google Shape;731;p46"/>
          <p:cNvSpPr txBox="1"/>
          <p:nvPr/>
        </p:nvSpPr>
        <p:spPr>
          <a:xfrm>
            <a:off x="4395000" y="1000075"/>
            <a:ext cx="44373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#include &lt;stdio.h&gt;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#include &lt;sys/types.h&gt;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main()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fork();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fork();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fork();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printf("hello\n");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   return 0;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}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2" name="Google Shape;732;p46"/>
          <p:cNvSpPr/>
          <p:nvPr/>
        </p:nvSpPr>
        <p:spPr>
          <a:xfrm>
            <a:off x="6323200" y="2883975"/>
            <a:ext cx="1713600" cy="1107000"/>
          </a:xfrm>
          <a:prstGeom prst="wedgeEllipseCallout">
            <a:avLst>
              <a:gd name="adj1" fmla="val -95962"/>
              <a:gd name="adj2" fmla="val 38898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Output?</a:t>
            </a:r>
            <a:endParaRPr sz="18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33" name="Google Shape;73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3430725"/>
            <a:ext cx="1232500" cy="12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 - fork() and exec()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39" name="Google Shape;73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sp>
        <p:nvSpPr>
          <p:cNvPr id="740" name="Google Shape;740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fork() system call is used to create a new process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exec() system call is used after a fork() replaces the process’s memory space with a new program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Using fork() a child is duplicate of the parents address space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mfortaa"/>
              <a:buChar char="●"/>
            </a:pPr>
            <a:r>
              <a:rPr lang="en" sz="1600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Using fork()A child loads program into address space</a:t>
            </a:r>
            <a:endParaRPr sz="1600"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1" name="Google Shape;741;p47"/>
          <p:cNvSpPr/>
          <p:nvPr/>
        </p:nvSpPr>
        <p:spPr>
          <a:xfrm>
            <a:off x="1470600" y="3505050"/>
            <a:ext cx="809100" cy="5727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Fork</a:t>
            </a:r>
            <a:endParaRPr sz="12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5691925" y="3031525"/>
            <a:ext cx="809100" cy="5727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Wait</a:t>
            </a:r>
            <a:endParaRPr sz="12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43" name="Google Shape;743;p47"/>
          <p:cNvCxnSpPr>
            <a:stCxn id="741" idx="7"/>
            <a:endCxn id="742" idx="2"/>
          </p:cNvCxnSpPr>
          <p:nvPr/>
        </p:nvCxnSpPr>
        <p:spPr>
          <a:xfrm rot="-5400000">
            <a:off x="3791110" y="1688120"/>
            <a:ext cx="270900" cy="35307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4" name="Google Shape;744;p47"/>
          <p:cNvSpPr/>
          <p:nvPr/>
        </p:nvSpPr>
        <p:spPr>
          <a:xfrm>
            <a:off x="3144325" y="4261150"/>
            <a:ext cx="1079100" cy="5727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Exec()</a:t>
            </a:r>
            <a:endParaRPr sz="12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45" name="Google Shape;745;p47"/>
          <p:cNvSpPr/>
          <p:nvPr/>
        </p:nvSpPr>
        <p:spPr>
          <a:xfrm>
            <a:off x="5556925" y="4261150"/>
            <a:ext cx="1079100" cy="5727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Exit()</a:t>
            </a:r>
            <a:endParaRPr sz="12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46" name="Google Shape;746;p47"/>
          <p:cNvCxnSpPr>
            <a:stCxn id="741" idx="5"/>
            <a:endCxn id="744" idx="2"/>
          </p:cNvCxnSpPr>
          <p:nvPr/>
        </p:nvCxnSpPr>
        <p:spPr>
          <a:xfrm rot="-5400000" flipH="1">
            <a:off x="2376010" y="3779080"/>
            <a:ext cx="553500" cy="9831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7" name="Google Shape;747;p47"/>
          <p:cNvCxnSpPr>
            <a:stCxn id="744" idx="6"/>
            <a:endCxn id="745" idx="2"/>
          </p:cNvCxnSpPr>
          <p:nvPr/>
        </p:nvCxnSpPr>
        <p:spPr>
          <a:xfrm>
            <a:off x="4223425" y="4547500"/>
            <a:ext cx="13335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8" name="Google Shape;748;p47"/>
          <p:cNvCxnSpPr>
            <a:stCxn id="745" idx="0"/>
            <a:endCxn id="742" idx="4"/>
          </p:cNvCxnSpPr>
          <p:nvPr/>
        </p:nvCxnSpPr>
        <p:spPr>
          <a:xfrm rot="-5400000">
            <a:off x="5768275" y="3932350"/>
            <a:ext cx="657000" cy="600"/>
          </a:xfrm>
          <a:prstGeom prst="curvedConnector3">
            <a:avLst>
              <a:gd name="adj1" fmla="val 49994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9" name="Google Shape;749;p47"/>
          <p:cNvCxnSpPr>
            <a:stCxn id="742" idx="6"/>
          </p:cNvCxnSpPr>
          <p:nvPr/>
        </p:nvCxnSpPr>
        <p:spPr>
          <a:xfrm>
            <a:off x="6501025" y="3317875"/>
            <a:ext cx="1018500" cy="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 - fork() and exec()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5" name="Google Shape;755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sp>
        <p:nvSpPr>
          <p:cNvPr id="756" name="Google Shape;756;p48"/>
          <p:cNvSpPr/>
          <p:nvPr/>
        </p:nvSpPr>
        <p:spPr>
          <a:xfrm>
            <a:off x="1939888" y="1364325"/>
            <a:ext cx="688200" cy="6762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P0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57" name="Google Shape;757;p48"/>
          <p:cNvCxnSpPr>
            <a:stCxn id="756" idx="6"/>
            <a:endCxn id="758" idx="2"/>
          </p:cNvCxnSpPr>
          <p:nvPr/>
        </p:nvCxnSpPr>
        <p:spPr>
          <a:xfrm>
            <a:off x="2628088" y="1702425"/>
            <a:ext cx="3887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8" name="Google Shape;758;p48"/>
          <p:cNvSpPr/>
          <p:nvPr/>
        </p:nvSpPr>
        <p:spPr>
          <a:xfrm>
            <a:off x="6515913" y="1364325"/>
            <a:ext cx="688200" cy="676200"/>
          </a:xfrm>
          <a:prstGeom prst="ellipse">
            <a:avLst/>
          </a:prstGeom>
          <a:gradFill>
            <a:gsLst>
              <a:gs pos="0">
                <a:srgbClr val="FF8864"/>
              </a:gs>
              <a:gs pos="100000">
                <a:srgbClr val="D83908"/>
              </a:gs>
            </a:gsLst>
            <a:path path="circle">
              <a:fillToRect l="50000" t="50000" r="50000" b="50000"/>
            </a:path>
            <a:tileRect/>
          </a:gra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P1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>
            <a:off x="3219150" y="1253925"/>
            <a:ext cx="23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fork() then exec()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760" name="Google Shape;760;p48"/>
          <p:cNvGrpSpPr/>
          <p:nvPr/>
        </p:nvGrpSpPr>
        <p:grpSpPr>
          <a:xfrm>
            <a:off x="1698388" y="2399200"/>
            <a:ext cx="1171200" cy="1773730"/>
            <a:chOff x="4346600" y="1017725"/>
            <a:chExt cx="1171200" cy="1773730"/>
          </a:xfrm>
        </p:grpSpPr>
        <p:sp>
          <p:nvSpPr>
            <p:cNvPr id="761" name="Google Shape;761;p48"/>
            <p:cNvSpPr/>
            <p:nvPr/>
          </p:nvSpPr>
          <p:spPr>
            <a:xfrm>
              <a:off x="4346600" y="2516655"/>
              <a:ext cx="1171200" cy="274800"/>
            </a:xfrm>
            <a:prstGeom prst="rect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Text</a:t>
              </a:r>
              <a:endParaRPr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>
              <a:off x="4346600" y="2241907"/>
              <a:ext cx="1171200" cy="2748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Data</a:t>
              </a:r>
              <a:endParaRPr sz="11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4346600" y="1967159"/>
              <a:ext cx="1171200" cy="2748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Heap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4346600" y="1292473"/>
              <a:ext cx="1171200" cy="7044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8"/>
            <p:cNvSpPr/>
            <p:nvPr/>
          </p:nvSpPr>
          <p:spPr>
            <a:xfrm>
              <a:off x="4346600" y="1017725"/>
              <a:ext cx="1171200" cy="2748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Stack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8"/>
            <p:cNvSpPr/>
            <p:nvPr/>
          </p:nvSpPr>
          <p:spPr>
            <a:xfrm>
              <a:off x="4809451" y="1292473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48"/>
            <p:cNvSpPr/>
            <p:nvPr/>
          </p:nvSpPr>
          <p:spPr>
            <a:xfrm rot="10800000">
              <a:off x="4809462" y="1722019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48"/>
          <p:cNvGrpSpPr/>
          <p:nvPr/>
        </p:nvGrpSpPr>
        <p:grpSpPr>
          <a:xfrm>
            <a:off x="6274413" y="2310125"/>
            <a:ext cx="1171200" cy="1773730"/>
            <a:chOff x="4346600" y="1017725"/>
            <a:chExt cx="1171200" cy="1773730"/>
          </a:xfrm>
        </p:grpSpPr>
        <p:sp>
          <p:nvSpPr>
            <p:cNvPr id="769" name="Google Shape;769;p48"/>
            <p:cNvSpPr/>
            <p:nvPr/>
          </p:nvSpPr>
          <p:spPr>
            <a:xfrm>
              <a:off x="4346600" y="2516655"/>
              <a:ext cx="1171200" cy="274800"/>
            </a:xfrm>
            <a:prstGeom prst="rect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Text</a:t>
              </a:r>
              <a:endParaRPr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70" name="Google Shape;770;p48"/>
            <p:cNvSpPr/>
            <p:nvPr/>
          </p:nvSpPr>
          <p:spPr>
            <a:xfrm>
              <a:off x="4346600" y="2241907"/>
              <a:ext cx="1171200" cy="2748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Data</a:t>
              </a:r>
              <a:endParaRPr sz="11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endParaRPr>
            </a:p>
          </p:txBody>
        </p:sp>
        <p:sp>
          <p:nvSpPr>
            <p:cNvPr id="771" name="Google Shape;771;p48"/>
            <p:cNvSpPr/>
            <p:nvPr/>
          </p:nvSpPr>
          <p:spPr>
            <a:xfrm>
              <a:off x="4346600" y="1967159"/>
              <a:ext cx="1171200" cy="2748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Heap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8"/>
            <p:cNvSpPr/>
            <p:nvPr/>
          </p:nvSpPr>
          <p:spPr>
            <a:xfrm>
              <a:off x="4346600" y="1292473"/>
              <a:ext cx="1171200" cy="7044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8"/>
            <p:cNvSpPr/>
            <p:nvPr/>
          </p:nvSpPr>
          <p:spPr>
            <a:xfrm>
              <a:off x="4346600" y="1017725"/>
              <a:ext cx="1171200" cy="2748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lin ang="5400012" scaled="0"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1" i="0" u="none" strike="noStrike" cap="none">
                  <a:solidFill>
                    <a:srgbClr val="000000"/>
                  </a:solidFill>
                  <a:latin typeface="Comfortaa"/>
                  <a:ea typeface="Comfortaa"/>
                  <a:cs typeface="Comfortaa"/>
                  <a:sym typeface="Comfortaa"/>
                </a:rPr>
                <a:t>Stack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8"/>
            <p:cNvSpPr/>
            <p:nvPr/>
          </p:nvSpPr>
          <p:spPr>
            <a:xfrm>
              <a:off x="4809451" y="1292473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8"/>
            <p:cNvSpPr/>
            <p:nvPr/>
          </p:nvSpPr>
          <p:spPr>
            <a:xfrm rot="10800000">
              <a:off x="4809462" y="1722019"/>
              <a:ext cx="138600" cy="274800"/>
            </a:xfrm>
            <a:prstGeom prst="down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rgbClr val="DBD4EB"/>
                </a:gs>
                <a:gs pos="100000">
                  <a:srgbClr val="9180BB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6" name="Google Shape;776;p48"/>
          <p:cNvSpPr txBox="1"/>
          <p:nvPr/>
        </p:nvSpPr>
        <p:spPr>
          <a:xfrm>
            <a:off x="926050" y="4312675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Parent process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address space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7" name="Google Shape;777;p48"/>
          <p:cNvSpPr txBox="1"/>
          <p:nvPr/>
        </p:nvSpPr>
        <p:spPr>
          <a:xfrm>
            <a:off x="5377500" y="4312675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Child process 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address space</a:t>
            </a:r>
            <a:endParaRPr sz="14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78" name="Google Shape;778;p48"/>
          <p:cNvSpPr txBox="1"/>
          <p:nvPr/>
        </p:nvSpPr>
        <p:spPr>
          <a:xfrm>
            <a:off x="3129150" y="2453025"/>
            <a:ext cx="2885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Both processes P0 and P1 have separate address space and P1 now executes completely different program. P1 overwrite address space copied from P0.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Creation - Exec() program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84" name="Google Shape;784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785" name="Google Shape;785;p49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4083300" cy="3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//EXEC.c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#include&lt;unistd.h&gt;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int i;	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printf("I am EXEC.c called by execvp() ");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printf("\n");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urier New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COMPILE AND CREATE EXECUTABLE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gcc EXEC.c -o EXEC</a:t>
            </a:r>
            <a:endParaRPr sz="130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4395000" y="1008600"/>
            <a:ext cx="4437300" cy="3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#include&lt;stdlib.h&gt;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#include&lt;unistd.h&gt;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//A null terminated array of character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//pointers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char *args[]={"./EXEC",NULL};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execvp(args[0],args);	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printf("Ending-----");	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return 0;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1905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mfortaa"/>
              <a:buAutoNum type="arabicPeriod"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1905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Compile and Run this program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90500" marR="19050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gcc execDemo.c -o execDemo</a:t>
            </a:r>
            <a:endParaRPr sz="12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Termination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2" name="Google Shape;792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793" name="Google Shape;793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process terminates when it executes its final statement and ask OS to delete it by using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exit() system call</a:t>
            </a:r>
            <a:endParaRPr b="1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All the resources allocated to process gets deallocated by the operating system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Char char="●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parent may terminate the execution of child process using abort system call, some reasons to do so are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Child has exceeded allocated resources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Task assigned to child is no longer required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parent is exiting and OS does not allow a child to continue if the parent terminates.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Termination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99" name="Google Shape;799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800" name="Google Shape;800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parent process may wait till child process terminates using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wait() system call. 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The call returns status and pid of terminated process.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pid  = wait(&amp;status);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 process that has finished the execution but still has an entry in the process table called as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Zombie process </a:t>
            </a:r>
            <a:endParaRPr b="1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"/>
              <a:buAutoNum type="arabicPeriod"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An </a:t>
            </a:r>
            <a:r>
              <a:rPr lang="en"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orphan process</a:t>
            </a: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 is a computer process whose parent process has finished or terminated, though it (child process) remains running itself.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>
                <a:latin typeface="Comfortaa"/>
                <a:ea typeface="Comfortaa"/>
                <a:cs typeface="Comfortaa"/>
                <a:sym typeface="Comfortaa"/>
              </a:rPr>
              <a:t>Process Termination - wait() example</a:t>
            </a:r>
            <a:endParaRPr b="1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06" name="Google Shape;806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sp>
        <p:nvSpPr>
          <p:cNvPr id="807" name="Google Shape;807;p52"/>
          <p:cNvSpPr txBox="1">
            <a:spLocks noGrp="1"/>
          </p:cNvSpPr>
          <p:nvPr>
            <p:ph type="body" idx="1"/>
          </p:nvPr>
        </p:nvSpPr>
        <p:spPr>
          <a:xfrm>
            <a:off x="437575" y="949825"/>
            <a:ext cx="4260300" cy="3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// C program to demonstrate working of wait()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#include&lt;stdio.h&gt;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#include&lt;sys/wait.h&gt;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#include&lt;unistd.h&gt;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int main()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if (fork()== 0)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	printf("HC: hello from child\n");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else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{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	printf("HP: hello from parent\n");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	wait(NULL);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	printf("CT: child has terminated\n");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}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printf("Bye\n");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	return 0;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 b="1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endParaRPr b="1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808" name="Google Shape;808;p52"/>
          <p:cNvCxnSpPr>
            <a:endCxn id="809" idx="1"/>
          </p:cNvCxnSpPr>
          <p:nvPr/>
        </p:nvCxnSpPr>
        <p:spPr>
          <a:xfrm rot="-5400000">
            <a:off x="4254150" y="1933675"/>
            <a:ext cx="1261800" cy="1101000"/>
          </a:xfrm>
          <a:prstGeom prst="curved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none" w="sm" len="sm"/>
          </a:ln>
        </p:spPr>
      </p:cxnSp>
      <p:sp>
        <p:nvSpPr>
          <p:cNvPr id="809" name="Google Shape;809;p52"/>
          <p:cNvSpPr txBox="1"/>
          <p:nvPr/>
        </p:nvSpPr>
        <p:spPr>
          <a:xfrm>
            <a:off x="5435550" y="1545475"/>
            <a:ext cx="329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This will never get printed before HC</a:t>
            </a:r>
            <a:endParaRPr sz="1400" b="1" i="0" u="none" strike="noStrike" cap="none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7" name="Google Shape;4557;p2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pic>
        <p:nvPicPr>
          <p:cNvPr id="4558" name="Google Shape;4558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87" y="840587"/>
            <a:ext cx="3462326" cy="34623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9" name="Google Shape;4559;p225"/>
          <p:cNvSpPr txBox="1"/>
          <p:nvPr/>
        </p:nvSpPr>
        <p:spPr>
          <a:xfrm>
            <a:off x="3528525" y="2681075"/>
            <a:ext cx="5397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1" i="0" u="none" strike="noStrike" cap="none">
                <a:solidFill>
                  <a:srgbClr val="000000"/>
                </a:solidFill>
                <a:latin typeface="Amatic SC"/>
                <a:ea typeface="Amatic SC"/>
                <a:cs typeface="Amatic SC"/>
                <a:sym typeface="Amatic SC"/>
              </a:rPr>
              <a:t>We are done with Second module</a:t>
            </a:r>
            <a:endParaRPr sz="4200" b="1" i="0" u="none" strike="noStrike" cap="none">
              <a:solidFill>
                <a:srgbClr val="000000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pic>
        <p:nvPicPr>
          <p:cNvPr id="4560" name="Google Shape;4560;p2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0375" y="800676"/>
            <a:ext cx="5713298" cy="177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1" name="Google Shape;4561;p2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69641" y="3512377"/>
            <a:ext cx="2861694" cy="12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3318</Words>
  <Application>Microsoft Office PowerPoint</Application>
  <PresentationFormat>On-screen Show (16:9)</PresentationFormat>
  <Paragraphs>694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Amatic SC</vt:lpstr>
      <vt:lpstr>Arial</vt:lpstr>
      <vt:lpstr>Oswald Light</vt:lpstr>
      <vt:lpstr>Caveat</vt:lpstr>
      <vt:lpstr>Alfa Slab One</vt:lpstr>
      <vt:lpstr>Comfortaa</vt:lpstr>
      <vt:lpstr>Oswald</vt:lpstr>
      <vt:lpstr>Courier New</vt:lpstr>
      <vt:lpstr>Proxima Nova</vt:lpstr>
      <vt:lpstr>Gameday</vt:lpstr>
      <vt:lpstr>Operating System Process and Threads</vt:lpstr>
      <vt:lpstr>Contents</vt:lpstr>
      <vt:lpstr>Process</vt:lpstr>
      <vt:lpstr>Process</vt:lpstr>
      <vt:lpstr>Process</vt:lpstr>
      <vt:lpstr>Process</vt:lpstr>
      <vt:lpstr>Process</vt:lpstr>
      <vt:lpstr>A C program execution</vt:lpstr>
      <vt:lpstr>Process structure</vt:lpstr>
      <vt:lpstr>Process in Memory</vt:lpstr>
      <vt:lpstr>Memory layout of a C program</vt:lpstr>
      <vt:lpstr>Process states</vt:lpstr>
      <vt:lpstr>Process state diagram</vt:lpstr>
      <vt:lpstr>Process state diagram</vt:lpstr>
      <vt:lpstr>Process state diagram</vt:lpstr>
      <vt:lpstr>Process state diagram</vt:lpstr>
      <vt:lpstr>Process state diagram</vt:lpstr>
      <vt:lpstr>Process state diagram</vt:lpstr>
      <vt:lpstr>Process state diagram</vt:lpstr>
      <vt:lpstr>Process state diagram</vt:lpstr>
      <vt:lpstr>Process Control Block (PCB)</vt:lpstr>
      <vt:lpstr>Process representation in Linux</vt:lpstr>
      <vt:lpstr>Process representation in Linux</vt:lpstr>
      <vt:lpstr>Process Scheduling</vt:lpstr>
      <vt:lpstr>Process Scheduling Queues</vt:lpstr>
      <vt:lpstr>Process Scheduling Queues </vt:lpstr>
      <vt:lpstr>Process - Context switching</vt:lpstr>
      <vt:lpstr>Process - Context switching</vt:lpstr>
      <vt:lpstr>CPU bound vs IO bound process</vt:lpstr>
      <vt:lpstr>User mode and kernel mode of execution</vt:lpstr>
      <vt:lpstr>User mode and kernel mode of execution</vt:lpstr>
      <vt:lpstr>User mode and kernel mode of execution</vt:lpstr>
      <vt:lpstr>User mode and kernel mode of execution</vt:lpstr>
      <vt:lpstr>User mode and kernel mode of execution</vt:lpstr>
      <vt:lpstr>User mode and kernel mode of execution</vt:lpstr>
      <vt:lpstr>User mode and kernel mode of execution</vt:lpstr>
      <vt:lpstr>User mode and kernel mode of execution</vt:lpstr>
      <vt:lpstr>System Call</vt:lpstr>
      <vt:lpstr>System Call</vt:lpstr>
      <vt:lpstr>Process Creation</vt:lpstr>
      <vt:lpstr>Process Creation</vt:lpstr>
      <vt:lpstr>Process Creation - fork()</vt:lpstr>
      <vt:lpstr>Process Creation - fork() program</vt:lpstr>
      <vt:lpstr>Process Creation - fork() and exec() </vt:lpstr>
      <vt:lpstr>Process Creation - fork() and exec()</vt:lpstr>
      <vt:lpstr>Process Creation - Exec() program</vt:lpstr>
      <vt:lpstr>Process Termination</vt:lpstr>
      <vt:lpstr>Process Termination</vt:lpstr>
      <vt:lpstr>Process Termination - wait()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Varsha Kushwah</cp:lastModifiedBy>
  <cp:revision>2</cp:revision>
  <dcterms:modified xsi:type="dcterms:W3CDTF">2025-01-17T10:51:09Z</dcterms:modified>
</cp:coreProperties>
</file>